
<file path=[Content_Types].xml><?xml version="1.0" encoding="utf-8"?>
<Types xmlns="http://schemas.openxmlformats.org/package/2006/content-types">
  <Default Extension="emf" ContentType="image/x-emf"/>
  <Default Extension="gif" ContentType="image/gi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495" r:id="rId4"/>
    <p:sldMasterId id="2147484524" r:id="rId5"/>
    <p:sldMasterId id="2147484523" r:id="rId6"/>
  </p:sldMasterIdLst>
  <p:notesMasterIdLst>
    <p:notesMasterId r:id="rId17"/>
  </p:notesMasterIdLst>
  <p:handoutMasterIdLst>
    <p:handoutMasterId r:id="rId18"/>
  </p:handoutMasterIdLst>
  <p:sldIdLst>
    <p:sldId id="1534" r:id="rId7"/>
    <p:sldId id="2076137006" r:id="rId8"/>
    <p:sldId id="2076137000" r:id="rId9"/>
    <p:sldId id="2076136995" r:id="rId10"/>
    <p:sldId id="2076137005" r:id="rId11"/>
    <p:sldId id="2076136997" r:id="rId12"/>
    <p:sldId id="2076137004" r:id="rId13"/>
    <p:sldId id="2076137003" r:id="rId14"/>
    <p:sldId id="2076137001" r:id="rId15"/>
    <p:sldId id="2076137002" r:id="rId16"/>
  </p:sldIdLst>
  <p:sldSz cx="12436475" cy="6994525"/>
  <p:notesSz cx="6858000" cy="9144000"/>
  <p:defaultTextStyle>
    <a:defPPr>
      <a:defRPr lang="en-US"/>
    </a:defPPr>
    <a:lvl1pPr marL="0" algn="l" defTabSz="9327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66371" algn="l" defTabSz="9327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32742" algn="l" defTabSz="9327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99113" algn="l" defTabSz="9327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65484" algn="l" defTabSz="9327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331856" algn="l" defTabSz="9327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98226" algn="l" defTabSz="9327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64597" algn="l" defTabSz="9327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730969" algn="l" defTabSz="9327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Saku Uchikawa" initials="SU" lastIdx="11" clrIdx="0"/>
  <p:cmAuthor id="1" name="Mary Feil-Jacobs" initials="MFJ" lastIdx="43" clrIdx="1"/>
  <p:cmAuthor id="2" name="Monica Lueder" initials="ML" lastIdx="22" clrIdx="2">
    <p:extLst>
      <p:ext uri="{19B8F6BF-5375-455C-9EA6-DF929625EA0E}">
        <p15:presenceInfo xmlns:p15="http://schemas.microsoft.com/office/powerpoint/2012/main" userId="S-1-5-21-2127521184-1604012920-1887927527-2598260" providerId="AD"/>
      </p:ext>
    </p:extLst>
  </p:cmAuthor>
  <p:cmAuthor id="3" name="Mary Feil-Jacobs" initials="MF" lastIdx="22" clrIdx="3">
    <p:extLst>
      <p:ext uri="{19B8F6BF-5375-455C-9EA6-DF929625EA0E}">
        <p15:presenceInfo xmlns:p15="http://schemas.microsoft.com/office/powerpoint/2012/main" userId="S-1-5-21-2127521184-1604012920-1887927527-65006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62626"/>
    <a:srgbClr val="FFB900"/>
    <a:srgbClr val="414141"/>
    <a:srgbClr val="1E1E1E"/>
    <a:srgbClr val="00BCF2"/>
    <a:srgbClr val="0078D7"/>
    <a:srgbClr val="353535"/>
    <a:srgbClr val="525252"/>
    <a:srgbClr val="B4009E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906"/>
    <p:restoredTop sz="80544"/>
  </p:normalViewPr>
  <p:slideViewPr>
    <p:cSldViewPr snapToGrid="0">
      <p:cViewPr varScale="1">
        <p:scale>
          <a:sx n="100" d="100"/>
          <a:sy n="100" d="100"/>
        </p:scale>
        <p:origin x="1832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slide" Target="slides/slide7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0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5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9.xml"/><Relationship Id="rId23" Type="http://schemas.openxmlformats.org/officeDocument/2006/relationships/tableStyles" Target="tableStyles.xml"/><Relationship Id="rId10" Type="http://schemas.openxmlformats.org/officeDocument/2006/relationships/slide" Target="slides/slide4.xml"/><Relationship Id="rId19" Type="http://schemas.openxmlformats.org/officeDocument/2006/relationships/commentAuthors" Target="comment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Header Placeholder 5"/>
          <p:cNvSpPr>
            <a:spLocks noGrp="1"/>
          </p:cNvSpPr>
          <p:nvPr>
            <p:ph type="hdr" sz="quarter"/>
          </p:nvPr>
        </p:nvSpPr>
        <p:spPr>
          <a:xfrm>
            <a:off x="0" y="-11574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>
              <a:latin typeface="Segoe UI" pitchFamily="34" charset="0"/>
            </a:endParaRPr>
          </a:p>
        </p:txBody>
      </p:sp>
      <p:sp>
        <p:nvSpPr>
          <p:cNvPr id="7" name="Date Placeholder 6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1D0CB2F-F0BF-435A-A27A-2EC15087F634}" type="datetime8">
              <a:rPr lang="en-US" smtClean="0">
                <a:latin typeface="Segoe UI" pitchFamily="34" charset="0"/>
              </a:rPr>
              <a:t>1/23/26 2:11 PM</a:t>
            </a:fld>
            <a:endParaRPr lang="en-US">
              <a:latin typeface="Segoe UI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5795010" cy="3324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marL="398463" defTabSz="914099" eaLnBrk="0" hangingPunct="0"/>
            <a:r>
              <a:rPr lang="en-US" sz="40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3"/>
          </p:nvPr>
        </p:nvSpPr>
        <p:spPr>
          <a:xfrm>
            <a:off x="5783579" y="8685213"/>
            <a:ext cx="1072833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C9E9D6-92A0-482B-A603-C9BA7FFB8190}" type="slidenum">
              <a:rPr lang="en-US" smtClean="0">
                <a:latin typeface="Segoe UI" pitchFamily="34" charset="0"/>
              </a:rPr>
              <a:t>‹#›</a:t>
            </a:fld>
            <a:endParaRPr lang="en-US">
              <a:latin typeface="Segoe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4595630"/>
      </p:ext>
    </p:extLst>
  </p:cSld>
  <p:clrMap bg1="lt1" tx1="dk1" bg2="lt2" tx2="dk2" accent1="accent1" accent2="accent2" accent3="accent3" accent4="accent4" accent5="accent5" accent6="accent6" hlink="hlink" folHlink="folHlink"/>
  <p:hf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Header Placeholder 7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Segoe UI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Slide Image Placeholder 8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4"/>
          </p:nvPr>
        </p:nvSpPr>
        <p:spPr>
          <a:xfrm>
            <a:off x="0" y="8686800"/>
            <a:ext cx="5920740" cy="35596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marL="571500" indent="0" algn="l">
              <a:defRPr sz="1200"/>
            </a:lvl1pPr>
          </a:lstStyle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11" name="Date Placeholder 10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Segoe UI" pitchFamily="34" charset="0"/>
              </a:defRPr>
            </a:lvl1pPr>
          </a:lstStyle>
          <a:p>
            <a:fld id="{D18B56EA-E28F-4F92-9F16-7A6F2501B303}" type="datetime8">
              <a:rPr lang="en-US" smtClean="0"/>
              <a:t>1/23/26 2:11 PM</a:t>
            </a:fld>
            <a:endParaRPr lang="en-US"/>
          </a:p>
        </p:txBody>
      </p:sp>
      <p:sp>
        <p:nvSpPr>
          <p:cNvPr id="12" name="Notes Placeholder 11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5"/>
          </p:nvPr>
        </p:nvSpPr>
        <p:spPr>
          <a:xfrm>
            <a:off x="5909309" y="8685213"/>
            <a:ext cx="947103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Segoe UI" pitchFamily="34" charset="0"/>
              </a:defRPr>
            </a:lvl1pPr>
          </a:lstStyle>
          <a:p>
            <a:fld id="{B4008EB6-D09E-4580-8CD6-DDB14511944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4648265"/>
      </p:ext>
    </p:extLst>
  </p:cSld>
  <p:clrMap bg1="lt1" tx1="dk1" bg2="lt2" tx2="dk2" accent1="accent1" accent2="accent2" accent3="accent3" accent4="accent4" accent5="accent5" accent6="accent6" hlink="hlink" folHlink="folHlink"/>
  <p:hf/>
  <p:notesStyle>
    <a:lvl1pPr marL="0" algn="l" defTabSz="932742" rtl="0" eaLnBrk="1" latinLnBrk="0" hangingPunct="1">
      <a:lnSpc>
        <a:spcPct val="90000"/>
      </a:lnSpc>
      <a:spcAft>
        <a:spcPts val="340"/>
      </a:spcAft>
      <a:defRPr sz="900" kern="1200">
        <a:solidFill>
          <a:schemeClr val="tx1"/>
        </a:solidFill>
        <a:latin typeface="Segoe UI Light" pitchFamily="34" charset="0"/>
        <a:ea typeface="+mn-ea"/>
        <a:cs typeface="+mn-cs"/>
      </a:defRPr>
    </a:lvl1pPr>
    <a:lvl2pPr marL="217262" indent="-107956" algn="l" defTabSz="932742" rtl="0" eaLnBrk="1" latinLnBrk="0" hangingPunct="1">
      <a:lnSpc>
        <a:spcPct val="90000"/>
      </a:lnSpc>
      <a:spcAft>
        <a:spcPts val="340"/>
      </a:spcAft>
      <a:buFont typeface="Arial" pitchFamily="34" charset="0"/>
      <a:buChar char="•"/>
      <a:defRPr sz="900" kern="1200">
        <a:solidFill>
          <a:schemeClr val="tx1"/>
        </a:solidFill>
        <a:latin typeface="Segoe UI Light" pitchFamily="34" charset="0"/>
        <a:ea typeface="+mn-ea"/>
        <a:cs typeface="+mn-cs"/>
      </a:defRPr>
    </a:lvl2pPr>
    <a:lvl3pPr marL="334664" indent="-117403" algn="l" defTabSz="932742" rtl="0" eaLnBrk="1" latinLnBrk="0" hangingPunct="1">
      <a:lnSpc>
        <a:spcPct val="90000"/>
      </a:lnSpc>
      <a:spcAft>
        <a:spcPts val="340"/>
      </a:spcAft>
      <a:buFont typeface="Arial" pitchFamily="34" charset="0"/>
      <a:buChar char="•"/>
      <a:defRPr sz="900" kern="1200">
        <a:solidFill>
          <a:schemeClr val="tx1"/>
        </a:solidFill>
        <a:latin typeface="Segoe UI Light" pitchFamily="34" charset="0"/>
        <a:ea typeface="+mn-ea"/>
        <a:cs typeface="+mn-cs"/>
      </a:defRPr>
    </a:lvl3pPr>
    <a:lvl4pPr marL="492551" indent="-149789" algn="l" defTabSz="932742" rtl="0" eaLnBrk="1" latinLnBrk="0" hangingPunct="1">
      <a:lnSpc>
        <a:spcPct val="90000"/>
      </a:lnSpc>
      <a:spcAft>
        <a:spcPts val="340"/>
      </a:spcAft>
      <a:buFont typeface="Arial" pitchFamily="34" charset="0"/>
      <a:buChar char="•"/>
      <a:defRPr sz="900" kern="1200">
        <a:solidFill>
          <a:schemeClr val="tx1"/>
        </a:solidFill>
        <a:latin typeface="Segoe UI Light" pitchFamily="34" charset="0"/>
        <a:ea typeface="+mn-ea"/>
        <a:cs typeface="+mn-cs"/>
      </a:defRPr>
    </a:lvl4pPr>
    <a:lvl5pPr marL="627496" indent="-117403" algn="l" defTabSz="932742" rtl="0" eaLnBrk="1" latinLnBrk="0" hangingPunct="1">
      <a:lnSpc>
        <a:spcPct val="90000"/>
      </a:lnSpc>
      <a:spcAft>
        <a:spcPts val="340"/>
      </a:spcAft>
      <a:buFont typeface="Arial" pitchFamily="34" charset="0"/>
      <a:buChar char="•"/>
      <a:defRPr sz="900" kern="1200">
        <a:solidFill>
          <a:schemeClr val="tx1"/>
        </a:solidFill>
        <a:latin typeface="Segoe UI Light" pitchFamily="34" charset="0"/>
        <a:ea typeface="+mn-ea"/>
        <a:cs typeface="+mn-cs"/>
      </a:defRPr>
    </a:lvl5pPr>
    <a:lvl6pPr marL="2331856" algn="l" defTabSz="93274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98226" algn="l" defTabSz="93274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64597" algn="l" defTabSz="93274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730969" algn="l" defTabSz="93274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C6CB6AA9-3CC1-4465-AB79-459A497E7799}" type="datetime8">
              <a:rPr lang="en-US" smtClean="0"/>
              <a:t>1/23/26 2:11 PM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9438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F3702F-444C-EBDB-EC3D-5F64A833D2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D3900A6-BF23-E090-0B8B-4822EF26A1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48521DF-C028-A2CB-8B40-366AD8F031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>
            <a:normAutofit/>
          </a:bodyPr>
          <a:lstStyle/>
          <a:p>
            <a:pPr algn="l"/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https://</a:t>
            </a:r>
            <a:r>
              <a:rPr lang="en-US" b="1" i="0" u="none" strike="noStrike" dirty="0" err="1">
                <a:solidFill>
                  <a:srgbClr val="000000"/>
                </a:solidFill>
                <a:effectLst/>
              </a:rPr>
              <a:t>github.com</a:t>
            </a: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/dotnet/runtime/blob/main/</a:t>
            </a:r>
            <a:r>
              <a:rPr lang="en-US" b="1" i="0" u="none" strike="noStrike" dirty="0" err="1">
                <a:solidFill>
                  <a:srgbClr val="000000"/>
                </a:solidFill>
                <a:effectLst/>
              </a:rPr>
              <a:t>src</a:t>
            </a: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/libraries/</a:t>
            </a:r>
            <a:r>
              <a:rPr lang="en-US" b="1" i="0" u="none" strike="noStrike" dirty="0" err="1">
                <a:solidFill>
                  <a:srgbClr val="000000"/>
                </a:solidFill>
                <a:effectLst/>
              </a:rPr>
              <a:t>System.Private.CoreLib</a:t>
            </a: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/</a:t>
            </a:r>
            <a:r>
              <a:rPr lang="en-US" b="1" i="0" u="none" strike="noStrike" dirty="0" err="1">
                <a:solidFill>
                  <a:srgbClr val="000000"/>
                </a:solidFill>
                <a:effectLst/>
              </a:rPr>
              <a:t>src</a:t>
            </a: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/System/Threading/</a:t>
            </a:r>
            <a:r>
              <a:rPr lang="en-US" b="1" i="0" u="none" strike="noStrike" dirty="0" err="1">
                <a:solidFill>
                  <a:srgbClr val="000000"/>
                </a:solidFill>
                <a:effectLst/>
              </a:rPr>
              <a:t>AsyncLocal.cs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21FB83-6DA0-B17A-80B0-29DF6DF147A9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fld id="{685711C6-D783-4789-8082-9D34F2C4221D}" type="datetime8">
              <a:rPr lang="en-US" smtClean="0"/>
              <a:t>1/23/26 2:11 PM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84ECA3-1882-C0C8-A6D5-0CE717FE9E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72199" y="8685213"/>
            <a:ext cx="684213" cy="457200"/>
          </a:xfrm>
          <a:prstGeom prst="rect">
            <a:avLst/>
          </a:prstGeom>
        </p:spPr>
        <p:txBody>
          <a:bodyPr/>
          <a:lstStyle/>
          <a:p>
            <a:fld id="{8B263312-38AA-4E1E-B2B5-0F8F122B24FE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EB1C69-7801-12C0-E8FA-F03212BD2DE0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9" name="Header Placeholder 8">
            <a:extLst>
              <a:ext uri="{FF2B5EF4-FFF2-40B4-BE49-F238E27FC236}">
                <a16:creationId xmlns:a16="http://schemas.microsoft.com/office/drawing/2014/main" id="{A7B6EC43-9C89-6622-D8BA-0AE087242F33}"/>
              </a:ext>
            </a:extLst>
          </p:cNvPr>
          <p:cNvSpPr>
            <a:spLocks noGrp="1"/>
          </p:cNvSpPr>
          <p:nvPr>
            <p:ph type="hdr" sz="quarter" idx="14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829483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720B51-E0AD-525B-699A-76E62AA43A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CCFC552-04CB-2332-4EB5-D96E82E664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16886ED-FF03-7CA8-FA16-FD15FFBDC3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>
            <a:normAutofit fontScale="47500" lnSpcReduction="20000"/>
          </a:bodyPr>
          <a:lstStyle/>
          <a:p>
            <a:pPr algn="l"/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In .NET, there is no specific class called </a:t>
            </a:r>
            <a:r>
              <a:rPr lang="en-US" b="1" i="0" u="none" strike="noStrike" dirty="0" err="1">
                <a:solidFill>
                  <a:srgbClr val="000000"/>
                </a:solidFill>
                <a:effectLst/>
              </a:rPr>
              <a:t>SecurityContext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 as part of the base class library, but security-related context management does exist through different mechanisms, often related to </a:t>
            </a: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security principals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, </a:t>
            </a: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permissions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, and </a:t>
            </a: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authentication/authorization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.</a:t>
            </a:r>
          </a:p>
          <a:p>
            <a:pPr algn="l"/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Here are some key concepts related to security context in .NET:</a:t>
            </a:r>
          </a:p>
          <a:p>
            <a:pPr algn="l"/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1. </a:t>
            </a:r>
            <a:r>
              <a:rPr lang="en-US" b="1" i="0" u="none" strike="noStrike" dirty="0" err="1">
                <a:solidFill>
                  <a:srgbClr val="000000"/>
                </a:solidFill>
                <a:effectLst/>
              </a:rPr>
              <a:t>SecurityContext</a:t>
            </a: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 (in a conceptual sense)</a:t>
            </a:r>
          </a:p>
          <a:p>
            <a:pPr algn="l"/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While there isn’t a class specifically named </a:t>
            </a:r>
            <a:r>
              <a:rPr lang="en-US" b="0" i="0" u="none" strike="noStrike" dirty="0" err="1">
                <a:solidFill>
                  <a:srgbClr val="000000"/>
                </a:solidFill>
                <a:effectLst/>
              </a:rPr>
              <a:t>SecurityContext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, the term generally refers to the context that holds security-related information about the current execution. This includes: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Identity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: Who is performing the action (e.g., the user’s identity).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Roles and Claims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: What the user is allowed to do (e.g., roles or claims associated with the identity).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Permissions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: What specific actions or resources the user is authorized to access.</a:t>
            </a:r>
          </a:p>
          <a:p>
            <a:pPr algn="l"/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2. </a:t>
            </a:r>
            <a:r>
              <a:rPr lang="en-US" b="1" i="0" u="none" strike="noStrike" dirty="0" err="1">
                <a:solidFill>
                  <a:srgbClr val="000000"/>
                </a:solidFill>
                <a:effectLst/>
              </a:rPr>
              <a:t>System.Security.Principal</a:t>
            </a:r>
            <a:endParaRPr lang="en-US" b="1" i="0" u="none" strike="noStrike" dirty="0">
              <a:solidFill>
                <a:srgbClr val="000000"/>
              </a:solidFill>
              <a:effectLst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u="none" strike="noStrike" dirty="0" err="1">
                <a:solidFill>
                  <a:srgbClr val="000000"/>
                </a:solidFill>
                <a:effectLst/>
              </a:rPr>
              <a:t>WindowsIdentity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 and </a:t>
            </a:r>
            <a:r>
              <a:rPr lang="en-US" b="1" i="0" u="none" strike="noStrike" dirty="0" err="1">
                <a:solidFill>
                  <a:srgbClr val="000000"/>
                </a:solidFill>
                <a:effectLst/>
              </a:rPr>
              <a:t>GenericPrincipal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 represent the identity and the roles of the user currently executing.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The </a:t>
            </a:r>
            <a:r>
              <a:rPr lang="en-US" b="1" i="0" u="none" strike="noStrike" dirty="0" err="1">
                <a:solidFill>
                  <a:srgbClr val="000000"/>
                </a:solidFill>
                <a:effectLst/>
              </a:rPr>
              <a:t>IPrincipal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 interface (implemented by </a:t>
            </a:r>
            <a:r>
              <a:rPr lang="en-US" b="0" i="0" u="none" strike="noStrike" dirty="0" err="1">
                <a:solidFill>
                  <a:srgbClr val="000000"/>
                </a:solidFill>
                <a:effectLst/>
              </a:rPr>
              <a:t>GenericPrincipal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) provides methods like </a:t>
            </a:r>
            <a:r>
              <a:rPr lang="en-US" b="0" i="0" u="none" strike="noStrike" dirty="0" err="1">
                <a:solidFill>
                  <a:srgbClr val="000000"/>
                </a:solidFill>
                <a:effectLst/>
              </a:rPr>
              <a:t>IsInRole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() to check the roles associated with the current user.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u="none" strike="noStrike" dirty="0" err="1">
                <a:solidFill>
                  <a:srgbClr val="000000"/>
                </a:solidFill>
                <a:effectLst/>
              </a:rPr>
              <a:t>csharp</a:t>
            </a:r>
            <a:endParaRPr lang="en-US" b="0" i="0" u="none" strike="noStrike" dirty="0">
              <a:solidFill>
                <a:srgbClr val="000000"/>
              </a:solidFill>
              <a:effectLst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Copy code</a:t>
            </a:r>
          </a:p>
          <a:p>
            <a:pPr algn="l" rtl="0">
              <a:buFont typeface="Arial" panose="020B0604020202020204" pitchFamily="34" charset="0"/>
              <a:buChar char="•"/>
            </a:pPr>
            <a:r>
              <a:rPr lang="en-US" b="0" i="0" u="none" strike="noStrike" dirty="0" err="1">
                <a:solidFill>
                  <a:srgbClr val="000000"/>
                </a:solidFill>
                <a:effectLst/>
              </a:rPr>
              <a:t>IPrincipal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 principal = </a:t>
            </a:r>
            <a:r>
              <a:rPr lang="en-US" b="0" i="0" u="none" strike="noStrike" dirty="0" err="1">
                <a:solidFill>
                  <a:srgbClr val="000000"/>
                </a:solidFill>
                <a:effectLst/>
              </a:rPr>
              <a:t>Thread.CurrentPrincipal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; bool </a:t>
            </a:r>
            <a:r>
              <a:rPr lang="en-US" b="0" i="0" u="none" strike="noStrike" dirty="0" err="1">
                <a:solidFill>
                  <a:srgbClr val="000000"/>
                </a:solidFill>
                <a:effectLst/>
              </a:rPr>
              <a:t>isAdmin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 = </a:t>
            </a:r>
            <a:r>
              <a:rPr lang="en-US" b="0" i="0" u="none" strike="noStrike" dirty="0" err="1">
                <a:solidFill>
                  <a:srgbClr val="000000"/>
                </a:solidFill>
                <a:effectLst/>
              </a:rPr>
              <a:t>principal.IsInRole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("Admin"); </a:t>
            </a:r>
          </a:p>
          <a:p>
            <a:pPr algn="l"/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3. </a:t>
            </a:r>
            <a:r>
              <a:rPr lang="en-US" b="1" i="0" u="none" strike="noStrike" dirty="0" err="1">
                <a:solidFill>
                  <a:srgbClr val="000000"/>
                </a:solidFill>
                <a:effectLst/>
              </a:rPr>
              <a:t>ExecutionContext</a:t>
            </a: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 and </a:t>
            </a:r>
            <a:r>
              <a:rPr lang="en-US" b="1" i="0" u="none" strike="noStrike" dirty="0" err="1">
                <a:solidFill>
                  <a:srgbClr val="000000"/>
                </a:solidFill>
                <a:effectLst/>
              </a:rPr>
              <a:t>SecurityContext</a:t>
            </a:r>
            <a:endParaRPr lang="en-US" b="1" i="0" u="none" strike="noStrike" dirty="0">
              <a:solidFill>
                <a:srgbClr val="000000"/>
              </a:solidFill>
              <a:effectLst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In .NET, </a:t>
            </a:r>
            <a:r>
              <a:rPr lang="en-US" b="1" i="0" u="none" strike="noStrike" dirty="0" err="1">
                <a:solidFill>
                  <a:srgbClr val="000000"/>
                </a:solidFill>
                <a:effectLst/>
              </a:rPr>
              <a:t>ExecutionContext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 encapsulates information like call context, security context, and more. The security-related aspects of </a:t>
            </a:r>
            <a:r>
              <a:rPr lang="en-US" b="0" i="0" u="none" strike="noStrike" dirty="0" err="1">
                <a:solidFill>
                  <a:srgbClr val="000000"/>
                </a:solidFill>
                <a:effectLst/>
              </a:rPr>
              <a:t>ExecutionContext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 store things like the </a:t>
            </a: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current security principal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 and </a:t>
            </a: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permission sets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The </a:t>
            </a:r>
            <a:r>
              <a:rPr lang="en-US" b="1" i="0" u="none" strike="noStrike" dirty="0" err="1">
                <a:solidFill>
                  <a:srgbClr val="000000"/>
                </a:solidFill>
                <a:effectLst/>
              </a:rPr>
              <a:t>SecurityContext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 is a structure within </a:t>
            </a:r>
            <a:r>
              <a:rPr lang="en-US" b="0" i="0" u="none" strike="noStrike" dirty="0" err="1">
                <a:solidFill>
                  <a:srgbClr val="000000"/>
                </a:solidFill>
                <a:effectLst/>
              </a:rPr>
              <a:t>ExecutionContext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 that helps manage </a:t>
            </a: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security tokens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 like Windows user identities, and the </a:t>
            </a:r>
            <a:r>
              <a:rPr lang="en-US" b="1" i="0" u="none" strike="noStrike" dirty="0" err="1">
                <a:solidFill>
                  <a:srgbClr val="000000"/>
                </a:solidFill>
                <a:effectLst/>
              </a:rPr>
              <a:t>AppDomain</a:t>
            </a: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 security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 for executing code.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You can manage the security context by using </a:t>
            </a:r>
            <a:r>
              <a:rPr lang="en-US" b="0" i="0" u="none" strike="noStrike" dirty="0" err="1">
                <a:solidFill>
                  <a:srgbClr val="000000"/>
                </a:solidFill>
                <a:effectLst/>
              </a:rPr>
              <a:t>ExecutionContext.Run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 and </a:t>
            </a:r>
            <a:r>
              <a:rPr lang="en-US" b="0" i="0" u="none" strike="noStrike" dirty="0" err="1">
                <a:solidFill>
                  <a:srgbClr val="000000"/>
                </a:solidFill>
                <a:effectLst/>
              </a:rPr>
              <a:t>ExecutionContext.SuppressFlow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 to control security flow across asynchronous calls.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For example: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u="none" strike="noStrike" dirty="0" err="1">
                <a:solidFill>
                  <a:srgbClr val="000000"/>
                </a:solidFill>
                <a:effectLst/>
              </a:rPr>
              <a:t>csharp</a:t>
            </a:r>
            <a:endParaRPr lang="en-US" b="0" i="0" u="none" strike="noStrike" dirty="0">
              <a:solidFill>
                <a:srgbClr val="000000"/>
              </a:solidFill>
              <a:effectLst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Copy code</a:t>
            </a:r>
          </a:p>
          <a:p>
            <a:pPr algn="l" rtl="0">
              <a:buFont typeface="Arial" panose="020B0604020202020204" pitchFamily="34" charset="0"/>
              <a:buChar char="•"/>
            </a:pPr>
            <a:r>
              <a:rPr lang="en-US" b="0" i="0" u="none" strike="noStrike" dirty="0" err="1">
                <a:solidFill>
                  <a:srgbClr val="000000"/>
                </a:solidFill>
                <a:effectLst/>
              </a:rPr>
              <a:t>ExecutionContext.Run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(</a:t>
            </a:r>
            <a:r>
              <a:rPr lang="en-US" b="0" i="0" u="none" strike="noStrike" dirty="0" err="1">
                <a:solidFill>
                  <a:srgbClr val="000000"/>
                </a:solidFill>
                <a:effectLst/>
              </a:rPr>
              <a:t>executionContext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, callback, state); </a:t>
            </a:r>
          </a:p>
          <a:p>
            <a:pPr algn="l"/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4. </a:t>
            </a:r>
            <a:r>
              <a:rPr lang="en-US" b="1" i="0" u="none" strike="noStrike" dirty="0" err="1">
                <a:solidFill>
                  <a:srgbClr val="000000"/>
                </a:solidFill>
                <a:effectLst/>
              </a:rPr>
              <a:t>Thread.CurrentPrincipal</a:t>
            </a:r>
            <a:endParaRPr lang="en-US" b="1" i="0" u="none" strike="noStrike" dirty="0">
              <a:solidFill>
                <a:srgbClr val="000000"/>
              </a:solidFill>
              <a:effectLst/>
            </a:endParaRPr>
          </a:p>
          <a:p>
            <a:pPr algn="l"/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In multi-threaded applications, </a:t>
            </a:r>
            <a:r>
              <a:rPr lang="en-US" b="0" i="0" u="none" strike="noStrike" dirty="0" err="1">
                <a:solidFill>
                  <a:srgbClr val="000000"/>
                </a:solidFill>
                <a:effectLst/>
              </a:rPr>
              <a:t>Thread.CurrentPrincipal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 holds the security context associated with the current thread (who the thread is running as, and what roles/permissions it has). This is typically set during the login/authentication phase and remains throughout the thread’s lifetime.</a:t>
            </a:r>
          </a:p>
          <a:p>
            <a:r>
              <a:rPr lang="en-US" dirty="0" err="1"/>
              <a:t>csharp</a:t>
            </a:r>
            <a:endParaRPr lang="en-US" dirty="0"/>
          </a:p>
          <a:p>
            <a:r>
              <a:rPr lang="en-US" dirty="0"/>
              <a:t>Copy code</a:t>
            </a:r>
          </a:p>
          <a:p>
            <a:pPr rtl="0"/>
            <a:r>
              <a:rPr lang="en-US" dirty="0" err="1"/>
              <a:t>Thread.CurrentPrincipal</a:t>
            </a:r>
            <a:r>
              <a:rPr lang="en-US" dirty="0"/>
              <a:t> = new </a:t>
            </a:r>
            <a:r>
              <a:rPr lang="en-US" dirty="0" err="1"/>
              <a:t>GenericPrincipal</a:t>
            </a:r>
            <a:r>
              <a:rPr lang="en-US" dirty="0"/>
              <a:t>(new </a:t>
            </a:r>
            <a:r>
              <a:rPr lang="en-US" dirty="0" err="1"/>
              <a:t>WindowsIdentity</a:t>
            </a:r>
            <a:r>
              <a:rPr lang="en-US" dirty="0"/>
              <a:t>("user"), new[] { "Admin" }); </a:t>
            </a:r>
          </a:p>
          <a:p>
            <a:pPr algn="l"/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5. </a:t>
            </a:r>
            <a:r>
              <a:rPr lang="en-US" b="1" i="0" u="none" strike="noStrike" dirty="0" err="1">
                <a:solidFill>
                  <a:srgbClr val="000000"/>
                </a:solidFill>
                <a:effectLst/>
              </a:rPr>
              <a:t>WindowsIdentity</a:t>
            </a: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 and </a:t>
            </a:r>
            <a:r>
              <a:rPr lang="en-US" b="1" i="0" u="none" strike="noStrike" dirty="0" err="1">
                <a:solidFill>
                  <a:srgbClr val="000000"/>
                </a:solidFill>
                <a:effectLst/>
              </a:rPr>
              <a:t>WindowsPrincipal</a:t>
            </a:r>
            <a:endParaRPr lang="en-US" b="1" i="0" u="none" strike="noStrike" dirty="0">
              <a:solidFill>
                <a:srgbClr val="000000"/>
              </a:solidFill>
              <a:effectLst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For applications running in Windows, you may encounter </a:t>
            </a:r>
            <a:r>
              <a:rPr lang="en-US" b="1" i="0" u="none" strike="noStrike" dirty="0" err="1">
                <a:solidFill>
                  <a:srgbClr val="000000"/>
                </a:solidFill>
                <a:effectLst/>
              </a:rPr>
              <a:t>WindowsIdentity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 and </a:t>
            </a:r>
            <a:r>
              <a:rPr lang="en-US" b="1" i="0" u="none" strike="noStrike" dirty="0" err="1">
                <a:solidFill>
                  <a:srgbClr val="000000"/>
                </a:solidFill>
                <a:effectLst/>
              </a:rPr>
              <a:t>WindowsPrincipal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, which provide identity and role information based on Windows security.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u="none" strike="noStrike" dirty="0" err="1">
                <a:solidFill>
                  <a:srgbClr val="000000"/>
                </a:solidFill>
                <a:effectLst/>
              </a:rPr>
              <a:t>csharp</a:t>
            </a:r>
            <a:endParaRPr lang="en-US" b="0" i="0" u="none" strike="noStrike" dirty="0">
              <a:solidFill>
                <a:srgbClr val="000000"/>
              </a:solidFill>
              <a:effectLst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Copy code</a:t>
            </a:r>
          </a:p>
          <a:p>
            <a:pPr algn="l" rtl="0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var identity = </a:t>
            </a:r>
            <a:r>
              <a:rPr lang="en-US" b="0" i="0" u="none" strike="noStrike" dirty="0" err="1">
                <a:solidFill>
                  <a:srgbClr val="000000"/>
                </a:solidFill>
                <a:effectLst/>
              </a:rPr>
              <a:t>WindowsIdentity.GetCurrent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(); var principal = new </a:t>
            </a:r>
            <a:r>
              <a:rPr lang="en-US" b="0" i="0" u="none" strike="noStrike" dirty="0" err="1">
                <a:solidFill>
                  <a:srgbClr val="000000"/>
                </a:solidFill>
                <a:effectLst/>
              </a:rPr>
              <a:t>WindowsPrincipal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(identity); bool </a:t>
            </a:r>
            <a:r>
              <a:rPr lang="en-US" b="0" i="0" u="none" strike="noStrike" dirty="0" err="1">
                <a:solidFill>
                  <a:srgbClr val="000000"/>
                </a:solidFill>
                <a:effectLst/>
              </a:rPr>
              <a:t>isAdmin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 = </a:t>
            </a:r>
            <a:r>
              <a:rPr lang="en-US" b="0" i="0" u="none" strike="noStrike" dirty="0" err="1">
                <a:solidFill>
                  <a:srgbClr val="000000"/>
                </a:solidFill>
                <a:effectLst/>
              </a:rPr>
              <a:t>principal.IsInRole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(</a:t>
            </a:r>
            <a:r>
              <a:rPr lang="en-US" b="0" i="0" u="none" strike="noStrike" dirty="0" err="1">
                <a:solidFill>
                  <a:srgbClr val="000000"/>
                </a:solidFill>
                <a:effectLst/>
              </a:rPr>
              <a:t>WindowsBuiltInRole.Administrator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); </a:t>
            </a:r>
          </a:p>
          <a:p>
            <a:pPr algn="l"/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6. Claims-Based Identity (in ASP.NET Core and .NET Identity)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In modern .NET applications, especially in </a:t>
            </a: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ASP.NET Core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, the security context can be represented by a </a:t>
            </a:r>
            <a:r>
              <a:rPr lang="en-US" b="1" i="0" u="none" strike="noStrike" dirty="0" err="1">
                <a:solidFill>
                  <a:srgbClr val="000000"/>
                </a:solidFill>
                <a:effectLst/>
              </a:rPr>
              <a:t>ClaimsPrincipal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 object. This contains the user's identity and associated claims, which represent information about the user, such as roles, permissions, or custom data.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u="none" strike="noStrike" dirty="0" err="1">
                <a:solidFill>
                  <a:srgbClr val="000000"/>
                </a:solidFill>
                <a:effectLst/>
              </a:rPr>
              <a:t>csharp</a:t>
            </a:r>
            <a:endParaRPr lang="en-US" b="0" i="0" u="none" strike="noStrike" dirty="0">
              <a:solidFill>
                <a:srgbClr val="000000"/>
              </a:solidFill>
              <a:effectLst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Copy code</a:t>
            </a:r>
          </a:p>
          <a:p>
            <a:pPr algn="l" rtl="0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var </a:t>
            </a:r>
            <a:r>
              <a:rPr lang="en-US" b="0" i="0" u="none" strike="noStrike" dirty="0" err="1">
                <a:solidFill>
                  <a:srgbClr val="000000"/>
                </a:solidFill>
                <a:effectLst/>
              </a:rPr>
              <a:t>claimsPrincipal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 = User; // 'User' is available in ASP.NET Core controllers var </a:t>
            </a:r>
            <a:r>
              <a:rPr lang="en-US" b="0" i="0" u="none" strike="noStrike" dirty="0" err="1">
                <a:solidFill>
                  <a:srgbClr val="000000"/>
                </a:solidFill>
                <a:effectLst/>
              </a:rPr>
              <a:t>userName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 = </a:t>
            </a:r>
            <a:r>
              <a:rPr lang="en-US" b="0" i="0" u="none" strike="noStrike" dirty="0" err="1">
                <a:solidFill>
                  <a:srgbClr val="000000"/>
                </a:solidFill>
                <a:effectLst/>
              </a:rPr>
              <a:t>claimsPrincipal.Identity.Name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; var </a:t>
            </a:r>
            <a:r>
              <a:rPr lang="en-US" b="0" i="0" u="none" strike="noStrike" dirty="0" err="1">
                <a:solidFill>
                  <a:srgbClr val="000000"/>
                </a:solidFill>
                <a:effectLst/>
              </a:rPr>
              <a:t>userRoles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 = </a:t>
            </a:r>
            <a:r>
              <a:rPr lang="en-US" b="0" i="0" u="none" strike="noStrike" dirty="0" err="1">
                <a:solidFill>
                  <a:srgbClr val="000000"/>
                </a:solidFill>
                <a:effectLst/>
              </a:rPr>
              <a:t>claimsPrincipal.FindAll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(</a:t>
            </a:r>
            <a:r>
              <a:rPr lang="en-US" b="0" i="0" u="none" strike="noStrike" dirty="0" err="1">
                <a:solidFill>
                  <a:srgbClr val="000000"/>
                </a:solidFill>
                <a:effectLst/>
              </a:rPr>
              <a:t>ClaimTypes.Role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); </a:t>
            </a:r>
          </a:p>
          <a:p>
            <a:pPr algn="l"/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Summary</a:t>
            </a:r>
          </a:p>
          <a:p>
            <a:pPr algn="l"/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While there is no specific class named </a:t>
            </a:r>
            <a:r>
              <a:rPr lang="en-US" b="0" i="0" u="none" strike="noStrike" dirty="0" err="1">
                <a:solidFill>
                  <a:srgbClr val="000000"/>
                </a:solidFill>
                <a:effectLst/>
              </a:rPr>
              <a:t>SecurityContext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 in .NET, security information is managed through mechanisms like: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u="none" strike="noStrike" dirty="0" err="1">
                <a:solidFill>
                  <a:srgbClr val="000000"/>
                </a:solidFill>
                <a:effectLst/>
              </a:rPr>
              <a:t>ExecutionContext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 (for flow of security context).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u="none" strike="noStrike" dirty="0" err="1">
                <a:solidFill>
                  <a:srgbClr val="000000"/>
                </a:solidFill>
                <a:effectLst/>
              </a:rPr>
              <a:t>Thread.CurrentPrincipal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 (for thread-specific security).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u="none" strike="noStrike" dirty="0" err="1">
                <a:solidFill>
                  <a:srgbClr val="000000"/>
                </a:solidFill>
                <a:effectLst/>
              </a:rPr>
              <a:t>IPrincipal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/</a:t>
            </a:r>
            <a:r>
              <a:rPr lang="en-US" b="0" i="0" u="none" strike="noStrike" dirty="0" err="1">
                <a:solidFill>
                  <a:srgbClr val="000000"/>
                </a:solidFill>
                <a:effectLst/>
              </a:rPr>
              <a:t>GenericPrincipal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 (for identity and role management).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u="none" strike="noStrike" dirty="0" err="1">
                <a:solidFill>
                  <a:srgbClr val="000000"/>
                </a:solidFill>
                <a:effectLst/>
              </a:rPr>
              <a:t>ClaimsPrincipal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 (especially in ASP.NET Core).</a:t>
            </a:r>
          </a:p>
          <a:p>
            <a:pPr algn="l"/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These components handle security context and ensure that the correct identity and roles are applied during execution in a .NET application.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1DF83E-35B9-9BCF-2169-C6DE0658D810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fld id="{685711C6-D783-4789-8082-9D34F2C4221D}" type="datetime8">
              <a:rPr lang="en-US" smtClean="0"/>
              <a:t>1/23/26 2:11 PM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2D7564-83E1-C733-18E3-1AEF864DF9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72199" y="8685213"/>
            <a:ext cx="684213" cy="457200"/>
          </a:xfrm>
          <a:prstGeom prst="rect">
            <a:avLst/>
          </a:prstGeom>
        </p:spPr>
        <p:txBody>
          <a:bodyPr/>
          <a:lstStyle/>
          <a:p>
            <a:fld id="{8B263312-38AA-4E1E-B2B5-0F8F122B24FE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DB7669-5CF5-0C01-C962-1E495B2BDFBE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9" name="Header Placeholder 8">
            <a:extLst>
              <a:ext uri="{FF2B5EF4-FFF2-40B4-BE49-F238E27FC236}">
                <a16:creationId xmlns:a16="http://schemas.microsoft.com/office/drawing/2014/main" id="{D8B607D4-A95B-8F05-73F7-29282D72C60E}"/>
              </a:ext>
            </a:extLst>
          </p:cNvPr>
          <p:cNvSpPr>
            <a:spLocks noGrp="1"/>
          </p:cNvSpPr>
          <p:nvPr>
            <p:ph type="hdr" sz="quarter" idx="14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042089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082E3B-8F43-F511-6E6B-D42994EF75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D706F2E-6CE9-281C-8DF1-6C54968E54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9892647-E61F-DB9E-7937-1127A325B7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>
            <a:normAutofit/>
          </a:bodyPr>
          <a:lstStyle/>
          <a:p>
            <a:pPr algn="l"/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https://</a:t>
            </a:r>
            <a:r>
              <a:rPr lang="en-US" b="1" i="0" u="none" strike="noStrike" dirty="0" err="1">
                <a:solidFill>
                  <a:srgbClr val="000000"/>
                </a:solidFill>
                <a:effectLst/>
              </a:rPr>
              <a:t>medium.com</a:t>
            </a: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/net-under-the-hood/hidden-workings-of-execution-context-in-net-43b491726c65</a:t>
            </a:r>
          </a:p>
          <a:p>
            <a:pPr algn="l"/>
            <a:endParaRPr lang="en-US" b="1" i="0" u="none" strike="noStrike" dirty="0">
              <a:solidFill>
                <a:srgbClr val="000000"/>
              </a:solidFill>
              <a:effectLst/>
            </a:endParaRPr>
          </a:p>
          <a:p>
            <a:pPr algn="l"/>
            <a:r>
              <a:rPr lang="en-US" dirty="0"/>
              <a:t>https://</a:t>
            </a:r>
            <a:r>
              <a:rPr lang="en-US" dirty="0" err="1"/>
              <a:t>github.com</a:t>
            </a:r>
            <a:r>
              <a:rPr lang="en-US" dirty="0"/>
              <a:t>/dotnet/runtime/blob/main/</a:t>
            </a:r>
            <a:r>
              <a:rPr lang="en-US" dirty="0" err="1"/>
              <a:t>src</a:t>
            </a:r>
            <a:r>
              <a:rPr lang="en-US" dirty="0"/>
              <a:t>/libraries/</a:t>
            </a:r>
            <a:r>
              <a:rPr lang="en-US" dirty="0" err="1"/>
              <a:t>System.Private.CoreLib</a:t>
            </a:r>
            <a:r>
              <a:rPr lang="en-US" dirty="0"/>
              <a:t>/</a:t>
            </a:r>
            <a:r>
              <a:rPr lang="en-US" dirty="0" err="1"/>
              <a:t>src</a:t>
            </a:r>
            <a:r>
              <a:rPr lang="en-US" dirty="0"/>
              <a:t>/System/Threading/</a:t>
            </a:r>
            <a:r>
              <a:rPr lang="en-US" dirty="0" err="1"/>
              <a:t>ExecutionContext.cs</a:t>
            </a:r>
            <a:endParaRPr lang="en-US" dirty="0"/>
          </a:p>
          <a:p>
            <a:pPr algn="l"/>
            <a:endParaRPr lang="en-US" dirty="0"/>
          </a:p>
          <a:p>
            <a:pPr algn="l"/>
            <a:r>
              <a:rPr lang="en-US" dirty="0"/>
              <a:t>https://</a:t>
            </a:r>
            <a:r>
              <a:rPr lang="en-US" dirty="0" err="1"/>
              <a:t>github.com</a:t>
            </a:r>
            <a:r>
              <a:rPr lang="en-US" dirty="0"/>
              <a:t>/dotnet/runtime/blob/main/</a:t>
            </a:r>
            <a:r>
              <a:rPr lang="en-US" dirty="0" err="1"/>
              <a:t>src</a:t>
            </a:r>
            <a:r>
              <a:rPr lang="en-US" dirty="0"/>
              <a:t>/libraries/</a:t>
            </a:r>
            <a:r>
              <a:rPr lang="en-US" dirty="0" err="1"/>
              <a:t>System.Private.CoreLib</a:t>
            </a:r>
            <a:r>
              <a:rPr lang="en-US" dirty="0"/>
              <a:t>/</a:t>
            </a:r>
            <a:r>
              <a:rPr lang="en-US" dirty="0" err="1"/>
              <a:t>src</a:t>
            </a:r>
            <a:r>
              <a:rPr lang="en-US" dirty="0"/>
              <a:t>/System/Threading/</a:t>
            </a:r>
            <a:r>
              <a:rPr lang="en-US" dirty="0" err="1"/>
              <a:t>Thread.cs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BB99A8-D474-B111-8711-E7F46BDCACB4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fld id="{685711C6-D783-4789-8082-9D34F2C4221D}" type="datetime8">
              <a:rPr lang="en-US" smtClean="0"/>
              <a:t>1/23/26 2:11 PM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A2E876-A831-198B-30C9-98C32C2B4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72199" y="8685213"/>
            <a:ext cx="684213" cy="457200"/>
          </a:xfrm>
          <a:prstGeom prst="rect">
            <a:avLst/>
          </a:prstGeom>
        </p:spPr>
        <p:txBody>
          <a:bodyPr/>
          <a:lstStyle/>
          <a:p>
            <a:fld id="{8B263312-38AA-4E1E-B2B5-0F8F122B24FE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BC7E14-F78E-35EF-CBFF-F851335EF4AC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9" name="Header Placeholder 8">
            <a:extLst>
              <a:ext uri="{FF2B5EF4-FFF2-40B4-BE49-F238E27FC236}">
                <a16:creationId xmlns:a16="http://schemas.microsoft.com/office/drawing/2014/main" id="{616D3E92-56BE-12F8-6328-4F06F5E17AD7}"/>
              </a:ext>
            </a:extLst>
          </p:cNvPr>
          <p:cNvSpPr>
            <a:spLocks noGrp="1"/>
          </p:cNvSpPr>
          <p:nvPr>
            <p:ph type="hdr" sz="quarter" idx="14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261589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E4F1BB-FC63-7392-BFF5-FC0050ECE9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0F84478-A59D-64F8-8CE4-25B1D0D18C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B2E702D-027B-9AE4-8FCC-AA08FD2E56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>
            <a:normAutofit/>
          </a:bodyPr>
          <a:lstStyle/>
          <a:p>
            <a:pPr algn="l"/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https://</a:t>
            </a:r>
            <a:r>
              <a:rPr lang="en-US" b="1" i="0" u="none" strike="noStrike" dirty="0" err="1">
                <a:solidFill>
                  <a:srgbClr val="000000"/>
                </a:solidFill>
                <a:effectLst/>
              </a:rPr>
              <a:t>github.com</a:t>
            </a: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/dotnet/runtime/blob/main/</a:t>
            </a:r>
            <a:r>
              <a:rPr lang="en-US" b="1" i="0" u="none" strike="noStrike" dirty="0" err="1">
                <a:solidFill>
                  <a:srgbClr val="000000"/>
                </a:solidFill>
                <a:effectLst/>
              </a:rPr>
              <a:t>src</a:t>
            </a: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/libraries/</a:t>
            </a:r>
            <a:r>
              <a:rPr lang="en-US" b="1" i="0" u="none" strike="noStrike" dirty="0" err="1">
                <a:solidFill>
                  <a:srgbClr val="000000"/>
                </a:solidFill>
                <a:effectLst/>
              </a:rPr>
              <a:t>System.Private.CoreLib</a:t>
            </a: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/</a:t>
            </a:r>
            <a:r>
              <a:rPr lang="en-US" b="1" i="0" u="none" strike="noStrike" dirty="0" err="1">
                <a:solidFill>
                  <a:srgbClr val="000000"/>
                </a:solidFill>
                <a:effectLst/>
              </a:rPr>
              <a:t>src</a:t>
            </a: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/System/Threading/</a:t>
            </a:r>
            <a:r>
              <a:rPr lang="en-US" b="1" i="0" u="none" strike="noStrike" dirty="0" err="1">
                <a:solidFill>
                  <a:srgbClr val="000000"/>
                </a:solidFill>
                <a:effectLst/>
              </a:rPr>
              <a:t>AsyncLocal.cs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8867E5-5BA2-6597-A9F6-D95D51027230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fld id="{685711C6-D783-4789-8082-9D34F2C4221D}" type="datetime8">
              <a:rPr lang="en-US" smtClean="0"/>
              <a:t>1/23/26 2:11 PM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8429B0-FD9B-7D17-2896-F5631DF268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72199" y="8685213"/>
            <a:ext cx="684213" cy="457200"/>
          </a:xfrm>
          <a:prstGeom prst="rect">
            <a:avLst/>
          </a:prstGeom>
        </p:spPr>
        <p:txBody>
          <a:bodyPr/>
          <a:lstStyle/>
          <a:p>
            <a:fld id="{8B263312-38AA-4E1E-B2B5-0F8F122B24FE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D2FC0B-21FC-8BA9-565C-D76BEA225910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9" name="Header Placeholder 8">
            <a:extLst>
              <a:ext uri="{FF2B5EF4-FFF2-40B4-BE49-F238E27FC236}">
                <a16:creationId xmlns:a16="http://schemas.microsoft.com/office/drawing/2014/main" id="{A34E5F19-419D-1679-7EE5-A509B7CF6785}"/>
              </a:ext>
            </a:extLst>
          </p:cNvPr>
          <p:cNvSpPr>
            <a:spLocks noGrp="1"/>
          </p:cNvSpPr>
          <p:nvPr>
            <p:ph type="hdr" sz="quarter" idx="14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729480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A8FBC1-929A-54E1-30B0-0B93F4DE83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4F541DA-74BD-F24F-ED8A-662F46B664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7334D34-3060-3966-2D0C-9BC177D2F8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>
            <a:normAutofit/>
          </a:bodyPr>
          <a:lstStyle/>
          <a:p>
            <a:pPr algn="l"/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https://</a:t>
            </a:r>
            <a:r>
              <a:rPr lang="en-US" b="0" i="0" u="none" strike="noStrike" dirty="0" err="1">
                <a:solidFill>
                  <a:srgbClr val="000000"/>
                </a:solidFill>
                <a:effectLst/>
              </a:rPr>
              <a:t>github.com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/dotnet/runtime/blob/main/</a:t>
            </a:r>
            <a:r>
              <a:rPr lang="en-US" b="0" i="0" u="none" strike="noStrike" dirty="0" err="1">
                <a:solidFill>
                  <a:srgbClr val="000000"/>
                </a:solidFill>
                <a:effectLst/>
              </a:rPr>
              <a:t>src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/libraries/</a:t>
            </a:r>
            <a:r>
              <a:rPr lang="en-US" b="0" i="0" u="none" strike="noStrike" dirty="0" err="1">
                <a:solidFill>
                  <a:srgbClr val="000000"/>
                </a:solidFill>
                <a:effectLst/>
              </a:rPr>
              <a:t>System.Private.CoreLib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/</a:t>
            </a:r>
            <a:r>
              <a:rPr lang="en-US" b="0" i="0" u="none" strike="noStrike" dirty="0" err="1">
                <a:solidFill>
                  <a:srgbClr val="000000"/>
                </a:solidFill>
                <a:effectLst/>
              </a:rPr>
              <a:t>src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/System/Threading/</a:t>
            </a:r>
            <a:r>
              <a:rPr lang="en-US" b="0" i="0" u="none" strike="noStrike" dirty="0" err="1">
                <a:solidFill>
                  <a:srgbClr val="000000"/>
                </a:solidFill>
                <a:effectLst/>
              </a:rPr>
              <a:t>SynchronizationContext.cs</a:t>
            </a:r>
            <a:endParaRPr lang="en-US" b="0" i="0" u="none" strike="noStrike" dirty="0">
              <a:solidFill>
                <a:srgbClr val="000000"/>
              </a:solidFill>
              <a:effectLst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FA754E-9D1B-0703-939D-4289309578AB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fld id="{685711C6-D783-4789-8082-9D34F2C4221D}" type="datetime8">
              <a:rPr lang="en-US" smtClean="0"/>
              <a:t>1/23/26 2:11 PM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2F386B-293A-9586-9B9C-B35DC3F493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72199" y="8685213"/>
            <a:ext cx="684213" cy="457200"/>
          </a:xfrm>
          <a:prstGeom prst="rect">
            <a:avLst/>
          </a:prstGeom>
        </p:spPr>
        <p:txBody>
          <a:bodyPr/>
          <a:lstStyle/>
          <a:p>
            <a:fld id="{8B263312-38AA-4E1E-B2B5-0F8F122B24FE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7F79E6-B9DC-3AA0-5DA5-29BC30A40B59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9" name="Header Placeholder 8">
            <a:extLst>
              <a:ext uri="{FF2B5EF4-FFF2-40B4-BE49-F238E27FC236}">
                <a16:creationId xmlns:a16="http://schemas.microsoft.com/office/drawing/2014/main" id="{38FEDC10-E1BF-4139-41A6-1E1AF150EB22}"/>
              </a:ext>
            </a:extLst>
          </p:cNvPr>
          <p:cNvSpPr>
            <a:spLocks noGrp="1"/>
          </p:cNvSpPr>
          <p:nvPr>
            <p:ph type="hdr" sz="quarter" idx="14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052102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99DC03-6193-815F-F849-20F51492DC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9CC32CB-6B8C-0C2A-F79B-2B1DA324C8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EA0019E-C0EF-B617-EA34-8CE92B8EEA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>
            <a:normAutofit/>
          </a:bodyPr>
          <a:lstStyle/>
          <a:p>
            <a:pPr algn="l"/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In ASP.NET Core MVC, </a:t>
            </a: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UI updates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 happen </a:t>
            </a: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entirely on the server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, and then the </a:t>
            </a: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HTML is sent to the browser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 for rendering. The </a:t>
            </a: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browser’s event loop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 and </a:t>
            </a: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JavaScript interop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 come into play when you’re doing </a:t>
            </a: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client-side interactivity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, but ASP.NET Core MVC itself is a </a:t>
            </a: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server-side rendering model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 that does not use JavaScript to update the UI directly.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61CDAF-F9F5-C39C-2C2A-ACC8A2A8F1DD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fld id="{685711C6-D783-4789-8082-9D34F2C4221D}" type="datetime8">
              <a:rPr lang="en-US" smtClean="0"/>
              <a:t>1/23/26 2:11 PM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3A88D3-DDD8-6E35-2578-8FEE17E20C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72199" y="8685213"/>
            <a:ext cx="684213" cy="457200"/>
          </a:xfrm>
          <a:prstGeom prst="rect">
            <a:avLst/>
          </a:prstGeom>
        </p:spPr>
        <p:txBody>
          <a:bodyPr/>
          <a:lstStyle/>
          <a:p>
            <a:fld id="{8B263312-38AA-4E1E-B2B5-0F8F122B24FE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C5CCD4-F954-0294-43D3-28D7217D3441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9" name="Header Placeholder 8">
            <a:extLst>
              <a:ext uri="{FF2B5EF4-FFF2-40B4-BE49-F238E27FC236}">
                <a16:creationId xmlns:a16="http://schemas.microsoft.com/office/drawing/2014/main" id="{0CD6C7AB-DC3F-A6EE-E9C3-40F4D2A287C6}"/>
              </a:ext>
            </a:extLst>
          </p:cNvPr>
          <p:cNvSpPr>
            <a:spLocks noGrp="1"/>
          </p:cNvSpPr>
          <p:nvPr>
            <p:ph type="hdr" sz="quarter" idx="14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156335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2419CC-B791-B47F-0DF7-A42E637ADF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D7CD0B0-BF7F-51F2-67E3-83AC640FB3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4A6E1C3-FCA3-F40A-6AB1-E867BCA1E7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>
            <a:normAutofit fontScale="92500" lnSpcReduction="20000"/>
          </a:bodyPr>
          <a:lstStyle/>
          <a:p>
            <a:pPr algn="l"/>
            <a:r>
              <a:rPr lang="en-US" b="1" dirty="0" err="1"/>
              <a:t>HttpContext</a:t>
            </a:r>
            <a:r>
              <a:rPr lang="en-US" dirty="0"/>
              <a:t>: This represents the context for a single HTTP request. It contains all the information about the request and response, such as request headers, cookies, session, etc.</a:t>
            </a:r>
            <a:br>
              <a:rPr lang="en-US" dirty="0"/>
            </a:br>
            <a:endParaRPr lang="en-US" dirty="0"/>
          </a:p>
          <a:p>
            <a:pPr algn="l"/>
            <a:endParaRPr lang="en-US" b="0" i="0" u="none" strike="noStrike" dirty="0">
              <a:solidFill>
                <a:srgbClr val="000000"/>
              </a:solidFill>
              <a:effectLst/>
            </a:endParaRPr>
          </a:p>
          <a:p>
            <a:pPr algn="l"/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public class </a:t>
            </a:r>
            <a:r>
              <a:rPr lang="en-US" b="0" i="0" u="none" strike="noStrike" dirty="0" err="1">
                <a:solidFill>
                  <a:srgbClr val="000000"/>
                </a:solidFill>
                <a:effectLst/>
              </a:rPr>
              <a:t>HomeController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 : Controller</a:t>
            </a:r>
          </a:p>
          <a:p>
            <a:pPr algn="l"/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{</a:t>
            </a:r>
          </a:p>
          <a:p>
            <a:pPr algn="l"/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    private </a:t>
            </a:r>
            <a:r>
              <a:rPr lang="en-US" b="0" i="0" u="none" strike="noStrike" dirty="0" err="1">
                <a:solidFill>
                  <a:srgbClr val="000000"/>
                </a:solidFill>
                <a:effectLst/>
              </a:rPr>
              <a:t>readonly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en-US" b="0" i="0" u="none" strike="noStrike" dirty="0" err="1">
                <a:solidFill>
                  <a:srgbClr val="000000"/>
                </a:solidFill>
                <a:effectLst/>
              </a:rPr>
              <a:t>IHttpContextAccessor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 _</a:t>
            </a:r>
            <a:r>
              <a:rPr lang="en-US" b="0" i="0" u="none" strike="noStrike" dirty="0" err="1">
                <a:solidFill>
                  <a:srgbClr val="000000"/>
                </a:solidFill>
                <a:effectLst/>
              </a:rPr>
              <a:t>httpContextAccessor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;</a:t>
            </a:r>
          </a:p>
          <a:p>
            <a:pPr algn="l"/>
            <a:endParaRPr lang="en-US" b="0" i="0" u="none" strike="noStrike" dirty="0">
              <a:solidFill>
                <a:srgbClr val="000000"/>
              </a:solidFill>
              <a:effectLst/>
            </a:endParaRPr>
          </a:p>
          <a:p>
            <a:pPr algn="l"/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    public </a:t>
            </a:r>
            <a:r>
              <a:rPr lang="en-US" b="0" i="0" u="none" strike="noStrike" dirty="0" err="1">
                <a:solidFill>
                  <a:srgbClr val="000000"/>
                </a:solidFill>
                <a:effectLst/>
              </a:rPr>
              <a:t>HomeController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(</a:t>
            </a:r>
            <a:r>
              <a:rPr lang="en-US" b="0" i="0" u="none" strike="noStrike" dirty="0" err="1">
                <a:solidFill>
                  <a:srgbClr val="000000"/>
                </a:solidFill>
                <a:effectLst/>
              </a:rPr>
              <a:t>IHttpContextAccessor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en-US" b="0" i="0" u="none" strike="noStrike" dirty="0" err="1">
                <a:solidFill>
                  <a:srgbClr val="000000"/>
                </a:solidFill>
                <a:effectLst/>
              </a:rPr>
              <a:t>httpContextAccessor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)</a:t>
            </a:r>
          </a:p>
          <a:p>
            <a:pPr algn="l"/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    {</a:t>
            </a:r>
          </a:p>
          <a:p>
            <a:pPr algn="l"/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        _</a:t>
            </a:r>
            <a:r>
              <a:rPr lang="en-US" b="0" i="0" u="none" strike="noStrike" dirty="0" err="1">
                <a:solidFill>
                  <a:srgbClr val="000000"/>
                </a:solidFill>
                <a:effectLst/>
              </a:rPr>
              <a:t>httpContextAccessor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 = </a:t>
            </a:r>
            <a:r>
              <a:rPr lang="en-US" b="0" i="0" u="none" strike="noStrike" dirty="0" err="1">
                <a:solidFill>
                  <a:srgbClr val="000000"/>
                </a:solidFill>
                <a:effectLst/>
              </a:rPr>
              <a:t>httpContextAccessor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;</a:t>
            </a:r>
          </a:p>
          <a:p>
            <a:pPr algn="l"/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    }</a:t>
            </a:r>
          </a:p>
          <a:p>
            <a:pPr algn="l"/>
            <a:endParaRPr lang="en-US" b="0" i="0" u="none" strike="noStrike" dirty="0">
              <a:solidFill>
                <a:srgbClr val="000000"/>
              </a:solidFill>
              <a:effectLst/>
            </a:endParaRPr>
          </a:p>
          <a:p>
            <a:pPr algn="l"/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    public async Task&lt;</a:t>
            </a:r>
            <a:r>
              <a:rPr lang="en-US" b="0" i="0" u="none" strike="noStrike" dirty="0" err="1">
                <a:solidFill>
                  <a:srgbClr val="000000"/>
                </a:solidFill>
                <a:effectLst/>
              </a:rPr>
              <a:t>IActionResult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&gt; Index()</a:t>
            </a:r>
          </a:p>
          <a:p>
            <a:pPr algn="l"/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    {</a:t>
            </a:r>
          </a:p>
          <a:p>
            <a:pPr algn="l"/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        // Accessing </a:t>
            </a:r>
            <a:r>
              <a:rPr lang="en-US" b="0" i="0" u="none" strike="noStrike" dirty="0" err="1">
                <a:solidFill>
                  <a:srgbClr val="000000"/>
                </a:solidFill>
                <a:effectLst/>
              </a:rPr>
              <a:t>HttpContext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 before awaiting a task</a:t>
            </a:r>
          </a:p>
          <a:p>
            <a:pPr algn="l"/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        var </a:t>
            </a:r>
            <a:r>
              <a:rPr lang="en-US" b="0" i="0" u="none" strike="noStrike" dirty="0" err="1">
                <a:solidFill>
                  <a:srgbClr val="000000"/>
                </a:solidFill>
                <a:effectLst/>
              </a:rPr>
              <a:t>requestPathBefore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 = _</a:t>
            </a:r>
            <a:r>
              <a:rPr lang="en-US" b="0" i="0" u="none" strike="noStrike" dirty="0" err="1">
                <a:solidFill>
                  <a:srgbClr val="000000"/>
                </a:solidFill>
                <a:effectLst/>
              </a:rPr>
              <a:t>httpContextAccessor.HttpContext.Request.Path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;</a:t>
            </a:r>
          </a:p>
          <a:p>
            <a:pPr algn="l"/>
            <a:endParaRPr lang="en-US" b="0" i="0" u="none" strike="noStrike" dirty="0">
              <a:solidFill>
                <a:srgbClr val="000000"/>
              </a:solidFill>
              <a:effectLst/>
            </a:endParaRPr>
          </a:p>
          <a:p>
            <a:pPr algn="l"/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        // Simulate an async task (e.g., database call or external API call)</a:t>
            </a:r>
          </a:p>
          <a:p>
            <a:pPr algn="l"/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        await </a:t>
            </a:r>
            <a:r>
              <a:rPr lang="en-US" b="0" i="0" u="none" strike="noStrike" dirty="0" err="1">
                <a:solidFill>
                  <a:srgbClr val="000000"/>
                </a:solidFill>
                <a:effectLst/>
              </a:rPr>
              <a:t>Task.Delay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(1000);</a:t>
            </a:r>
          </a:p>
          <a:p>
            <a:pPr algn="l"/>
            <a:endParaRPr lang="en-US" b="0" i="0" u="none" strike="noStrike" dirty="0">
              <a:solidFill>
                <a:srgbClr val="000000"/>
              </a:solidFill>
              <a:effectLst/>
            </a:endParaRPr>
          </a:p>
          <a:p>
            <a:pPr algn="l"/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        // Accessing </a:t>
            </a:r>
            <a:r>
              <a:rPr lang="en-US" b="0" i="0" u="none" strike="noStrike" dirty="0" err="1">
                <a:solidFill>
                  <a:srgbClr val="000000"/>
                </a:solidFill>
                <a:effectLst/>
              </a:rPr>
              <a:t>HttpContext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 after the task completes</a:t>
            </a:r>
          </a:p>
          <a:p>
            <a:pPr algn="l"/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        var </a:t>
            </a:r>
            <a:r>
              <a:rPr lang="en-US" b="0" i="0" u="none" strike="noStrike" dirty="0" err="1">
                <a:solidFill>
                  <a:srgbClr val="000000"/>
                </a:solidFill>
                <a:effectLst/>
              </a:rPr>
              <a:t>requestPathAfter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 = _</a:t>
            </a:r>
            <a:r>
              <a:rPr lang="en-US" b="0" i="0" u="none" strike="noStrike" dirty="0" err="1">
                <a:solidFill>
                  <a:srgbClr val="000000"/>
                </a:solidFill>
                <a:effectLst/>
              </a:rPr>
              <a:t>httpContextAccessor.HttpContext.Request.Path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;</a:t>
            </a:r>
          </a:p>
          <a:p>
            <a:pPr algn="l"/>
            <a:endParaRPr lang="en-US" b="0" i="0" u="none" strike="noStrike" dirty="0">
              <a:solidFill>
                <a:srgbClr val="000000"/>
              </a:solidFill>
              <a:effectLst/>
            </a:endParaRPr>
          </a:p>
          <a:p>
            <a:pPr algn="l"/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        // The </a:t>
            </a:r>
            <a:r>
              <a:rPr lang="en-US" b="0" i="0" u="none" strike="noStrike" dirty="0" err="1">
                <a:solidFill>
                  <a:srgbClr val="000000"/>
                </a:solidFill>
                <a:effectLst/>
              </a:rPr>
              <a:t>HttpContext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 is still accessible and hasn't been lost</a:t>
            </a:r>
          </a:p>
          <a:p>
            <a:pPr algn="l"/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        </a:t>
            </a:r>
            <a:r>
              <a:rPr lang="en-US" b="0" i="0" u="none" strike="noStrike" dirty="0" err="1">
                <a:solidFill>
                  <a:srgbClr val="000000"/>
                </a:solidFill>
                <a:effectLst/>
              </a:rPr>
              <a:t>Console.WriteLine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($"Request Path before: {</a:t>
            </a:r>
            <a:r>
              <a:rPr lang="en-US" b="0" i="0" u="none" strike="noStrike" dirty="0" err="1">
                <a:solidFill>
                  <a:srgbClr val="000000"/>
                </a:solidFill>
                <a:effectLst/>
              </a:rPr>
              <a:t>requestPathBefore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}");</a:t>
            </a:r>
          </a:p>
          <a:p>
            <a:pPr algn="l"/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        </a:t>
            </a:r>
            <a:r>
              <a:rPr lang="en-US" b="0" i="0" u="none" strike="noStrike" dirty="0" err="1">
                <a:solidFill>
                  <a:srgbClr val="000000"/>
                </a:solidFill>
                <a:effectLst/>
              </a:rPr>
              <a:t>Console.WriteLine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($"Request Path after: {</a:t>
            </a:r>
            <a:r>
              <a:rPr lang="en-US" b="0" i="0" u="none" strike="noStrike" dirty="0" err="1">
                <a:solidFill>
                  <a:srgbClr val="000000"/>
                </a:solidFill>
                <a:effectLst/>
              </a:rPr>
              <a:t>requestPathAfter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}");</a:t>
            </a:r>
          </a:p>
          <a:p>
            <a:pPr algn="l"/>
            <a:endParaRPr lang="en-US" b="0" i="0" u="none" strike="noStrike" dirty="0">
              <a:solidFill>
                <a:srgbClr val="000000"/>
              </a:solidFill>
              <a:effectLst/>
            </a:endParaRPr>
          </a:p>
          <a:p>
            <a:pPr algn="l"/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        return View();</a:t>
            </a:r>
          </a:p>
          <a:p>
            <a:pPr algn="l"/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    }</a:t>
            </a:r>
          </a:p>
          <a:p>
            <a:pPr algn="l"/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}</a:t>
            </a:r>
          </a:p>
          <a:p>
            <a:pPr algn="l"/>
            <a:endParaRPr lang="en-US" b="0" i="0" u="none" strike="noStrike" dirty="0">
              <a:solidFill>
                <a:srgbClr val="000000"/>
              </a:solidFill>
              <a:effectLst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E4654B-0953-77FD-5C46-50641FDBD42C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fld id="{685711C6-D783-4789-8082-9D34F2C4221D}" type="datetime8">
              <a:rPr lang="en-US" smtClean="0"/>
              <a:t>1/23/26 2:11 PM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0FD835-6695-43C0-39BF-AED7E91CEB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72199" y="8685213"/>
            <a:ext cx="684213" cy="457200"/>
          </a:xfrm>
          <a:prstGeom prst="rect">
            <a:avLst/>
          </a:prstGeom>
        </p:spPr>
        <p:txBody>
          <a:bodyPr/>
          <a:lstStyle/>
          <a:p>
            <a:fld id="{8B263312-38AA-4E1E-B2B5-0F8F122B24FE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4B835C-FD29-F8A6-A645-03C173099F46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9" name="Header Placeholder 8">
            <a:extLst>
              <a:ext uri="{FF2B5EF4-FFF2-40B4-BE49-F238E27FC236}">
                <a16:creationId xmlns:a16="http://schemas.microsoft.com/office/drawing/2014/main" id="{E095F29F-755A-AFCC-59C2-8D65BCA9E862}"/>
              </a:ext>
            </a:extLst>
          </p:cNvPr>
          <p:cNvSpPr>
            <a:spLocks noGrp="1"/>
          </p:cNvSpPr>
          <p:nvPr>
            <p:ph type="hdr" sz="quarter" idx="14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075422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A08FAC-4F6F-6EE9-4DB4-ED69B1A1FB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46C6C5C-F966-AEB3-3716-D5F1F51998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07BE929-76A1-1807-D171-6D0F3BBD6C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>
            <a:normAutofit fontScale="92500" lnSpcReduction="20000"/>
          </a:bodyPr>
          <a:lstStyle/>
          <a:p>
            <a:pPr algn="l"/>
            <a:r>
              <a:rPr lang="en-US" b="1" i="0" u="none" strike="noStrike" dirty="0" err="1">
                <a:solidFill>
                  <a:srgbClr val="000000"/>
                </a:solidFill>
                <a:effectLst/>
              </a:rPr>
              <a:t>Blazor</a:t>
            </a: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 Server Overview:</a:t>
            </a:r>
          </a:p>
          <a:p>
            <a:pPr algn="l"/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In </a:t>
            </a:r>
            <a:r>
              <a:rPr lang="en-US" b="1" i="0" u="none" strike="noStrike" dirty="0" err="1">
                <a:solidFill>
                  <a:srgbClr val="000000"/>
                </a:solidFill>
                <a:effectLst/>
              </a:rPr>
              <a:t>Blazor</a:t>
            </a: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 Server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, the UI rendering happens on the </a:t>
            </a: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server side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. The client (the web browser) only handles the display of the UI, but all logic and rendering are executed on the </a:t>
            </a: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server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. Here's how it works:</a:t>
            </a:r>
          </a:p>
          <a:p>
            <a:pPr algn="l">
              <a:buFont typeface="+mj-lt"/>
              <a:buAutoNum type="arabicPeriod"/>
            </a:pPr>
            <a:r>
              <a:rPr lang="en-US" b="1" i="0" u="none" strike="noStrike" dirty="0" err="1">
                <a:solidFill>
                  <a:srgbClr val="000000"/>
                </a:solidFill>
                <a:effectLst/>
              </a:rPr>
              <a:t>SignalR</a:t>
            </a: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 Connection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: When a user connects to a </a:t>
            </a:r>
            <a:r>
              <a:rPr lang="en-US" b="0" i="0" u="none" strike="noStrike" dirty="0" err="1">
                <a:solidFill>
                  <a:srgbClr val="000000"/>
                </a:solidFill>
                <a:effectLst/>
              </a:rPr>
              <a:t>Blazor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 Server app, the client establishes a </a:t>
            </a:r>
            <a:r>
              <a:rPr lang="en-US" b="1" i="0" u="none" strike="noStrike" dirty="0" err="1">
                <a:solidFill>
                  <a:srgbClr val="000000"/>
                </a:solidFill>
                <a:effectLst/>
              </a:rPr>
              <a:t>SignalR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 connection to the server. </a:t>
            </a:r>
            <a:r>
              <a:rPr lang="en-US" b="0" i="0" u="none" strike="noStrike" dirty="0" err="1">
                <a:solidFill>
                  <a:srgbClr val="000000"/>
                </a:solidFill>
                <a:effectLst/>
              </a:rPr>
              <a:t>SignalR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 is a real-time communication framework in .NET that enables bi-directional communication between the server and client over a persistent connection.</a:t>
            </a:r>
          </a:p>
          <a:p>
            <a:pPr algn="l">
              <a:buFont typeface="+mj-lt"/>
              <a:buAutoNum type="arabicPeriod"/>
            </a:pP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Event Handling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: When the user interacts with the UI (e.g., clicks a button, changes a form value, etc.), the event is sent to the server via the </a:t>
            </a:r>
            <a:r>
              <a:rPr lang="en-US" b="0" i="0" u="none" strike="noStrike" dirty="0" err="1">
                <a:solidFill>
                  <a:srgbClr val="000000"/>
                </a:solidFill>
                <a:effectLst/>
              </a:rPr>
              <a:t>SignalR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 connection. The server processes the event (it could be an asynchronous task, such as fetching data from a database), updates the component's state, and schedules a re-render of the component.</a:t>
            </a:r>
          </a:p>
          <a:p>
            <a:pPr algn="l">
              <a:buFont typeface="+mj-lt"/>
              <a:buAutoNum type="arabicPeriod"/>
            </a:pP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Component Re-rendering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: After processing the event on the server, </a:t>
            </a:r>
            <a:r>
              <a:rPr lang="en-US" b="0" i="0" u="none" strike="noStrike" dirty="0" err="1">
                <a:solidFill>
                  <a:srgbClr val="000000"/>
                </a:solidFill>
                <a:effectLst/>
              </a:rPr>
              <a:t>Blazor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 triggers a re-render of the affected component(s). The updated UI is then sent to the client over the </a:t>
            </a:r>
            <a:r>
              <a:rPr lang="en-US" b="0" i="0" u="none" strike="noStrike" dirty="0" err="1">
                <a:solidFill>
                  <a:srgbClr val="000000"/>
                </a:solidFill>
                <a:effectLst/>
              </a:rPr>
              <a:t>SignalR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 connection as a </a:t>
            </a: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diff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 (only the parts of the DOM that have changed are sent), and the client applies the changes to the DOM.</a:t>
            </a:r>
          </a:p>
          <a:p>
            <a:pPr algn="l">
              <a:buFont typeface="+mj-lt"/>
              <a:buAutoNum type="arabicPeriod"/>
            </a:pP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DOM Updates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: The browser receives the updated UI (a diff of HTML), and </a:t>
            </a:r>
            <a:r>
              <a:rPr lang="en-US" b="1" i="0" u="none" strike="noStrike" dirty="0" err="1">
                <a:solidFill>
                  <a:srgbClr val="000000"/>
                </a:solidFill>
                <a:effectLst/>
              </a:rPr>
              <a:t>Blazor</a:t>
            </a: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 applies the changes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 directly to the DOM. This is a key feature of </a:t>
            </a:r>
            <a:r>
              <a:rPr lang="en-US" b="0" i="0" u="none" strike="noStrike" dirty="0" err="1">
                <a:solidFill>
                  <a:srgbClr val="000000"/>
                </a:solidFill>
                <a:effectLst/>
              </a:rPr>
              <a:t>Blazor’s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 rendering process—it minimizes the amount of data transferred between the server and client by only sending the differences (diffs) rather than re-sending the entire HTML for the page.</a:t>
            </a:r>
          </a:p>
          <a:p>
            <a:pPr algn="l"/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Key Points in the </a:t>
            </a:r>
            <a:r>
              <a:rPr lang="en-US" b="1" i="0" u="none" strike="noStrike" dirty="0" err="1">
                <a:solidFill>
                  <a:srgbClr val="000000"/>
                </a:solidFill>
                <a:effectLst/>
              </a:rPr>
              <a:t>Blazor</a:t>
            </a: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 Server Render Loop:</a:t>
            </a:r>
          </a:p>
          <a:p>
            <a:pPr algn="l">
              <a:buFont typeface="+mj-lt"/>
              <a:buAutoNum type="arabicPeriod"/>
            </a:pP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No JavaScript Interop for Rendering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: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Unlike </a:t>
            </a:r>
            <a:r>
              <a:rPr lang="en-US" b="1" i="0" u="none" strike="noStrike" dirty="0" err="1">
                <a:solidFill>
                  <a:srgbClr val="000000"/>
                </a:solidFill>
                <a:effectLst/>
              </a:rPr>
              <a:t>Blazor</a:t>
            </a: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en-US" b="1" i="0" u="none" strike="noStrike" dirty="0" err="1">
                <a:solidFill>
                  <a:srgbClr val="000000"/>
                </a:solidFill>
                <a:effectLst/>
              </a:rPr>
              <a:t>WebAssembly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, which runs entirely in the browser and interacts with JavaScript to manipulate the DOM directly, </a:t>
            </a:r>
            <a:r>
              <a:rPr lang="en-US" b="1" i="0" u="none" strike="noStrike" dirty="0" err="1">
                <a:solidFill>
                  <a:srgbClr val="000000"/>
                </a:solidFill>
                <a:effectLst/>
              </a:rPr>
              <a:t>Blazor</a:t>
            </a: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 Server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 does not need JavaScript interop for updating the render loop. The entire rendering process is driven by the </a:t>
            </a: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server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.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The client does not directly manipulate the DOM; instead, it receives changes from the server via </a:t>
            </a:r>
            <a:r>
              <a:rPr lang="en-US" b="0" i="0" u="none" strike="noStrike" dirty="0" err="1">
                <a:solidFill>
                  <a:srgbClr val="000000"/>
                </a:solidFill>
                <a:effectLst/>
              </a:rPr>
              <a:t>SignalR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 and applies them to the DOM.</a:t>
            </a:r>
          </a:p>
          <a:p>
            <a:pPr algn="l">
              <a:buFont typeface="+mj-lt"/>
              <a:buAutoNum type="arabicPeriod"/>
            </a:pPr>
            <a:r>
              <a:rPr lang="en-US" b="1" i="0" u="none" strike="noStrike" dirty="0" err="1">
                <a:solidFill>
                  <a:srgbClr val="000000"/>
                </a:solidFill>
                <a:effectLst/>
              </a:rPr>
              <a:t>SignalR</a:t>
            </a: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-Driven Updates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: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b="1" i="0" u="none" strike="noStrike" dirty="0" err="1">
                <a:solidFill>
                  <a:srgbClr val="000000"/>
                </a:solidFill>
                <a:effectLst/>
              </a:rPr>
              <a:t>SignalR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 handles all real-time communication between the client and the server. When an event occurs (like a button click), the server processes the event, and the component is marked for re-render. The </a:t>
            </a:r>
            <a:r>
              <a:rPr lang="en-US" b="1" i="0" u="none" strike="noStrike" dirty="0" err="1">
                <a:solidFill>
                  <a:srgbClr val="000000"/>
                </a:solidFill>
                <a:effectLst/>
              </a:rPr>
              <a:t>SignalR</a:t>
            </a: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 connection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 ensures that the updated state is communicated to the client, and only the differences (diffs) in the rendered HTML are sent back to the browser for rendering.</a:t>
            </a:r>
          </a:p>
          <a:p>
            <a:pPr algn="l">
              <a:buFont typeface="+mj-lt"/>
              <a:buAutoNum type="arabicPeriod"/>
            </a:pP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Rendering Cycle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: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The </a:t>
            </a:r>
            <a:r>
              <a:rPr lang="en-US" b="0" i="0" u="none" strike="noStrike" dirty="0" err="1">
                <a:solidFill>
                  <a:srgbClr val="000000"/>
                </a:solidFill>
                <a:effectLst/>
              </a:rPr>
              <a:t>Blazor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 Server rendering cycle works as follows:</a:t>
            </a:r>
          </a:p>
          <a:p>
            <a:pPr marL="1143000" lvl="2" indent="-228600" algn="l">
              <a:buFont typeface="+mj-lt"/>
              <a:buAutoNum type="arabicPeriod"/>
            </a:pP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UI Event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 (e.g., button click or form submit) is captured by the client.</a:t>
            </a:r>
          </a:p>
          <a:p>
            <a:pPr marL="1143000" lvl="2" indent="-228600" algn="l">
              <a:buFont typeface="+mj-lt"/>
              <a:buAutoNum type="arabicPeriod"/>
            </a:pP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The event is sent to the server over </a:t>
            </a:r>
            <a:r>
              <a:rPr lang="en-US" b="1" i="0" u="none" strike="noStrike" dirty="0" err="1">
                <a:solidFill>
                  <a:srgbClr val="000000"/>
                </a:solidFill>
                <a:effectLst/>
              </a:rPr>
              <a:t>SignalR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.</a:t>
            </a:r>
          </a:p>
          <a:p>
            <a:pPr marL="1143000" lvl="2" indent="-228600" algn="l">
              <a:buFont typeface="+mj-lt"/>
              <a:buAutoNum type="arabicPeriod"/>
            </a:pP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The server processes the event, updates the component state (potentially asynchronously), and triggers a re-render.</a:t>
            </a:r>
          </a:p>
          <a:p>
            <a:pPr marL="1143000" lvl="2" indent="-228600" algn="l">
              <a:buFont typeface="+mj-lt"/>
              <a:buAutoNum type="arabicPeriod"/>
            </a:pP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The server computes the </a:t>
            </a: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diff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 between the old and new UI.</a:t>
            </a:r>
          </a:p>
          <a:p>
            <a:pPr marL="1143000" lvl="2" indent="-228600" algn="l">
              <a:buFont typeface="+mj-lt"/>
              <a:buAutoNum type="arabicPeriod"/>
            </a:pP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The diff is sent to the client over </a:t>
            </a:r>
            <a:r>
              <a:rPr lang="en-US" b="1" i="0" u="none" strike="noStrike" dirty="0" err="1">
                <a:solidFill>
                  <a:srgbClr val="000000"/>
                </a:solidFill>
                <a:effectLst/>
              </a:rPr>
              <a:t>SignalR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.</a:t>
            </a:r>
          </a:p>
          <a:p>
            <a:pPr marL="1143000" lvl="2" indent="-228600" algn="l">
              <a:buFont typeface="+mj-lt"/>
              <a:buAutoNum type="arabicPeriod"/>
            </a:pP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The client applies the diff to the </a:t>
            </a: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DOM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, updating the UI.</a:t>
            </a:r>
          </a:p>
          <a:p>
            <a:pPr algn="l">
              <a:buFont typeface="+mj-lt"/>
              <a:buAutoNum type="arabicPeriod"/>
            </a:pP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This loop does not require </a:t>
            </a: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JavaScript interop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 because all communication between the client and server happens through </a:t>
            </a:r>
            <a:r>
              <a:rPr lang="en-US" b="1" i="0" u="none" strike="noStrike" dirty="0" err="1">
                <a:solidFill>
                  <a:srgbClr val="000000"/>
                </a:solidFill>
                <a:effectLst/>
              </a:rPr>
              <a:t>SignalR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 and the server manages the rendering.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07AA22-4CD2-B79F-7A9F-B6AC95DEF94D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fld id="{685711C6-D783-4789-8082-9D34F2C4221D}" type="datetime8">
              <a:rPr lang="en-US" smtClean="0"/>
              <a:t>1/23/26 2:11 PM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59755B-F601-DE4D-49F5-D835046106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72199" y="8685213"/>
            <a:ext cx="684213" cy="457200"/>
          </a:xfrm>
          <a:prstGeom prst="rect">
            <a:avLst/>
          </a:prstGeom>
        </p:spPr>
        <p:txBody>
          <a:bodyPr/>
          <a:lstStyle/>
          <a:p>
            <a:fld id="{8B263312-38AA-4E1E-B2B5-0F8F122B24FE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51A183-2FBA-DA19-41BB-7FB47E20555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9" name="Header Placeholder 8">
            <a:extLst>
              <a:ext uri="{FF2B5EF4-FFF2-40B4-BE49-F238E27FC236}">
                <a16:creationId xmlns:a16="http://schemas.microsoft.com/office/drawing/2014/main" id="{01B314C8-1A87-E8E6-20C9-D77EFA68A649}"/>
              </a:ext>
            </a:extLst>
          </p:cNvPr>
          <p:cNvSpPr>
            <a:spLocks noGrp="1"/>
          </p:cNvSpPr>
          <p:nvPr>
            <p:ph type="hdr" sz="quarter" idx="14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556402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43630A-BF85-A4D2-40EF-81CC500024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D7C7B24-30D0-CB46-EDBD-938AABDEAC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6B26892-3859-B5C1-24C4-80F788D6A6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>
            <a:normAutofit lnSpcReduction="10000"/>
          </a:bodyPr>
          <a:lstStyle/>
          <a:p>
            <a:pPr algn="l"/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How </a:t>
            </a:r>
            <a:r>
              <a:rPr lang="en-US" b="1" i="0" u="none" strike="noStrike" dirty="0" err="1">
                <a:solidFill>
                  <a:srgbClr val="000000"/>
                </a:solidFill>
                <a:effectLst/>
              </a:rPr>
              <a:t>Blazor</a:t>
            </a: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 Renders the UI Without a </a:t>
            </a:r>
            <a:r>
              <a:rPr lang="en-US" b="1" i="0" u="none" strike="noStrike" dirty="0" err="1">
                <a:solidFill>
                  <a:srgbClr val="000000"/>
                </a:solidFill>
                <a:effectLst/>
              </a:rPr>
              <a:t>SynchronizationContext</a:t>
            </a: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:</a:t>
            </a:r>
          </a:p>
          <a:p>
            <a:pPr algn="l"/>
            <a:r>
              <a:rPr lang="en-US" b="0" i="0" u="none" strike="noStrike" dirty="0" err="1">
                <a:solidFill>
                  <a:srgbClr val="000000"/>
                </a:solidFill>
                <a:effectLst/>
              </a:rPr>
              <a:t>Blazor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 is able to render a UI without relying on a traditional </a:t>
            </a:r>
            <a:r>
              <a:rPr lang="en-US" b="0" i="0" u="none" strike="noStrike" dirty="0" err="1">
                <a:solidFill>
                  <a:srgbClr val="000000"/>
                </a:solidFill>
                <a:effectLst/>
              </a:rPr>
              <a:t>SynchronizationContext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 because its rendering model is based on </a:t>
            </a: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component-based architecture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 and uses a </a:t>
            </a: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render loop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. Both </a:t>
            </a:r>
            <a:r>
              <a:rPr lang="en-US" b="0" i="0" u="none" strike="noStrike" dirty="0" err="1">
                <a:solidFill>
                  <a:srgbClr val="000000"/>
                </a:solidFill>
                <a:effectLst/>
              </a:rPr>
              <a:t>Blazor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 Server and </a:t>
            </a:r>
            <a:r>
              <a:rPr lang="en-US" b="0" i="0" u="none" strike="noStrike" dirty="0" err="1">
                <a:solidFill>
                  <a:srgbClr val="000000"/>
                </a:solidFill>
                <a:effectLst/>
              </a:rPr>
              <a:t>Blazor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en-US" b="0" i="0" u="none" strike="noStrike" dirty="0" err="1">
                <a:solidFill>
                  <a:srgbClr val="000000"/>
                </a:solidFill>
                <a:effectLst/>
              </a:rPr>
              <a:t>WebAssembly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 leverage this loop to efficiently update the UI in response to state changes, typically driven by </a:t>
            </a: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UI events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 (like clicks, form input, etc.) or </a:t>
            </a: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asynchronous tasks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 (like data fetching).</a:t>
            </a:r>
          </a:p>
          <a:p>
            <a:pPr algn="l"/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The </a:t>
            </a: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key components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 that allow </a:t>
            </a:r>
            <a:r>
              <a:rPr lang="en-US" b="0" i="0" u="none" strike="noStrike" dirty="0" err="1">
                <a:solidFill>
                  <a:srgbClr val="000000"/>
                </a:solidFill>
                <a:effectLst/>
              </a:rPr>
              <a:t>Blazor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 to render the UI without a </a:t>
            </a:r>
            <a:r>
              <a:rPr lang="en-US" b="0" i="0" u="none" strike="noStrike" dirty="0" err="1">
                <a:solidFill>
                  <a:srgbClr val="000000"/>
                </a:solidFill>
                <a:effectLst/>
              </a:rPr>
              <a:t>SynchronizationContext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 are:</a:t>
            </a:r>
          </a:p>
          <a:p>
            <a:pPr algn="l">
              <a:buFont typeface="+mj-lt"/>
              <a:buAutoNum type="arabicPeriod"/>
            </a:pP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UI Rendering Model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: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b="0" i="0" u="none" strike="noStrike" dirty="0" err="1">
                <a:solidFill>
                  <a:srgbClr val="000000"/>
                </a:solidFill>
                <a:effectLst/>
              </a:rPr>
              <a:t>Blazor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 uses a </a:t>
            </a: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component-based model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 where each UI component (@code blocks) is rendered independently, and the UI state is updated in response to events. Whenever a component's state changes (through user interactions, data updates, or other events), </a:t>
            </a:r>
            <a:r>
              <a:rPr lang="en-US" b="0" i="0" u="none" strike="noStrike" dirty="0" err="1">
                <a:solidFill>
                  <a:srgbClr val="000000"/>
                </a:solidFill>
                <a:effectLst/>
              </a:rPr>
              <a:t>Blazor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 triggers a re-render of that component.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b="1" i="0" u="none" strike="noStrike" dirty="0" err="1">
                <a:solidFill>
                  <a:srgbClr val="000000"/>
                </a:solidFill>
                <a:effectLst/>
              </a:rPr>
              <a:t>Blazor</a:t>
            </a: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en-US" b="1" i="0" u="none" strike="noStrike" dirty="0" err="1">
                <a:solidFill>
                  <a:srgbClr val="000000"/>
                </a:solidFill>
                <a:effectLst/>
              </a:rPr>
              <a:t>WebAssembly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: In </a:t>
            </a:r>
            <a:r>
              <a:rPr lang="en-US" b="0" i="0" u="none" strike="noStrike" dirty="0" err="1">
                <a:solidFill>
                  <a:srgbClr val="000000"/>
                </a:solidFill>
                <a:effectLst/>
              </a:rPr>
              <a:t>Blazor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en-US" b="0" i="0" u="none" strike="noStrike" dirty="0" err="1">
                <a:solidFill>
                  <a:srgbClr val="000000"/>
                </a:solidFill>
                <a:effectLst/>
              </a:rPr>
              <a:t>WebAssembly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, the rendering happens directly in the browser on the </a:t>
            </a: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UI thread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, and asynchronous operations (such as fetching data) are handled in the background without needing thread marshaling. This is because </a:t>
            </a:r>
            <a:r>
              <a:rPr lang="en-US" b="0" i="0" u="none" strike="noStrike" dirty="0" err="1">
                <a:solidFill>
                  <a:srgbClr val="000000"/>
                </a:solidFill>
                <a:effectLst/>
              </a:rPr>
              <a:t>Blazor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en-US" b="0" i="0" u="none" strike="noStrike" dirty="0" err="1">
                <a:solidFill>
                  <a:srgbClr val="000000"/>
                </a:solidFill>
                <a:effectLst/>
              </a:rPr>
              <a:t>WebAssembly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 uses </a:t>
            </a: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JavaScript interop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 and can update the UI using the browser's event loop, not needing a </a:t>
            </a:r>
            <a:r>
              <a:rPr lang="en-US" b="0" i="0" u="none" strike="noStrike" dirty="0" err="1">
                <a:solidFill>
                  <a:srgbClr val="000000"/>
                </a:solidFill>
                <a:effectLst/>
              </a:rPr>
              <a:t>SynchronizationContext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 to marshal operations onto the UI thread.</a:t>
            </a:r>
          </a:p>
          <a:p>
            <a:pPr algn="l">
              <a:buFont typeface="+mj-lt"/>
              <a:buAutoNum type="arabicPeriod"/>
            </a:pP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Render Queue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: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b="0" i="0" u="none" strike="noStrike" dirty="0" err="1">
                <a:solidFill>
                  <a:srgbClr val="000000"/>
                </a:solidFill>
                <a:effectLst/>
              </a:rPr>
              <a:t>Blazor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 uses a </a:t>
            </a: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render queue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 to manage the updates to the UI. Instead of marshaling the continuation of asynchronous operations back to a UI thread, </a:t>
            </a:r>
            <a:r>
              <a:rPr lang="en-US" b="0" i="0" u="none" strike="noStrike" dirty="0" err="1">
                <a:solidFill>
                  <a:srgbClr val="000000"/>
                </a:solidFill>
                <a:effectLst/>
              </a:rPr>
              <a:t>Blazor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 schedules UI updates in this queue and then applies them as part of its rendering cycle. When an event occurs (like a user clicking a button or completing an async operation), </a:t>
            </a:r>
            <a:r>
              <a:rPr lang="en-US" b="0" i="0" u="none" strike="noStrike" dirty="0" err="1">
                <a:solidFill>
                  <a:srgbClr val="000000"/>
                </a:solidFill>
                <a:effectLst/>
              </a:rPr>
              <a:t>Blazor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 marks the component for a re-render, and the UI is updated when the render queue is processed.</a:t>
            </a:r>
          </a:p>
          <a:p>
            <a:pPr algn="l">
              <a:buFont typeface="+mj-lt"/>
              <a:buAutoNum type="arabicPeriod"/>
            </a:pP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UI Updates and Asynchronous Operations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: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In both </a:t>
            </a:r>
            <a:r>
              <a:rPr lang="en-US" b="1" i="0" u="none" strike="noStrike" dirty="0" err="1">
                <a:solidFill>
                  <a:srgbClr val="000000"/>
                </a:solidFill>
                <a:effectLst/>
              </a:rPr>
              <a:t>Blazor</a:t>
            </a: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 Server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 and </a:t>
            </a:r>
            <a:r>
              <a:rPr lang="en-US" b="1" i="0" u="none" strike="noStrike" dirty="0" err="1">
                <a:solidFill>
                  <a:srgbClr val="000000"/>
                </a:solidFill>
                <a:effectLst/>
              </a:rPr>
              <a:t>Blazor</a:t>
            </a: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en-US" b="1" i="0" u="none" strike="noStrike" dirty="0" err="1">
                <a:solidFill>
                  <a:srgbClr val="000000"/>
                </a:solidFill>
                <a:effectLst/>
              </a:rPr>
              <a:t>WebAssembly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, </a:t>
            </a: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asynchronous code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 (e.g., awaiting HTTP requests, timers, etc.) doesn't need a </a:t>
            </a:r>
            <a:r>
              <a:rPr lang="en-US" b="0" i="0" u="none" strike="noStrike" dirty="0" err="1">
                <a:solidFill>
                  <a:srgbClr val="000000"/>
                </a:solidFill>
                <a:effectLst/>
              </a:rPr>
              <a:t>SynchronizationContext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 to update the UI. Instead, the framework is responsible for queuing the UI changes, and when the asynchronous operation completes, it triggers a re-render.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In </a:t>
            </a:r>
            <a:r>
              <a:rPr lang="en-US" b="1" i="0" u="none" strike="noStrike" dirty="0" err="1">
                <a:solidFill>
                  <a:srgbClr val="000000"/>
                </a:solidFill>
                <a:effectLst/>
              </a:rPr>
              <a:t>Blazor</a:t>
            </a: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 Server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 (where the application runs on the server and the UI is rendered on the client), UI updates happen as a result of a </a:t>
            </a:r>
            <a:r>
              <a:rPr lang="en-US" b="1" i="0" u="none" strike="noStrike" dirty="0" err="1">
                <a:solidFill>
                  <a:srgbClr val="000000"/>
                </a:solidFill>
                <a:effectLst/>
              </a:rPr>
              <a:t>SignalR</a:t>
            </a: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 connection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. The </a:t>
            </a:r>
            <a:r>
              <a:rPr lang="en-US" b="0" i="0" u="none" strike="noStrike" dirty="0" err="1">
                <a:solidFill>
                  <a:srgbClr val="000000"/>
                </a:solidFill>
                <a:effectLst/>
              </a:rPr>
              <a:t>SignalR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 connection enables the server to push updates to the client. When an event occurs on the client (like a button click), it is sent to the server, where the component is re-rendered on the server side, and the updated UI is sent back to the client via </a:t>
            </a:r>
            <a:r>
              <a:rPr lang="en-US" b="0" i="0" u="none" strike="noStrike" dirty="0" err="1">
                <a:solidFill>
                  <a:srgbClr val="000000"/>
                </a:solidFill>
                <a:effectLst/>
              </a:rPr>
              <a:t>SignalR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. This happens asynchronously, but the framework manages the UI updates.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45E2D5-A99D-59CC-F6B7-D0A76005BF81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fld id="{685711C6-D783-4789-8082-9D34F2C4221D}" type="datetime8">
              <a:rPr lang="en-US" smtClean="0"/>
              <a:t>1/23/26 2:11 PM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9BD5E7-2ED8-2224-B643-6FC25DBE26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72199" y="8685213"/>
            <a:ext cx="684213" cy="457200"/>
          </a:xfrm>
          <a:prstGeom prst="rect">
            <a:avLst/>
          </a:prstGeom>
        </p:spPr>
        <p:txBody>
          <a:bodyPr/>
          <a:lstStyle/>
          <a:p>
            <a:fld id="{8B263312-38AA-4E1E-B2B5-0F8F122B24FE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4BCDA8-0F87-5F53-F508-5B92F21BFF05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9" name="Header Placeholder 8">
            <a:extLst>
              <a:ext uri="{FF2B5EF4-FFF2-40B4-BE49-F238E27FC236}">
                <a16:creationId xmlns:a16="http://schemas.microsoft.com/office/drawing/2014/main" id="{76BBC8F9-AA37-B30B-69F0-9A94F2A42743}"/>
              </a:ext>
            </a:extLst>
          </p:cNvPr>
          <p:cNvSpPr>
            <a:spLocks noGrp="1"/>
          </p:cNvSpPr>
          <p:nvPr>
            <p:ph type="hdr" sz="quarter" idx="14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20152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gif"/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Non-bullet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38" y="1212850"/>
            <a:ext cx="11888787" cy="2308324"/>
          </a:xfrm>
        </p:spPr>
        <p:txBody>
          <a:bodyPr>
            <a:spAutoFit/>
          </a:bodyPr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175702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274702" y="1211287"/>
            <a:ext cx="11888787" cy="5484813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123215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Non-bullet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39" y="1211287"/>
            <a:ext cx="5486399" cy="2157514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anose="05000000000000000000" pitchFamily="2" charset="2"/>
              <a:buNone/>
              <a:defRPr sz="3000" b="0">
                <a:latin typeface="+mn-lt"/>
              </a:defRPr>
            </a:lvl1pPr>
            <a:lvl2pPr marL="255588" indent="0">
              <a:buFont typeface="Wingdings" panose="05000000000000000000" pitchFamily="2" charset="2"/>
              <a:buNone/>
              <a:defRPr sz="2400" b="0"/>
            </a:lvl2pPr>
            <a:lvl3pPr marL="450850" indent="0">
              <a:buFont typeface="Wingdings" panose="05000000000000000000" pitchFamily="2" charset="2"/>
              <a:buNone/>
              <a:tabLst/>
              <a:defRPr sz="2200" b="0"/>
            </a:lvl3pPr>
            <a:lvl4pPr marL="652462" indent="0">
              <a:buFont typeface="Wingdings" panose="05000000000000000000" pitchFamily="2" charset="2"/>
              <a:buNone/>
              <a:defRPr sz="2200" b="0"/>
            </a:lvl4pPr>
            <a:lvl5pPr marL="854075" indent="0">
              <a:buFont typeface="Wingdings" panose="05000000000000000000" pitchFamily="2" charset="2"/>
              <a:buNone/>
              <a:tabLst/>
              <a:defRPr sz="2200" b="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6675439" y="1211287"/>
            <a:ext cx="5486399" cy="2123658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Arial" panose="020B0604020202020204" pitchFamily="34" charset="0"/>
              <a:buNone/>
              <a:defRPr lang="en-US" sz="3000" b="0" kern="1200" spc="0" baseline="0" dirty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1pPr>
            <a:lvl2pPr marL="255588" indent="0">
              <a:buFont typeface="Arial" panose="020B0604020202020204" pitchFamily="34" charset="0"/>
              <a:buNone/>
              <a:defRPr lang="en-US" sz="2400" b="0" kern="1200" spc="0" baseline="0" dirty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2pPr>
            <a:lvl3pPr marL="450850" indent="0">
              <a:buFont typeface="Arial" panose="020B0604020202020204" pitchFamily="34" charset="0"/>
              <a:buNone/>
              <a:tabLst/>
              <a:defRPr lang="en-US" sz="2200" b="0" kern="1200" spc="0" baseline="0" dirty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3pPr>
            <a:lvl4pPr marL="652462" indent="0">
              <a:buFont typeface="Arial" panose="020B0604020202020204" pitchFamily="34" charset="0"/>
              <a:buNone/>
              <a:defRPr lang="en-US" sz="2200" b="0" kern="1200" spc="0" baseline="0" dirty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4pPr>
            <a:lvl5pPr marL="854075" indent="0">
              <a:buFont typeface="Arial" panose="020B0604020202020204" pitchFamily="34" charset="0"/>
              <a:buNone/>
              <a:tabLst/>
              <a:defRPr lang="en-US" sz="2200" b="0" kern="1200" spc="0" baseline="0" dirty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5pPr>
          </a:lstStyle>
          <a:p>
            <a:pPr marL="514350" marR="0" lvl="0" indent="-514350" algn="l" defTabSz="932742" rtl="0" eaLnBrk="1" fontAlgn="auto" latinLnBrk="0" hangingPunct="1">
              <a:lnSpc>
                <a:spcPct val="90000"/>
              </a:lnSpc>
              <a:spcBef>
                <a:spcPts val="1224"/>
              </a:spcBef>
              <a:spcAft>
                <a:spcPts val="0"/>
              </a:spcAft>
              <a:buClr>
                <a:schemeClr val="tx1"/>
              </a:buClr>
              <a:buSzPct val="90000"/>
              <a:tabLst/>
            </a:pPr>
            <a:r>
              <a:rPr lang="en-US"/>
              <a:t>Edit Master text styles</a:t>
            </a:r>
          </a:p>
          <a:p>
            <a:pPr marL="514350" marR="0" lvl="1" indent="-514350" algn="l" defTabSz="932742" rtl="0" eaLnBrk="1" fontAlgn="auto" latinLnBrk="0" hangingPunct="1">
              <a:lnSpc>
                <a:spcPct val="90000"/>
              </a:lnSpc>
              <a:spcBef>
                <a:spcPts val="1224"/>
              </a:spcBef>
              <a:spcAft>
                <a:spcPts val="0"/>
              </a:spcAft>
              <a:buClr>
                <a:schemeClr val="tx1"/>
              </a:buClr>
              <a:buSzPct val="90000"/>
              <a:tabLst/>
            </a:pPr>
            <a:r>
              <a:rPr lang="en-US"/>
              <a:t>Second level</a:t>
            </a:r>
          </a:p>
          <a:p>
            <a:pPr marL="514350" marR="0" lvl="2" indent="-514350" algn="l" defTabSz="932742" rtl="0" eaLnBrk="1" fontAlgn="auto" latinLnBrk="0" hangingPunct="1">
              <a:lnSpc>
                <a:spcPct val="90000"/>
              </a:lnSpc>
              <a:spcBef>
                <a:spcPts val="1224"/>
              </a:spcBef>
              <a:spcAft>
                <a:spcPts val="0"/>
              </a:spcAft>
              <a:buClr>
                <a:schemeClr val="tx1"/>
              </a:buClr>
              <a:buSzPct val="90000"/>
              <a:tabLst/>
            </a:pPr>
            <a:r>
              <a:rPr lang="en-US"/>
              <a:t>Third level</a:t>
            </a:r>
          </a:p>
          <a:p>
            <a:pPr marL="514350" marR="0" lvl="3" indent="-514350" algn="l" defTabSz="932742" rtl="0" eaLnBrk="1" fontAlgn="auto" latinLnBrk="0" hangingPunct="1">
              <a:lnSpc>
                <a:spcPct val="90000"/>
              </a:lnSpc>
              <a:spcBef>
                <a:spcPts val="1224"/>
              </a:spcBef>
              <a:spcAft>
                <a:spcPts val="0"/>
              </a:spcAft>
              <a:buClr>
                <a:schemeClr val="tx1"/>
              </a:buClr>
              <a:buSzPct val="90000"/>
              <a:tabLst/>
            </a:pPr>
            <a:r>
              <a:rPr lang="en-US"/>
              <a:t>Fourth level</a:t>
            </a:r>
          </a:p>
          <a:p>
            <a:pPr marL="514350" marR="0" lvl="4" indent="-514350" algn="l" defTabSz="932742" rtl="0" eaLnBrk="1" fontAlgn="auto" latinLnBrk="0" hangingPunct="1">
              <a:lnSpc>
                <a:spcPct val="90000"/>
              </a:lnSpc>
              <a:spcBef>
                <a:spcPts val="1224"/>
              </a:spcBef>
              <a:spcAft>
                <a:spcPts val="0"/>
              </a:spcAft>
              <a:buClr>
                <a:schemeClr val="tx1"/>
              </a:buClr>
              <a:buSzPct val="90000"/>
              <a:tabLst/>
            </a:pPr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545306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Bulle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39" y="1211287"/>
            <a:ext cx="5486399" cy="2157514"/>
          </a:xfrm>
        </p:spPr>
        <p:txBody>
          <a:bodyPr wrap="square">
            <a:spAutoFit/>
          </a:bodyPr>
          <a:lstStyle>
            <a:lvl1pPr marL="231775" indent="-231775">
              <a:spcBef>
                <a:spcPts val="1224"/>
              </a:spcBef>
              <a:buClr>
                <a:schemeClr val="tx1"/>
              </a:buClr>
              <a:buFont typeface="Wingdings" panose="05000000000000000000" pitchFamily="2" charset="2"/>
              <a:buChar char=""/>
              <a:defRPr sz="3000" b="0">
                <a:latin typeface="+mn-lt"/>
              </a:defRPr>
            </a:lvl1pPr>
            <a:lvl2pPr marL="427038" indent="-171450">
              <a:buFont typeface="Wingdings" panose="05000000000000000000" pitchFamily="2" charset="2"/>
              <a:buChar char=""/>
              <a:defRPr sz="2400" b="0"/>
            </a:lvl2pPr>
            <a:lvl3pPr marL="639763" indent="-188913">
              <a:buFont typeface="Wingdings" panose="05000000000000000000" pitchFamily="2" charset="2"/>
              <a:buChar char=""/>
              <a:tabLst/>
              <a:defRPr sz="2200" b="0"/>
            </a:lvl3pPr>
            <a:lvl4pPr marL="828675" indent="-176213">
              <a:buFont typeface="Wingdings" panose="05000000000000000000" pitchFamily="2" charset="2"/>
              <a:buChar char=""/>
              <a:defRPr sz="2200" b="0"/>
            </a:lvl4pPr>
            <a:lvl5pPr marL="1023938" indent="-169863">
              <a:buFont typeface="Wingdings" panose="05000000000000000000" pitchFamily="2" charset="2"/>
              <a:buChar char=""/>
              <a:tabLst/>
              <a:defRPr sz="2200" b="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6675439" y="1211287"/>
            <a:ext cx="5486399" cy="2123658"/>
          </a:xfrm>
        </p:spPr>
        <p:txBody>
          <a:bodyPr wrap="square">
            <a:spAutoFit/>
          </a:bodyPr>
          <a:lstStyle>
            <a:lvl1pPr marL="287338" indent="-287338">
              <a:spcBef>
                <a:spcPts val="1224"/>
              </a:spcBef>
              <a:buClr>
                <a:schemeClr val="tx1"/>
              </a:buClr>
              <a:buFont typeface="Arial" pitchFamily="34" charset="0"/>
              <a:buChar char="•"/>
              <a:defRPr lang="en-US" sz="3000" b="0" kern="1200" spc="0" baseline="0" dirty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1pPr>
            <a:lvl2pPr marL="598488" indent="-342900">
              <a:defRPr lang="en-US" sz="2400" b="0" kern="1200" spc="0" baseline="0" dirty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2pPr>
            <a:lvl3pPr marL="793750" indent="-342900">
              <a:tabLst/>
              <a:defRPr lang="en-US" sz="2200" b="0" kern="1200" spc="0" baseline="0" dirty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3pPr>
            <a:lvl4pPr marL="995362" indent="-342900">
              <a:defRPr lang="en-US" sz="2200" b="0" kern="1200" spc="0" baseline="0" dirty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4pPr>
            <a:lvl5pPr marL="1196975" indent="-342900">
              <a:tabLst/>
              <a:defRPr lang="en-US" sz="2200" b="0" kern="1200" spc="0" baseline="0" dirty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5pPr>
          </a:lstStyle>
          <a:p>
            <a:pPr marL="231775" marR="0" lvl="0" indent="-231775" algn="l" defTabSz="932742" rtl="0" eaLnBrk="1" fontAlgn="auto" latinLnBrk="0" hangingPunct="1">
              <a:lnSpc>
                <a:spcPct val="90000"/>
              </a:lnSpc>
              <a:spcBef>
                <a:spcPts val="1224"/>
              </a:spcBef>
              <a:spcAft>
                <a:spcPts val="0"/>
              </a:spcAft>
              <a:buClr>
                <a:schemeClr val="tx1"/>
              </a:buClr>
              <a:buSzPct val="90000"/>
              <a:buFont typeface="Wingdings" panose="05000000000000000000" pitchFamily="2" charset="2"/>
              <a:buChar char=""/>
              <a:tabLst/>
            </a:pPr>
            <a:r>
              <a:rPr lang="en-US"/>
              <a:t>Edit Master text styles</a:t>
            </a:r>
          </a:p>
          <a:p>
            <a:pPr marL="231775" marR="0" lvl="1" indent="-231775" algn="l" defTabSz="932742" rtl="0" eaLnBrk="1" fontAlgn="auto" latinLnBrk="0" hangingPunct="1">
              <a:lnSpc>
                <a:spcPct val="90000"/>
              </a:lnSpc>
              <a:spcBef>
                <a:spcPts val="1224"/>
              </a:spcBef>
              <a:spcAft>
                <a:spcPts val="0"/>
              </a:spcAft>
              <a:buClr>
                <a:schemeClr val="tx1"/>
              </a:buClr>
              <a:buSzPct val="90000"/>
              <a:buFont typeface="Wingdings" panose="05000000000000000000" pitchFamily="2" charset="2"/>
              <a:buChar char=""/>
              <a:tabLst/>
            </a:pPr>
            <a:r>
              <a:rPr lang="en-US"/>
              <a:t>Second level</a:t>
            </a:r>
          </a:p>
          <a:p>
            <a:pPr marL="231775" marR="0" lvl="2" indent="-231775" algn="l" defTabSz="932742" rtl="0" eaLnBrk="1" fontAlgn="auto" latinLnBrk="0" hangingPunct="1">
              <a:lnSpc>
                <a:spcPct val="90000"/>
              </a:lnSpc>
              <a:spcBef>
                <a:spcPts val="1224"/>
              </a:spcBef>
              <a:spcAft>
                <a:spcPts val="0"/>
              </a:spcAft>
              <a:buClr>
                <a:schemeClr val="tx1"/>
              </a:buClr>
              <a:buSzPct val="90000"/>
              <a:buFont typeface="Wingdings" panose="05000000000000000000" pitchFamily="2" charset="2"/>
              <a:buChar char=""/>
              <a:tabLst/>
            </a:pPr>
            <a:r>
              <a:rPr lang="en-US"/>
              <a:t>Third level</a:t>
            </a:r>
          </a:p>
          <a:p>
            <a:pPr marL="231775" marR="0" lvl="3" indent="-231775" algn="l" defTabSz="932742" rtl="0" eaLnBrk="1" fontAlgn="auto" latinLnBrk="0" hangingPunct="1">
              <a:lnSpc>
                <a:spcPct val="90000"/>
              </a:lnSpc>
              <a:spcBef>
                <a:spcPts val="1224"/>
              </a:spcBef>
              <a:spcAft>
                <a:spcPts val="0"/>
              </a:spcAft>
              <a:buClr>
                <a:schemeClr val="tx1"/>
              </a:buClr>
              <a:buSzPct val="90000"/>
              <a:buFont typeface="Wingdings" panose="05000000000000000000" pitchFamily="2" charset="2"/>
              <a:buChar char=""/>
              <a:tabLst/>
            </a:pPr>
            <a:r>
              <a:rPr lang="en-US"/>
              <a:t>Fourth level</a:t>
            </a:r>
          </a:p>
          <a:p>
            <a:pPr marL="231775" marR="0" lvl="4" indent="-231775" algn="l" defTabSz="932742" rtl="0" eaLnBrk="1" fontAlgn="auto" latinLnBrk="0" hangingPunct="1">
              <a:lnSpc>
                <a:spcPct val="90000"/>
              </a:lnSpc>
              <a:spcBef>
                <a:spcPts val="1224"/>
              </a:spcBef>
              <a:spcAft>
                <a:spcPts val="0"/>
              </a:spcAft>
              <a:buClr>
                <a:schemeClr val="tx1"/>
              </a:buClr>
              <a:buSzPct val="90000"/>
              <a:buFont typeface="Wingdings" panose="05000000000000000000" pitchFamily="2" charset="2"/>
              <a:buChar char=""/>
              <a:tabLst/>
            </a:pPr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796501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6810277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Grey">
    <p:bg>
      <p:bgPr>
        <a:solidFill>
          <a:srgbClr val="3535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564200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logo slide">
    <p:bg>
      <p:bgPr>
        <a:solidFill>
          <a:srgbClr val="3535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3"/>
          <p:cNvSpPr txBox="1">
            <a:spLocks noChangeArrowheads="1"/>
          </p:cNvSpPr>
          <p:nvPr userDrawn="1"/>
        </p:nvSpPr>
        <p:spPr bwMode="blackWhite">
          <a:xfrm>
            <a:off x="274639" y="6220609"/>
            <a:ext cx="4572000" cy="477054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182880" tIns="182880" rIns="182880" bIns="182880" numCol="1" anchor="t" anchorCtr="0" compatLnSpc="1">
            <a:prstTxWarp prst="textNoShape">
              <a:avLst/>
            </a:prstTxWarp>
            <a:spAutoFit/>
          </a:bodyPr>
          <a:lstStyle/>
          <a:p>
            <a:pPr defTabSz="932290" eaLnBrk="0" hangingPunct="0"/>
            <a:r>
              <a:rPr lang="en-US" sz="70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cs typeface="Segoe UI" pitchFamily="34" charset="0"/>
              </a:rPr>
              <a:t>© Copyright Microsoft Corporation. All rights reserved. </a:t>
            </a:r>
          </a:p>
        </p:txBody>
      </p:sp>
      <p:pic>
        <p:nvPicPr>
          <p:cNvPr id="8" name="MS logo white - EMF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black">
          <a:xfrm>
            <a:off x="460688" y="479425"/>
            <a:ext cx="1451843" cy="31089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29F142D-7D6F-4396-9B8F-E9BD7B6EB27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333037" y="4868862"/>
            <a:ext cx="1563927" cy="1668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761204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ck Notes slide Layout">
    <p:bg bwMode="black"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0" hasCustomPrompt="1"/>
          </p:nvPr>
        </p:nvSpPr>
        <p:spPr bwMode="white">
          <a:xfrm>
            <a:off x="274638" y="1212850"/>
            <a:ext cx="11887200" cy="2443746"/>
          </a:xfrm>
          <a:prstGeom prst="rect">
            <a:avLst/>
          </a:prstGeom>
        </p:spPr>
        <p:txBody>
          <a:bodyPr/>
          <a:lstStyle>
            <a:lvl1pPr marL="290513" indent="-290513">
              <a:buClr>
                <a:schemeClr val="tx1"/>
              </a:buClr>
              <a:buSzPct val="90000"/>
              <a:buFont typeface="Arial" pitchFamily="34" charset="0"/>
              <a:buChar char="•"/>
              <a:defRPr sz="360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  <a:lvl2pPr marL="571500" indent="-280988">
              <a:buClr>
                <a:schemeClr val="tx1"/>
              </a:buClr>
              <a:buSzPct val="90000"/>
              <a:buFont typeface="Arial" pitchFamily="34" charset="0"/>
              <a:buChar char="•"/>
              <a:defRPr sz="320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2pPr>
            <a:lvl3pPr marL="862013" indent="-290513">
              <a:buClr>
                <a:schemeClr val="tx1"/>
              </a:buClr>
              <a:buSzPct val="90000"/>
              <a:buFont typeface="Arial" pitchFamily="34" charset="0"/>
              <a:buChar char="•"/>
              <a:defRPr sz="280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3pPr>
            <a:lvl4pPr marL="1090613" indent="-228600">
              <a:buClr>
                <a:schemeClr val="tx1"/>
              </a:buClr>
              <a:buSzPct val="90000"/>
              <a:buFont typeface="Arial" pitchFamily="34" charset="0"/>
              <a:buChar char="•"/>
              <a:defRPr sz="240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4pPr>
            <a:lvl5pPr marL="1319213" indent="-228600">
              <a:buClr>
                <a:schemeClr val="tx1"/>
              </a:buClr>
              <a:buSzPct val="90000"/>
              <a:buFont typeface="Arial" pitchFamily="34" charset="0"/>
              <a:buChar char="•"/>
              <a:defRPr sz="200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5pPr>
          </a:lstStyle>
          <a:p>
            <a:pPr lvl="0"/>
            <a:r>
              <a:rPr lang="en-US"/>
              <a:t>Use this Layout for Speaker Notes slides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1" y="6363076"/>
            <a:ext cx="12436476" cy="631450"/>
          </a:xfrm>
          <a:prstGeom prst="rect">
            <a:avLst/>
          </a:prstGeom>
          <a:solidFill>
            <a:srgbClr val="FFFF99"/>
          </a:solidFill>
        </p:spPr>
        <p:txBody>
          <a:bodyPr wrap="square" lIns="155457" tIns="77729" rIns="155457" bIns="77729" anchor="b" anchorCtr="0">
            <a:noAutofit/>
          </a:bodyPr>
          <a:lstStyle>
            <a:lvl1pPr algn="r">
              <a:buFont typeface="Arial" pitchFamily="34" charset="0"/>
              <a:buNone/>
              <a:defRPr sz="3700" spc="-51" baseline="0">
                <a:gradFill>
                  <a:gsLst>
                    <a:gs pos="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effectLst/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lvl="0"/>
            <a:r>
              <a:rPr lang="en-US"/>
              <a:t>Next: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 bwMode="white"/>
        <p:txBody>
          <a:bodyPr/>
          <a:lstStyle>
            <a:lvl1pPr>
              <a:defRPr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772468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274702" y="2125678"/>
            <a:ext cx="9143936" cy="1828786"/>
          </a:xfrm>
          <a:noFill/>
        </p:spPr>
        <p:txBody>
          <a:bodyPr lIns="146304" tIns="91440" rIns="146304" bIns="91440" anchor="t" anchorCtr="0"/>
          <a:lstStyle>
            <a:lvl1pPr>
              <a:defRPr sz="5400" spc="-100" baseline="0">
                <a:gradFill>
                  <a:gsLst>
                    <a:gs pos="62564">
                      <a:schemeClr val="tx1"/>
                    </a:gs>
                    <a:gs pos="55000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274701" y="3955786"/>
            <a:ext cx="7315137" cy="1828007"/>
          </a:xfrm>
          <a:noFill/>
        </p:spPr>
        <p:txBody>
          <a:bodyPr lIns="164592" tIns="109728" rIns="164592" bIns="109728">
            <a:noAutofit/>
          </a:bodyPr>
          <a:lstStyle>
            <a:lvl1pPr marL="0" indent="0">
              <a:spcBef>
                <a:spcPts val="0"/>
              </a:spcBef>
              <a:buNone/>
              <a:defRPr sz="3200" spc="0" baseline="0">
                <a:gradFill>
                  <a:gsLst>
                    <a:gs pos="91000">
                      <a:schemeClr val="tx1"/>
                    </a:gs>
                    <a:gs pos="0">
                      <a:schemeClr val="tx1"/>
                    </a:gs>
                  </a:gsLst>
                  <a:lin ang="5400000" scaled="0"/>
                </a:gradFill>
                <a:latin typeface="+mn-lt"/>
              </a:defRPr>
            </a:lvl1pPr>
          </a:lstStyle>
          <a:p>
            <a:pPr lvl="0"/>
            <a:r>
              <a:rPr lang="en-US"/>
              <a:t>Speaker name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9A89495-1FC6-5543-BF13-A9944ECAD02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7197585" y="526835"/>
            <a:ext cx="5145490" cy="514549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3548048-DA26-A845-BFB0-20035B45482D}"/>
              </a:ext>
            </a:extLst>
          </p:cNvPr>
          <p:cNvSpPr txBox="1"/>
          <p:nvPr userDrawn="1"/>
        </p:nvSpPr>
        <p:spPr>
          <a:xfrm>
            <a:off x="11254154" y="6551525"/>
            <a:ext cx="369397" cy="627864"/>
          </a:xfrm>
          <a:prstGeom prst="rect">
            <a:avLst/>
          </a:prstGeom>
          <a:noFill/>
        </p:spPr>
        <p:txBody>
          <a:bodyPr wrap="none" lIns="182880" tIns="146304" rIns="182880" bIns="146304" rtlCol="0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endParaRPr lang="en-US" sz="2400" dirty="0" err="1">
              <a:gradFill>
                <a:gsLst>
                  <a:gs pos="2917">
                    <a:schemeClr val="tx1"/>
                  </a:gs>
                  <a:gs pos="30000">
                    <a:schemeClr val="tx1"/>
                  </a:gs>
                </a:gsLst>
                <a:lin ang="5400000" scaled="0"/>
              </a:gradFill>
            </a:endParaRPr>
          </a:p>
        </p:txBody>
      </p:sp>
    </p:spTree>
    <p:extLst>
      <p:ext uri="{BB962C8B-B14F-4D97-AF65-F5344CB8AC3E}">
        <p14:creationId xmlns:p14="http://schemas.microsoft.com/office/powerpoint/2010/main" val="409864791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veloper Co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US"/>
              <a:t>Slide for developer code</a:t>
            </a:r>
          </a:p>
        </p:txBody>
      </p:sp>
      <p:sp>
        <p:nvSpPr>
          <p:cNvPr id="3" name="Rectangle 2"/>
          <p:cNvSpPr/>
          <p:nvPr userDrawn="1"/>
        </p:nvSpPr>
        <p:spPr bwMode="hidden">
          <a:xfrm>
            <a:off x="1" y="1212849"/>
            <a:ext cx="12436475" cy="5781676"/>
          </a:xfrm>
          <a:prstGeom prst="rect">
            <a:avLst/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6639" tIns="46639" rIns="46639" bIns="4663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endParaRPr lang="en-US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274638" y="1221157"/>
            <a:ext cx="11887199" cy="2266774"/>
          </a:xfrm>
        </p:spPr>
        <p:txBody>
          <a:bodyPr/>
          <a:lstStyle>
            <a:lvl1pPr marL="0" indent="0">
              <a:buNone/>
              <a:defRPr sz="3300">
                <a:gradFill>
                  <a:gsLst>
                    <a:gs pos="8718">
                      <a:srgbClr val="353535"/>
                    </a:gs>
                    <a:gs pos="34000">
                      <a:srgbClr val="353535"/>
                    </a:gs>
                  </a:gsLst>
                  <a:lin ang="5400000" scaled="0"/>
                </a:gradFill>
                <a:latin typeface="Lucida Console" panose="020B0609040504020204" pitchFamily="49" charset="0"/>
                <a:cs typeface="Lucida Console" panose="020B0609040504020204" pitchFamily="49" charset="0"/>
              </a:defRPr>
            </a:lvl1pPr>
            <a:lvl2pPr marL="346553" indent="0">
              <a:buNone/>
              <a:defRPr>
                <a:gradFill>
                  <a:gsLst>
                    <a:gs pos="8718">
                      <a:srgbClr val="353535"/>
                    </a:gs>
                    <a:gs pos="34000">
                      <a:srgbClr val="353535"/>
                    </a:gs>
                  </a:gsLst>
                  <a:lin ang="5400000" scaled="0"/>
                </a:gradFill>
                <a:latin typeface="Lucida Console" panose="020B0609040504020204" pitchFamily="49" charset="0"/>
                <a:cs typeface="Lucida Console" panose="020B0609040504020204" pitchFamily="49" charset="0"/>
              </a:defRPr>
            </a:lvl2pPr>
            <a:lvl3pPr marL="584607" indent="0">
              <a:buNone/>
              <a:defRPr>
                <a:gradFill>
                  <a:gsLst>
                    <a:gs pos="8718">
                      <a:srgbClr val="353535"/>
                    </a:gs>
                    <a:gs pos="34000">
                      <a:srgbClr val="353535"/>
                    </a:gs>
                  </a:gsLst>
                  <a:lin ang="5400000" scaled="0"/>
                </a:gradFill>
                <a:latin typeface="Lucida Console" panose="020B0609040504020204" pitchFamily="49" charset="0"/>
                <a:cs typeface="Lucida Console" panose="020B0609040504020204" pitchFamily="49" charset="0"/>
              </a:defRPr>
            </a:lvl3pPr>
            <a:lvl4pPr marL="814563" indent="0">
              <a:buNone/>
              <a:defRPr>
                <a:gradFill>
                  <a:gsLst>
                    <a:gs pos="8718">
                      <a:srgbClr val="353535"/>
                    </a:gs>
                    <a:gs pos="34000">
                      <a:srgbClr val="353535"/>
                    </a:gs>
                  </a:gsLst>
                  <a:lin ang="5400000" scaled="0"/>
                </a:gradFill>
                <a:latin typeface="Lucida Console" panose="020B0609040504020204" pitchFamily="49" charset="0"/>
                <a:cs typeface="Lucida Console" panose="020B0609040504020204" pitchFamily="49" charset="0"/>
              </a:defRPr>
            </a:lvl4pPr>
            <a:lvl5pPr marL="1050997" indent="0">
              <a:buNone/>
              <a:defRPr>
                <a:gradFill>
                  <a:gsLst>
                    <a:gs pos="8718">
                      <a:srgbClr val="353535"/>
                    </a:gs>
                    <a:gs pos="34000">
                      <a:srgbClr val="353535"/>
                    </a:gs>
                  </a:gsLst>
                  <a:lin ang="5400000" scaled="0"/>
                </a:gradFill>
                <a:latin typeface="Lucida Console" panose="020B0609040504020204" pitchFamily="49" charset="0"/>
                <a:cs typeface="Lucida Console" panose="020B0609040504020204" pitchFamily="49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451885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B929EB9-65AF-40A9-8894-B16CCACA98C9}"/>
              </a:ext>
            </a:extLst>
          </p:cNvPr>
          <p:cNvSpPr/>
          <p:nvPr userDrawn="1"/>
        </p:nvSpPr>
        <p:spPr bwMode="auto">
          <a:xfrm>
            <a:off x="6218237" y="-1"/>
            <a:ext cx="6218238" cy="6994525"/>
          </a:xfrm>
          <a:prstGeom prst="rect">
            <a:avLst/>
          </a:prstGeom>
          <a:solidFill>
            <a:schemeClr val="bg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638" y="2125662"/>
            <a:ext cx="5638799" cy="1181862"/>
          </a:xfrm>
          <a:noFill/>
        </p:spPr>
        <p:txBody>
          <a:bodyPr wrap="square" tIns="91440" bIns="91440" anchor="t" anchorCtr="0">
            <a:spAutoFit/>
          </a:bodyPr>
          <a:lstStyle>
            <a:lvl1pPr>
              <a:defRPr sz="7200" spc="-1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Section title</a:t>
            </a:r>
          </a:p>
        </p:txBody>
      </p:sp>
      <p:pic>
        <p:nvPicPr>
          <p:cNvPr id="3" name="Picture 4" descr="C Sharp (programming language) - Wikipedia">
            <a:extLst>
              <a:ext uri="{FF2B5EF4-FFF2-40B4-BE49-F238E27FC236}">
                <a16:creationId xmlns:a16="http://schemas.microsoft.com/office/drawing/2014/main" id="{E11DEF6F-6FA5-036A-3FE6-CE6F79A44B9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35045" y="1342291"/>
            <a:ext cx="4309941" cy="4309941"/>
          </a:xfrm>
          <a:prstGeom prst="rect">
            <a:avLst/>
          </a:prstGeom>
          <a:noFill/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0745424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2">
    <p:bg>
      <p:bgPr>
        <a:solidFill>
          <a:srgbClr val="B4009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638" y="2125662"/>
            <a:ext cx="5638799" cy="1181862"/>
          </a:xfrm>
          <a:noFill/>
        </p:spPr>
        <p:txBody>
          <a:bodyPr wrap="square" tIns="91440" bIns="91440" anchor="t" anchorCtr="0">
            <a:spAutoFit/>
          </a:bodyPr>
          <a:lstStyle>
            <a:lvl1pPr>
              <a:defRPr sz="7200" spc="-100" baseline="0">
                <a:gradFill>
                  <a:gsLst>
                    <a:gs pos="100000">
                      <a:schemeClr val="tx1"/>
                    </a:gs>
                    <a:gs pos="0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/>
              <a:t>Section title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B929EB9-65AF-40A9-8894-B16CCACA98C9}"/>
              </a:ext>
            </a:extLst>
          </p:cNvPr>
          <p:cNvSpPr/>
          <p:nvPr userDrawn="1"/>
        </p:nvSpPr>
        <p:spPr bwMode="auto">
          <a:xfrm>
            <a:off x="6218237" y="-1"/>
            <a:ext cx="6218238" cy="6994525"/>
          </a:xfrm>
          <a:prstGeom prst="rect">
            <a:avLst/>
          </a:prstGeom>
          <a:solidFill>
            <a:schemeClr val="tx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6" name="Picture 5" descr="A close up of a toy&#10;&#10;Description automatically generated">
            <a:extLst>
              <a:ext uri="{FF2B5EF4-FFF2-40B4-BE49-F238E27FC236}">
                <a16:creationId xmlns:a16="http://schemas.microsoft.com/office/drawing/2014/main" id="{514EA320-09C9-7146-B7EB-DCF119FD7AC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956612" y="1160413"/>
            <a:ext cx="4843369" cy="46736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609984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3">
    <p:bg>
      <p:bgPr>
        <a:solidFill>
          <a:srgbClr val="FFB9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B929EB9-65AF-40A9-8894-B16CCACA98C9}"/>
              </a:ext>
            </a:extLst>
          </p:cNvPr>
          <p:cNvSpPr/>
          <p:nvPr userDrawn="1"/>
        </p:nvSpPr>
        <p:spPr bwMode="auto">
          <a:xfrm>
            <a:off x="6218237" y="-1"/>
            <a:ext cx="6218238" cy="6994525"/>
          </a:xfrm>
          <a:prstGeom prst="rect">
            <a:avLst/>
          </a:prstGeom>
          <a:solidFill>
            <a:schemeClr val="bg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638" y="2125662"/>
            <a:ext cx="5638799" cy="1181862"/>
          </a:xfrm>
          <a:noFill/>
        </p:spPr>
        <p:txBody>
          <a:bodyPr wrap="square" tIns="91440" bIns="91440" anchor="t" anchorCtr="0">
            <a:spAutoFit/>
          </a:bodyPr>
          <a:lstStyle>
            <a:lvl1pPr>
              <a:defRPr sz="7200" spc="-100" baseline="0">
                <a:gradFill>
                  <a:gsLst>
                    <a:gs pos="100000">
                      <a:schemeClr val="bg1"/>
                    </a:gs>
                    <a:gs pos="0">
                      <a:schemeClr val="bg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/>
              <a:t>Section title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F3119E6-CBC9-3742-94F9-783A98F4AA7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350586" y="1344375"/>
            <a:ext cx="4201651" cy="4201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864671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4">
    <p:bg>
      <p:bgPr>
        <a:solidFill>
          <a:srgbClr val="0078D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B929EB9-65AF-40A9-8894-B16CCACA98C9}"/>
              </a:ext>
            </a:extLst>
          </p:cNvPr>
          <p:cNvSpPr/>
          <p:nvPr userDrawn="1"/>
        </p:nvSpPr>
        <p:spPr bwMode="auto">
          <a:xfrm>
            <a:off x="6218237" y="-1"/>
            <a:ext cx="6218238" cy="6994525"/>
          </a:xfrm>
          <a:prstGeom prst="rect">
            <a:avLst/>
          </a:prstGeom>
          <a:solidFill>
            <a:schemeClr val="bg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DB9BF09-E0E5-4D1B-96E2-CD70A32D5822}"/>
              </a:ext>
            </a:extLst>
          </p:cNvPr>
          <p:cNvSpPr/>
          <p:nvPr userDrawn="1"/>
        </p:nvSpPr>
        <p:spPr bwMode="auto">
          <a:xfrm>
            <a:off x="7387674" y="1410315"/>
            <a:ext cx="4128796" cy="4128796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C7D0CD3-D516-4C8E-A84D-78D7C741182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914920" y="1363662"/>
            <a:ext cx="5209624" cy="440046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638" y="2125662"/>
            <a:ext cx="5638799" cy="1181862"/>
          </a:xfrm>
          <a:noFill/>
        </p:spPr>
        <p:txBody>
          <a:bodyPr wrap="square" tIns="91440" bIns="91440" anchor="t" anchorCtr="0">
            <a:spAutoFit/>
          </a:bodyPr>
          <a:lstStyle>
            <a:lvl1pPr>
              <a:defRPr sz="7200" spc="-100" baseline="0">
                <a:gradFill>
                  <a:gsLst>
                    <a:gs pos="100000">
                      <a:schemeClr val="tx1"/>
                    </a:gs>
                    <a:gs pos="0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312599371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5">
    <p:bg>
      <p:bgPr>
        <a:solidFill>
          <a:srgbClr val="B4009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B929EB9-65AF-40A9-8894-B16CCACA98C9}"/>
              </a:ext>
            </a:extLst>
          </p:cNvPr>
          <p:cNvSpPr/>
          <p:nvPr userDrawn="1"/>
        </p:nvSpPr>
        <p:spPr bwMode="auto">
          <a:xfrm>
            <a:off x="6218237" y="-1"/>
            <a:ext cx="6218238" cy="6994525"/>
          </a:xfrm>
          <a:prstGeom prst="rect">
            <a:avLst/>
          </a:prstGeom>
          <a:solidFill>
            <a:schemeClr val="bg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5F2583F-A495-4B0D-AF8B-9510F70147B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226273" y="1220592"/>
            <a:ext cx="5315009" cy="44958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638" y="2125662"/>
            <a:ext cx="5638799" cy="1181862"/>
          </a:xfrm>
          <a:noFill/>
        </p:spPr>
        <p:txBody>
          <a:bodyPr wrap="square" tIns="91440" bIns="91440" anchor="t" anchorCtr="0">
            <a:spAutoFit/>
          </a:bodyPr>
          <a:lstStyle>
            <a:lvl1pPr>
              <a:defRPr sz="7200" spc="-100" baseline="0">
                <a:gradFill>
                  <a:gsLst>
                    <a:gs pos="100000">
                      <a:schemeClr val="tx1"/>
                    </a:gs>
                    <a:gs pos="0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335891163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6">
    <p:bg>
      <p:bgPr>
        <a:solidFill>
          <a:srgbClr val="FFB9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B929EB9-65AF-40A9-8894-B16CCACA98C9}"/>
              </a:ext>
            </a:extLst>
          </p:cNvPr>
          <p:cNvSpPr/>
          <p:nvPr userDrawn="1"/>
        </p:nvSpPr>
        <p:spPr bwMode="auto">
          <a:xfrm>
            <a:off x="6218237" y="-1"/>
            <a:ext cx="6218238" cy="6994525"/>
          </a:xfrm>
          <a:prstGeom prst="rect">
            <a:avLst/>
          </a:prstGeom>
          <a:solidFill>
            <a:schemeClr val="bg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638" y="2125662"/>
            <a:ext cx="5638799" cy="1181862"/>
          </a:xfrm>
          <a:noFill/>
        </p:spPr>
        <p:txBody>
          <a:bodyPr wrap="square" tIns="91440" bIns="91440" anchor="t" anchorCtr="0">
            <a:spAutoFit/>
          </a:bodyPr>
          <a:lstStyle>
            <a:lvl1pPr>
              <a:defRPr sz="7200" spc="-100" baseline="0">
                <a:gradFill>
                  <a:gsLst>
                    <a:gs pos="100000">
                      <a:schemeClr val="bg1"/>
                    </a:gs>
                    <a:gs pos="0">
                      <a:schemeClr val="bg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/>
              <a:t>Section title</a:t>
            </a:r>
          </a:p>
        </p:txBody>
      </p:sp>
      <p:pic>
        <p:nvPicPr>
          <p:cNvPr id="7" name="Picture 6" descr="A picture containing building, table, large, sitting&#10;&#10;Description automatically generated">
            <a:extLst>
              <a:ext uri="{FF2B5EF4-FFF2-40B4-BE49-F238E27FC236}">
                <a16:creationId xmlns:a16="http://schemas.microsoft.com/office/drawing/2014/main" id="{8BD888CC-2469-FF40-8C7A-936A08BBF86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218237" y="0"/>
            <a:ext cx="9484100" cy="6994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9477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274702" y="1211287"/>
            <a:ext cx="11888787" cy="548481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FCAC3703-D666-2110-E9D1-7FCF46F0DE3B}"/>
              </a:ext>
            </a:extLst>
          </p:cNvPr>
          <p:cNvGrpSpPr/>
          <p:nvPr userDrawn="1"/>
        </p:nvGrpSpPr>
        <p:grpSpPr>
          <a:xfrm>
            <a:off x="274701" y="6364816"/>
            <a:ext cx="2167492" cy="353943"/>
            <a:chOff x="8703664" y="6310423"/>
            <a:chExt cx="2273864" cy="360989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B7C4ABC9-C4D6-329B-4FB4-6A455A08C93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rcRect/>
            <a:stretch/>
          </p:blipFill>
          <p:spPr>
            <a:xfrm>
              <a:off x="10600392" y="6337020"/>
              <a:ext cx="377136" cy="323942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854ED717-4B20-3E1C-5F9D-BE7169CC403A}"/>
                </a:ext>
              </a:extLst>
            </p:cNvPr>
            <p:cNvSpPr txBox="1"/>
            <p:nvPr userDrawn="1"/>
          </p:nvSpPr>
          <p:spPr>
            <a:xfrm>
              <a:off x="8703664" y="6310423"/>
              <a:ext cx="2080020" cy="36098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89638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700" dirty="0">
                  <a:solidFill>
                    <a:schemeClr val="tx1"/>
                  </a:solidFill>
                </a:rPr>
                <a:t>@</a:t>
              </a:r>
              <a:r>
                <a:rPr lang="en-US" sz="1700" dirty="0" err="1">
                  <a:solidFill>
                    <a:schemeClr val="tx1"/>
                  </a:solidFill>
                </a:rPr>
                <a:t>CodeTraveler.io</a:t>
              </a:r>
              <a:endParaRPr lang="en-US" sz="1700" dirty="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266048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2.png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emf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2.png"/><Relationship Id="rId4" Type="http://schemas.openxmlformats.org/officeDocument/2006/relationships/image" Target="../media/image1.emf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theme" Target="../theme/theme3.xml"/><Relationship Id="rId3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4.xml"/><Relationship Id="rId9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3535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74639" y="295274"/>
            <a:ext cx="11889564" cy="917575"/>
          </a:xfrm>
          <a:prstGeom prst="rect">
            <a:avLst/>
          </a:prstGeom>
        </p:spPr>
        <p:txBody>
          <a:bodyPr vert="horz" wrap="square" lIns="146304" tIns="91440" rIns="146304" bIns="91440" rtlCol="0" anchor="t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274640" y="1212851"/>
            <a:ext cx="11887198" cy="2308324"/>
          </a:xfrm>
          <a:prstGeom prst="rect">
            <a:avLst/>
          </a:prstGeom>
        </p:spPr>
        <p:txBody>
          <a:bodyPr vert="horz" wrap="square" lIns="146304" tIns="91440" rIns="146304" bIns="91440" rtlCol="0">
            <a:sp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 rot="5400000">
            <a:off x="9371795" y="3072299"/>
            <a:ext cx="6995160" cy="849926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00F8FAE6-D4AA-2663-91C9-126E2AC71739}"/>
              </a:ext>
            </a:extLst>
          </p:cNvPr>
          <p:cNvGrpSpPr/>
          <p:nvPr userDrawn="1"/>
        </p:nvGrpSpPr>
        <p:grpSpPr>
          <a:xfrm>
            <a:off x="274701" y="6364816"/>
            <a:ext cx="2167492" cy="353943"/>
            <a:chOff x="8703664" y="6310423"/>
            <a:chExt cx="2273864" cy="360989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4E60AD00-E401-A397-73FE-721CBFE613C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1"/>
            <a:srcRect/>
            <a:stretch/>
          </p:blipFill>
          <p:spPr>
            <a:xfrm>
              <a:off x="10600392" y="6337020"/>
              <a:ext cx="377136" cy="323942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940AD1AF-4C0B-9EC3-7CA9-EB47FF629702}"/>
                </a:ext>
              </a:extLst>
            </p:cNvPr>
            <p:cNvSpPr txBox="1"/>
            <p:nvPr userDrawn="1"/>
          </p:nvSpPr>
          <p:spPr>
            <a:xfrm>
              <a:off x="8703664" y="6310423"/>
              <a:ext cx="2080020" cy="36098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89638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700" dirty="0">
                  <a:solidFill>
                    <a:schemeClr val="tx1"/>
                  </a:solidFill>
                </a:rPr>
                <a:t>@</a:t>
              </a:r>
              <a:r>
                <a:rPr lang="en-US" sz="1700" dirty="0" err="1">
                  <a:solidFill>
                    <a:schemeClr val="tx1"/>
                  </a:solidFill>
                </a:rPr>
                <a:t>CodeTraveler.io</a:t>
              </a:r>
              <a:endParaRPr lang="en-US" sz="1700" dirty="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0554471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500" r:id="rId1"/>
    <p:sldLayoutId id="2147484501" r:id="rId2"/>
    <p:sldLayoutId id="2147484502" r:id="rId3"/>
    <p:sldLayoutId id="2147484503" r:id="rId4"/>
    <p:sldLayoutId id="2147484504" r:id="rId5"/>
    <p:sldLayoutId id="2147484510" r:id="rId6"/>
    <p:sldLayoutId id="2147484513" r:id="rId7"/>
    <p:sldLayoutId id="2147484514" r:id="rId8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32742" rtl="0" eaLnBrk="1" latinLnBrk="0" hangingPunct="1">
        <a:lnSpc>
          <a:spcPct val="90000"/>
        </a:lnSpc>
        <a:spcBef>
          <a:spcPct val="0"/>
        </a:spcBef>
        <a:buNone/>
        <a:defRPr lang="en-US" sz="4800" b="0" kern="1200" cap="none" spc="-102" baseline="0" dirty="0" smtClean="0">
          <a:ln w="3175">
            <a:noFill/>
          </a:ln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effectLst/>
          <a:latin typeface="+mj-lt"/>
          <a:ea typeface="+mn-ea"/>
          <a:cs typeface="Segoe UI" pitchFamily="34" charset="0"/>
        </a:defRPr>
      </a:lvl1pPr>
    </p:titleStyle>
    <p:bodyStyle>
      <a:lvl1pPr marL="228600" marR="0" indent="-2286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36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j-lt"/>
          <a:ea typeface="+mn-ea"/>
          <a:cs typeface="+mn-cs"/>
        </a:defRPr>
      </a:lvl1pPr>
      <a:lvl2pPr marL="457200" marR="0" indent="-2286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28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2pPr>
      <a:lvl3pPr marL="685800" marR="0" indent="-2286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24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3pPr>
      <a:lvl4pPr marL="914400" marR="0" indent="-2286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22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4pPr>
      <a:lvl5pPr marL="1143000" marR="0" indent="-2286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22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5pPr>
      <a:lvl6pPr marL="2565040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31412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97783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964155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66371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32742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99113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65484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33185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9822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64597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730969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87">
          <p15:clr>
            <a:srgbClr val="5ACBF0"/>
          </p15:clr>
        </p15:guide>
        <p15:guide id="2" pos="173">
          <p15:clr>
            <a:srgbClr val="5ACBF0"/>
          </p15:clr>
        </p15:guide>
        <p15:guide id="3" pos="749">
          <p15:clr>
            <a:srgbClr val="5ACBF0"/>
          </p15:clr>
        </p15:guide>
        <p15:guide id="4" pos="1325">
          <p15:clr>
            <a:srgbClr val="5ACBF0"/>
          </p15:clr>
        </p15:guide>
        <p15:guide id="5" pos="1901">
          <p15:clr>
            <a:srgbClr val="5ACBF0"/>
          </p15:clr>
        </p15:guide>
        <p15:guide id="6" pos="2477">
          <p15:clr>
            <a:srgbClr val="5ACBF0"/>
          </p15:clr>
        </p15:guide>
        <p15:guide id="7" pos="3053">
          <p15:clr>
            <a:srgbClr val="5ACBF0"/>
          </p15:clr>
        </p15:guide>
        <p15:guide id="8" pos="3629">
          <p15:clr>
            <a:srgbClr val="5ACBF0"/>
          </p15:clr>
        </p15:guide>
        <p15:guide id="9" pos="4205">
          <p15:clr>
            <a:srgbClr val="5ACBF0"/>
          </p15:clr>
        </p15:guide>
        <p15:guide id="10" pos="4781">
          <p15:clr>
            <a:srgbClr val="5ACBF0"/>
          </p15:clr>
        </p15:guide>
        <p15:guide id="11" pos="5357">
          <p15:clr>
            <a:srgbClr val="5ACBF0"/>
          </p15:clr>
        </p15:guide>
        <p15:guide id="12" pos="5933">
          <p15:clr>
            <a:srgbClr val="5ACBF0"/>
          </p15:clr>
        </p15:guide>
        <p15:guide id="13" pos="6509">
          <p15:clr>
            <a:srgbClr val="5ACBF0"/>
          </p15:clr>
        </p15:guide>
        <p15:guide id="14" pos="7085">
          <p15:clr>
            <a:srgbClr val="5ACBF0"/>
          </p15:clr>
        </p15:guide>
        <p15:guide id="15" pos="7661">
          <p15:clr>
            <a:srgbClr val="5ACBF0"/>
          </p15:clr>
        </p15:guide>
        <p15:guide id="16" pos="288">
          <p15:clr>
            <a:srgbClr val="C35EA4"/>
          </p15:clr>
        </p15:guide>
        <p15:guide id="17" pos="7546">
          <p15:clr>
            <a:srgbClr val="C35EA4"/>
          </p15:clr>
        </p15:guide>
        <p15:guide id="18" orient="horz" pos="763">
          <p15:clr>
            <a:srgbClr val="5ACBF0"/>
          </p15:clr>
        </p15:guide>
        <p15:guide id="19" orient="horz" pos="1339">
          <p15:clr>
            <a:srgbClr val="5ACBF0"/>
          </p15:clr>
        </p15:guide>
        <p15:guide id="20" orient="horz" pos="1915">
          <p15:clr>
            <a:srgbClr val="5ACBF0"/>
          </p15:clr>
        </p15:guide>
        <p15:guide id="21" orient="horz" pos="2491">
          <p15:clr>
            <a:srgbClr val="5ACBF0"/>
          </p15:clr>
        </p15:guide>
        <p15:guide id="22" orient="horz" pos="3067">
          <p15:clr>
            <a:srgbClr val="5ACBF0"/>
          </p15:clr>
        </p15:guide>
        <p15:guide id="23" orient="horz" pos="3643">
          <p15:clr>
            <a:srgbClr val="5ACBF0"/>
          </p15:clr>
        </p15:guide>
        <p15:guide id="24" orient="horz" pos="4219">
          <p15:clr>
            <a:srgbClr val="5ACBF0"/>
          </p15:clr>
        </p15:guide>
        <p15:guide id="25" orient="horz" pos="302">
          <p15:clr>
            <a:srgbClr val="C35EA4"/>
          </p15:clr>
        </p15:guide>
        <p15:guide id="26" orient="horz" pos="4104">
          <p15:clr>
            <a:srgbClr val="C35EA4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74639" y="295274"/>
            <a:ext cx="11889564" cy="917575"/>
          </a:xfrm>
          <a:prstGeom prst="rect">
            <a:avLst/>
          </a:prstGeom>
        </p:spPr>
        <p:txBody>
          <a:bodyPr vert="horz" wrap="square" lIns="146304" tIns="91440" rIns="146304" bIns="91440" rtlCol="0" anchor="t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274640" y="1212851"/>
            <a:ext cx="11887198" cy="2308324"/>
          </a:xfrm>
          <a:prstGeom prst="rect">
            <a:avLst/>
          </a:prstGeom>
        </p:spPr>
        <p:txBody>
          <a:bodyPr vert="horz" wrap="square" lIns="146304" tIns="91440" rIns="146304" bIns="91440" rtlCol="0">
            <a:sp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 rot="5400000">
            <a:off x="9371795" y="3072299"/>
            <a:ext cx="6995160" cy="849926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C1D396E4-FC80-782A-E81E-43ED408C63E2}"/>
              </a:ext>
            </a:extLst>
          </p:cNvPr>
          <p:cNvGrpSpPr/>
          <p:nvPr userDrawn="1"/>
        </p:nvGrpSpPr>
        <p:grpSpPr>
          <a:xfrm>
            <a:off x="274701" y="6364816"/>
            <a:ext cx="2167492" cy="353943"/>
            <a:chOff x="8703664" y="6310423"/>
            <a:chExt cx="2273864" cy="360989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2642218D-34F5-585F-225A-509F348331B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/>
            <a:srcRect/>
            <a:stretch/>
          </p:blipFill>
          <p:spPr>
            <a:xfrm>
              <a:off x="10600392" y="6337020"/>
              <a:ext cx="377136" cy="323942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19816DB0-D655-9DEE-3B3E-8B323EF9215D}"/>
                </a:ext>
              </a:extLst>
            </p:cNvPr>
            <p:cNvSpPr txBox="1"/>
            <p:nvPr userDrawn="1"/>
          </p:nvSpPr>
          <p:spPr>
            <a:xfrm>
              <a:off x="8703664" y="6310423"/>
              <a:ext cx="2080020" cy="36098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89638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700" dirty="0">
                  <a:solidFill>
                    <a:schemeClr val="tx1"/>
                  </a:solidFill>
                </a:rPr>
                <a:t>@</a:t>
              </a:r>
              <a:r>
                <a:rPr lang="en-US" sz="1700" dirty="0" err="1">
                  <a:solidFill>
                    <a:schemeClr val="tx1"/>
                  </a:solidFill>
                </a:rPr>
                <a:t>CodeTraveler.io</a:t>
              </a:r>
              <a:endParaRPr lang="en-US" sz="1700" dirty="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925093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498" r:id="rId1"/>
    <p:sldLayoutId id="2147484520" r:id="rId2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32742" rtl="0" eaLnBrk="1" latinLnBrk="0" hangingPunct="1">
        <a:lnSpc>
          <a:spcPct val="90000"/>
        </a:lnSpc>
        <a:spcBef>
          <a:spcPct val="0"/>
        </a:spcBef>
        <a:buNone/>
        <a:defRPr lang="en-US" sz="4800" b="0" kern="1200" cap="none" spc="-102" baseline="0" dirty="0" smtClean="0">
          <a:ln w="3175">
            <a:noFill/>
          </a:ln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effectLst/>
          <a:latin typeface="+mj-lt"/>
          <a:ea typeface="+mn-ea"/>
          <a:cs typeface="Segoe UI" pitchFamily="34" charset="0"/>
        </a:defRPr>
      </a:lvl1pPr>
    </p:titleStyle>
    <p:bodyStyle>
      <a:lvl1pPr marL="228600" marR="0" indent="-2286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36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j-lt"/>
          <a:ea typeface="+mn-ea"/>
          <a:cs typeface="+mn-cs"/>
        </a:defRPr>
      </a:lvl1pPr>
      <a:lvl2pPr marL="457200" marR="0" indent="-2286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28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2pPr>
      <a:lvl3pPr marL="685800" marR="0" indent="-2286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24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3pPr>
      <a:lvl4pPr marL="914400" marR="0" indent="-2286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22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4pPr>
      <a:lvl5pPr marL="1143000" marR="0" indent="-2286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22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5pPr>
      <a:lvl6pPr marL="2565040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31412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97783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964155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66371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32742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99113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65484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33185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9822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64597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730969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87">
          <p15:clr>
            <a:srgbClr val="5ACBF0"/>
          </p15:clr>
        </p15:guide>
        <p15:guide id="2" pos="173">
          <p15:clr>
            <a:srgbClr val="5ACBF0"/>
          </p15:clr>
        </p15:guide>
        <p15:guide id="3" pos="749">
          <p15:clr>
            <a:srgbClr val="5ACBF0"/>
          </p15:clr>
        </p15:guide>
        <p15:guide id="4" pos="1325">
          <p15:clr>
            <a:srgbClr val="5ACBF0"/>
          </p15:clr>
        </p15:guide>
        <p15:guide id="5" pos="1901">
          <p15:clr>
            <a:srgbClr val="5ACBF0"/>
          </p15:clr>
        </p15:guide>
        <p15:guide id="6" pos="2477">
          <p15:clr>
            <a:srgbClr val="5ACBF0"/>
          </p15:clr>
        </p15:guide>
        <p15:guide id="7" pos="3053">
          <p15:clr>
            <a:srgbClr val="5ACBF0"/>
          </p15:clr>
        </p15:guide>
        <p15:guide id="8" pos="3629">
          <p15:clr>
            <a:srgbClr val="5ACBF0"/>
          </p15:clr>
        </p15:guide>
        <p15:guide id="9" pos="4205">
          <p15:clr>
            <a:srgbClr val="5ACBF0"/>
          </p15:clr>
        </p15:guide>
        <p15:guide id="10" pos="4781">
          <p15:clr>
            <a:srgbClr val="5ACBF0"/>
          </p15:clr>
        </p15:guide>
        <p15:guide id="11" pos="5357">
          <p15:clr>
            <a:srgbClr val="5ACBF0"/>
          </p15:clr>
        </p15:guide>
        <p15:guide id="12" pos="5933">
          <p15:clr>
            <a:srgbClr val="5ACBF0"/>
          </p15:clr>
        </p15:guide>
        <p15:guide id="13" pos="6509">
          <p15:clr>
            <a:srgbClr val="5ACBF0"/>
          </p15:clr>
        </p15:guide>
        <p15:guide id="14" pos="7085">
          <p15:clr>
            <a:srgbClr val="5ACBF0"/>
          </p15:clr>
        </p15:guide>
        <p15:guide id="15" pos="7661">
          <p15:clr>
            <a:srgbClr val="5ACBF0"/>
          </p15:clr>
        </p15:guide>
        <p15:guide id="16" pos="288">
          <p15:clr>
            <a:srgbClr val="C35EA4"/>
          </p15:clr>
        </p15:guide>
        <p15:guide id="17" pos="7546">
          <p15:clr>
            <a:srgbClr val="C35EA4"/>
          </p15:clr>
        </p15:guide>
        <p15:guide id="18" orient="horz" pos="763">
          <p15:clr>
            <a:srgbClr val="5ACBF0"/>
          </p15:clr>
        </p15:guide>
        <p15:guide id="19" orient="horz" pos="1339">
          <p15:clr>
            <a:srgbClr val="5ACBF0"/>
          </p15:clr>
        </p15:guide>
        <p15:guide id="20" orient="horz" pos="1915">
          <p15:clr>
            <a:srgbClr val="5ACBF0"/>
          </p15:clr>
        </p15:guide>
        <p15:guide id="21" orient="horz" pos="2491">
          <p15:clr>
            <a:srgbClr val="5ACBF0"/>
          </p15:clr>
        </p15:guide>
        <p15:guide id="22" orient="horz" pos="3067">
          <p15:clr>
            <a:srgbClr val="5ACBF0"/>
          </p15:clr>
        </p15:guide>
        <p15:guide id="23" orient="horz" pos="3643">
          <p15:clr>
            <a:srgbClr val="5ACBF0"/>
          </p15:clr>
        </p15:guide>
        <p15:guide id="24" orient="horz" pos="4219">
          <p15:clr>
            <a:srgbClr val="5ACBF0"/>
          </p15:clr>
        </p15:guide>
        <p15:guide id="25" orient="horz" pos="302">
          <p15:clr>
            <a:srgbClr val="C35EA4"/>
          </p15:clr>
        </p15:guide>
        <p15:guide id="26" orient="horz" pos="4104">
          <p15:clr>
            <a:srgbClr val="C35EA4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3535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74639" y="295274"/>
            <a:ext cx="11889564" cy="917575"/>
          </a:xfrm>
          <a:prstGeom prst="rect">
            <a:avLst/>
          </a:prstGeom>
        </p:spPr>
        <p:txBody>
          <a:bodyPr vert="horz" wrap="square" lIns="146304" tIns="91440" rIns="146304" bIns="91440" rtlCol="0" anchor="t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274640" y="1212851"/>
            <a:ext cx="11887198" cy="2308324"/>
          </a:xfrm>
          <a:prstGeom prst="rect">
            <a:avLst/>
          </a:prstGeom>
        </p:spPr>
        <p:txBody>
          <a:bodyPr vert="horz" wrap="square" lIns="146304" tIns="91440" rIns="146304" bIns="91440" rtlCol="0">
            <a:sp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 rot="5400000">
            <a:off x="9371795" y="3072299"/>
            <a:ext cx="6995160" cy="8499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600415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508" r:id="rId1"/>
    <p:sldLayoutId id="2147484515" r:id="rId2"/>
    <p:sldLayoutId id="2147484516" r:id="rId3"/>
    <p:sldLayoutId id="2147484517" r:id="rId4"/>
    <p:sldLayoutId id="2147484518" r:id="rId5"/>
    <p:sldLayoutId id="2147484519" r:id="rId6"/>
    <p:sldLayoutId id="2147484530" r:id="rId7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32742" rtl="0" eaLnBrk="1" latinLnBrk="0" hangingPunct="1">
        <a:lnSpc>
          <a:spcPct val="90000"/>
        </a:lnSpc>
        <a:spcBef>
          <a:spcPct val="0"/>
        </a:spcBef>
        <a:buNone/>
        <a:defRPr lang="en-US" sz="4800" b="0" kern="1200" cap="none" spc="-102" baseline="0" dirty="0" smtClean="0">
          <a:ln w="3175">
            <a:noFill/>
          </a:ln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effectLst/>
          <a:latin typeface="+mj-lt"/>
          <a:ea typeface="+mn-ea"/>
          <a:cs typeface="Segoe UI" pitchFamily="34" charset="0"/>
        </a:defRPr>
      </a:lvl1pPr>
    </p:titleStyle>
    <p:bodyStyle>
      <a:lvl1pPr marL="228600" marR="0" indent="-2286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36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j-lt"/>
          <a:ea typeface="+mn-ea"/>
          <a:cs typeface="+mn-cs"/>
        </a:defRPr>
      </a:lvl1pPr>
      <a:lvl2pPr marL="457200" marR="0" indent="-2286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28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2pPr>
      <a:lvl3pPr marL="685800" marR="0" indent="-2286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24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3pPr>
      <a:lvl4pPr marL="914400" marR="0" indent="-2286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22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4pPr>
      <a:lvl5pPr marL="1143000" marR="0" indent="-2286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22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5pPr>
      <a:lvl6pPr marL="2565040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31412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97783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964155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66371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32742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99113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65484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33185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9822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64597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730969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87">
          <p15:clr>
            <a:srgbClr val="5ACBF0"/>
          </p15:clr>
        </p15:guide>
        <p15:guide id="2" pos="173">
          <p15:clr>
            <a:srgbClr val="5ACBF0"/>
          </p15:clr>
        </p15:guide>
        <p15:guide id="3" pos="749">
          <p15:clr>
            <a:srgbClr val="5ACBF0"/>
          </p15:clr>
        </p15:guide>
        <p15:guide id="4" pos="1325">
          <p15:clr>
            <a:srgbClr val="5ACBF0"/>
          </p15:clr>
        </p15:guide>
        <p15:guide id="5" pos="1901">
          <p15:clr>
            <a:srgbClr val="5ACBF0"/>
          </p15:clr>
        </p15:guide>
        <p15:guide id="6" pos="2477">
          <p15:clr>
            <a:srgbClr val="5ACBF0"/>
          </p15:clr>
        </p15:guide>
        <p15:guide id="7" pos="3053">
          <p15:clr>
            <a:srgbClr val="5ACBF0"/>
          </p15:clr>
        </p15:guide>
        <p15:guide id="8" pos="3629">
          <p15:clr>
            <a:srgbClr val="5ACBF0"/>
          </p15:clr>
        </p15:guide>
        <p15:guide id="9" pos="4205">
          <p15:clr>
            <a:srgbClr val="5ACBF0"/>
          </p15:clr>
        </p15:guide>
        <p15:guide id="10" pos="4781">
          <p15:clr>
            <a:srgbClr val="5ACBF0"/>
          </p15:clr>
        </p15:guide>
        <p15:guide id="11" pos="5357">
          <p15:clr>
            <a:srgbClr val="5ACBF0"/>
          </p15:clr>
        </p15:guide>
        <p15:guide id="12" pos="5933">
          <p15:clr>
            <a:srgbClr val="5ACBF0"/>
          </p15:clr>
        </p15:guide>
        <p15:guide id="13" pos="6509">
          <p15:clr>
            <a:srgbClr val="5ACBF0"/>
          </p15:clr>
        </p15:guide>
        <p15:guide id="14" pos="7085">
          <p15:clr>
            <a:srgbClr val="5ACBF0"/>
          </p15:clr>
        </p15:guide>
        <p15:guide id="15" pos="7661">
          <p15:clr>
            <a:srgbClr val="5ACBF0"/>
          </p15:clr>
        </p15:guide>
        <p15:guide id="16" pos="288">
          <p15:clr>
            <a:srgbClr val="C35EA4"/>
          </p15:clr>
        </p15:guide>
        <p15:guide id="17" pos="7546">
          <p15:clr>
            <a:srgbClr val="C35EA4"/>
          </p15:clr>
        </p15:guide>
        <p15:guide id="18" orient="horz" pos="763">
          <p15:clr>
            <a:srgbClr val="5ACBF0"/>
          </p15:clr>
        </p15:guide>
        <p15:guide id="19" orient="horz" pos="1339">
          <p15:clr>
            <a:srgbClr val="5ACBF0"/>
          </p15:clr>
        </p15:guide>
        <p15:guide id="20" orient="horz" pos="1915">
          <p15:clr>
            <a:srgbClr val="5ACBF0"/>
          </p15:clr>
        </p15:guide>
        <p15:guide id="21" orient="horz" pos="2491">
          <p15:clr>
            <a:srgbClr val="5ACBF0"/>
          </p15:clr>
        </p15:guide>
        <p15:guide id="22" orient="horz" pos="3067">
          <p15:clr>
            <a:srgbClr val="5ACBF0"/>
          </p15:clr>
        </p15:guide>
        <p15:guide id="23" orient="horz" pos="3643">
          <p15:clr>
            <a:srgbClr val="5ACBF0"/>
          </p15:clr>
        </p15:guide>
        <p15:guide id="24" orient="horz" pos="4219">
          <p15:clr>
            <a:srgbClr val="5ACBF0"/>
          </p15:clr>
        </p15:guide>
        <p15:guide id="25" orient="horz" pos="302">
          <p15:clr>
            <a:srgbClr val="C35EA4"/>
          </p15:clr>
        </p15:guide>
        <p15:guide id="26" orient="horz" pos="4104">
          <p15:clr>
            <a:srgbClr val="C35E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1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1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74701" y="1668476"/>
            <a:ext cx="8213517" cy="1828786"/>
          </a:xfrm>
        </p:spPr>
        <p:txBody>
          <a:bodyPr/>
          <a:lstStyle/>
          <a:p>
            <a:r>
              <a:rPr lang="en-US" dirty="0"/>
              <a:t>Deep Dive:</a:t>
            </a:r>
            <a:br>
              <a:rPr lang="en-US" dirty="0"/>
            </a:br>
            <a:r>
              <a:rPr lang="en-US" dirty="0"/>
              <a:t>.NET Internals</a:t>
            </a:r>
            <a:endParaRPr lang="en-US" sz="6000" dirty="0">
              <a:solidFill>
                <a:schemeClr val="tx1"/>
              </a:solidFill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/>
          </p:nvPr>
        </p:nvSpPr>
        <p:spPr>
          <a:xfrm>
            <a:off x="274701" y="4074123"/>
            <a:ext cx="7315137" cy="1828007"/>
          </a:xfrm>
        </p:spPr>
        <p:txBody>
          <a:bodyPr vert="horz" wrap="square" lIns="164592" tIns="109728" rIns="164592" bIns="109728" rtlCol="0" anchor="t">
            <a:noAutofit/>
          </a:bodyPr>
          <a:lstStyle/>
          <a:p>
            <a:r>
              <a:rPr lang="en-US" dirty="0"/>
              <a:t>Brandon Minnick</a:t>
            </a:r>
            <a:endParaRPr lang="en-US" dirty="0">
              <a:solidFill>
                <a:schemeClr val="tx1"/>
              </a:solidFill>
            </a:endParaRPr>
          </a:p>
          <a:p>
            <a:r>
              <a:rPr lang="en-US" sz="2000" dirty="0"/>
              <a:t>Code Traveler, LLC</a:t>
            </a:r>
            <a:endParaRPr lang="en-US" sz="2000" dirty="0">
              <a:cs typeface="Segoe UI Semilight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65AE6F7-A19C-624B-AF22-170C782C1152}"/>
              </a:ext>
            </a:extLst>
          </p:cNvPr>
          <p:cNvSpPr txBox="1"/>
          <p:nvPr/>
        </p:nvSpPr>
        <p:spPr>
          <a:xfrm>
            <a:off x="11230984" y="6551407"/>
            <a:ext cx="369397" cy="627864"/>
          </a:xfrm>
          <a:prstGeom prst="rect">
            <a:avLst/>
          </a:prstGeom>
          <a:noFill/>
        </p:spPr>
        <p:txBody>
          <a:bodyPr wrap="none" lIns="182880" tIns="146304" rIns="182880" bIns="146304" rtlCol="0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endParaRPr lang="en-US" sz="2400" dirty="0" err="1">
              <a:gradFill>
                <a:gsLst>
                  <a:gs pos="2917">
                    <a:schemeClr val="tx1"/>
                  </a:gs>
                  <a:gs pos="30000">
                    <a:schemeClr val="tx1"/>
                  </a:gs>
                </a:gsLst>
                <a:lin ang="5400000" scaled="0"/>
              </a:gradFill>
            </a:endParaRPr>
          </a:p>
        </p:txBody>
      </p:sp>
    </p:spTree>
    <p:extLst>
      <p:ext uri="{BB962C8B-B14F-4D97-AF65-F5344CB8AC3E}">
        <p14:creationId xmlns:p14="http://schemas.microsoft.com/office/powerpoint/2010/main" val="20897201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9069A6-A433-D5C6-10F7-20846BAFF6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5CFC34-6379-2C18-0A93-5E5F2A378F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ThreadStatic</a:t>
            </a:r>
            <a:br>
              <a:rPr lang="en-US" dirty="0"/>
            </a:br>
            <a:r>
              <a:rPr lang="en-US" sz="3600" dirty="0">
                <a:gradFill>
                  <a:gsLst>
                    <a:gs pos="1250">
                      <a:srgbClr val="FFB900"/>
                    </a:gs>
                    <a:gs pos="100000">
                      <a:srgbClr val="FFB900"/>
                    </a:gs>
                  </a:gsLst>
                  <a:lin ang="5400000" scaled="0"/>
                </a:gradFill>
              </a:rPr>
              <a:t>[</a:t>
            </a:r>
            <a:r>
              <a:rPr lang="en-US" sz="3600" dirty="0" err="1">
                <a:gradFill>
                  <a:gsLst>
                    <a:gs pos="1250">
                      <a:srgbClr val="FFB900"/>
                    </a:gs>
                    <a:gs pos="100000">
                      <a:srgbClr val="FFB900"/>
                    </a:gs>
                  </a:gsLst>
                  <a:lin ang="5400000" scaled="0"/>
                </a:gradFill>
              </a:rPr>
              <a:t>ThreadStatic</a:t>
            </a:r>
            <a:r>
              <a:rPr lang="en-US" sz="3600" dirty="0">
                <a:gradFill>
                  <a:gsLst>
                    <a:gs pos="1250">
                      <a:srgbClr val="FFB900"/>
                    </a:gs>
                    <a:gs pos="100000">
                      <a:srgbClr val="FFB900"/>
                    </a:gs>
                  </a:gsLst>
                  <a:lin ang="5400000" scaled="0"/>
                </a:gradFill>
              </a:rPr>
              <a:t>]</a:t>
            </a:r>
            <a:endParaRPr lang="en-US" sz="4000" dirty="0">
              <a:gradFill>
                <a:gsLst>
                  <a:gs pos="1250">
                    <a:srgbClr val="FFB900"/>
                  </a:gs>
                  <a:gs pos="100000">
                    <a:srgbClr val="FFB900"/>
                  </a:gs>
                </a:gsLst>
                <a:lin ang="5400000" scaled="0"/>
              </a:gra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8C6CD8-D20D-89FB-2A4F-AF27B953EA8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4702" y="1630496"/>
            <a:ext cx="11888787" cy="3323987"/>
          </a:xfrm>
        </p:spPr>
        <p:txBody>
          <a:bodyPr/>
          <a:lstStyle/>
          <a:p>
            <a:r>
              <a:rPr lang="en-US" dirty="0"/>
              <a:t>Stores Thread-specific data</a:t>
            </a:r>
          </a:p>
          <a:p>
            <a:r>
              <a:rPr lang="en-US" dirty="0"/>
              <a:t>Allowed on static fields</a:t>
            </a:r>
          </a:p>
          <a:p>
            <a:r>
              <a:rPr lang="en-US" dirty="0"/>
              <a:t>Security Concerns</a:t>
            </a:r>
          </a:p>
          <a:p>
            <a:pPr lvl="1"/>
            <a:r>
              <a:rPr lang="en-US" dirty="0"/>
              <a:t>Data leaks caused by re-used Threads in ASP.NET Core</a:t>
            </a:r>
          </a:p>
          <a:p>
            <a:pPr lvl="1"/>
            <a:r>
              <a:rPr lang="en-US" dirty="0"/>
              <a:t>Tasks may continue on different threads</a:t>
            </a:r>
          </a:p>
          <a:p>
            <a:pPr lvl="1"/>
            <a:r>
              <a:rPr lang="en-US" dirty="0"/>
              <a:t>Use </a:t>
            </a:r>
            <a:r>
              <a:rPr lang="en-US" dirty="0" err="1"/>
              <a:t>HttpContext</a:t>
            </a:r>
            <a:r>
              <a:rPr lang="en-US" dirty="0"/>
              <a:t> instead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19B454C-1DC9-E8D7-9273-86FE07ADFF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22414" y="4328979"/>
            <a:ext cx="4889500" cy="20701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7A8557B-C500-18D3-0F3F-C535EAE0AA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783" y="4326009"/>
            <a:ext cx="7131122" cy="2490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28108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001843-442A-96BF-07AD-1781151548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90FDD5-41D1-5586-7055-9F11375DEE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Security</a:t>
            </a:r>
            <a:br>
              <a:rPr lang="en-US" dirty="0"/>
            </a:br>
            <a:r>
              <a:rPr lang="en-US" sz="3600" dirty="0" err="1">
                <a:gradFill>
                  <a:gsLst>
                    <a:gs pos="1250">
                      <a:srgbClr val="FFB900"/>
                    </a:gs>
                    <a:gs pos="100000">
                      <a:srgbClr val="FFB900"/>
                    </a:gs>
                  </a:gsLst>
                  <a:lin ang="5400000" scaled="0"/>
                </a:gradFill>
              </a:rPr>
              <a:t>System.Security.Principal</a:t>
            </a:r>
            <a:endParaRPr lang="en-US" sz="4000" dirty="0">
              <a:gradFill>
                <a:gsLst>
                  <a:gs pos="1250">
                    <a:srgbClr val="FFB900"/>
                  </a:gs>
                  <a:gs pos="100000">
                    <a:srgbClr val="FFB900"/>
                  </a:gs>
                </a:gsLst>
                <a:lin ang="5400000" scaled="0"/>
              </a:gra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A40794-EC1D-F4C4-F9A0-0039FC4174D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4702" y="1630496"/>
            <a:ext cx="11888787" cy="3323987"/>
          </a:xfrm>
        </p:spPr>
        <p:txBody>
          <a:bodyPr/>
          <a:lstStyle/>
          <a:p>
            <a:r>
              <a:rPr lang="en-US" b="1" dirty="0"/>
              <a:t>Identity</a:t>
            </a:r>
          </a:p>
          <a:p>
            <a:pPr lvl="1"/>
            <a:r>
              <a:rPr lang="en-US" dirty="0"/>
              <a:t>Who is performing the action (e.g., the user’s identity).</a:t>
            </a:r>
          </a:p>
          <a:p>
            <a:r>
              <a:rPr lang="en-US" b="1" dirty="0"/>
              <a:t>Roles and Claims</a:t>
            </a:r>
          </a:p>
          <a:p>
            <a:pPr lvl="1"/>
            <a:r>
              <a:rPr lang="en-US" dirty="0"/>
              <a:t>What the user is allowed to do</a:t>
            </a:r>
          </a:p>
          <a:p>
            <a:r>
              <a:rPr lang="en-US" b="1" dirty="0"/>
              <a:t>Permissions</a:t>
            </a:r>
          </a:p>
          <a:p>
            <a:pPr lvl="1"/>
            <a:r>
              <a:rPr lang="en-US" dirty="0"/>
              <a:t>What specific actions or resources the user is authorized to access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8103D9A-172C-CD28-E798-33A7CE4CB7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90330" y="5364029"/>
            <a:ext cx="7234067" cy="124982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924DACE-CAC7-0464-77F0-DC50F2B989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42834" y="4850721"/>
            <a:ext cx="7772400" cy="2060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22976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D08F7A-0F72-2843-8CE9-05CC71DBDB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EB33D8-DE06-06E8-015C-B6F833F5E9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ExecutionContext</a:t>
            </a:r>
            <a:br>
              <a:rPr lang="en-US" dirty="0"/>
            </a:br>
            <a:r>
              <a:rPr lang="en-US" sz="3600" dirty="0">
                <a:gradFill>
                  <a:gsLst>
                    <a:gs pos="1250">
                      <a:srgbClr val="FFB900"/>
                    </a:gs>
                    <a:gs pos="100000">
                      <a:srgbClr val="FFB900"/>
                    </a:gs>
                  </a:gsLst>
                  <a:lin ang="5400000" scaled="0"/>
                </a:gradFill>
              </a:rPr>
              <a:t>All Information Required for a Logical Thread</a:t>
            </a:r>
            <a:endParaRPr lang="en-US" sz="4000" dirty="0">
              <a:gradFill>
                <a:gsLst>
                  <a:gs pos="1250">
                    <a:srgbClr val="FFB900"/>
                  </a:gs>
                  <a:gs pos="100000">
                    <a:srgbClr val="FFB900"/>
                  </a:gs>
                </a:gsLst>
                <a:lin ang="5400000" scaled="0"/>
              </a:gra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4649AF-51F7-275C-AA49-35BBFA1ACF4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4702" y="1539056"/>
            <a:ext cx="11888787" cy="4881336"/>
          </a:xfrm>
        </p:spPr>
        <p:txBody>
          <a:bodyPr/>
          <a:lstStyle/>
          <a:p>
            <a:r>
              <a:rPr lang="en-US" dirty="0"/>
              <a:t>Stores data specific to a Thread</a:t>
            </a:r>
          </a:p>
          <a:p>
            <a:pPr lvl="1"/>
            <a:r>
              <a:rPr lang="en-US" dirty="0"/>
              <a:t>Security information (impersonation)</a:t>
            </a:r>
          </a:p>
          <a:p>
            <a:pPr lvl="1"/>
            <a:r>
              <a:rPr lang="en-US" dirty="0"/>
              <a:t>Synchronization context</a:t>
            </a:r>
          </a:p>
          <a:p>
            <a:pPr lvl="1"/>
            <a:r>
              <a:rPr lang="en-US" dirty="0"/>
              <a:t>Culture information</a:t>
            </a:r>
          </a:p>
          <a:p>
            <a:r>
              <a:rPr lang="en-US" dirty="0"/>
              <a:t>Attached to Task </a:t>
            </a:r>
          </a:p>
          <a:p>
            <a:pPr lvl="1"/>
            <a:r>
              <a:rPr lang="en-US" dirty="0"/>
              <a:t>Loaded to the thread before execution</a:t>
            </a:r>
          </a:p>
          <a:p>
            <a:r>
              <a:rPr lang="en-US" dirty="0"/>
              <a:t>Immutable</a:t>
            </a:r>
          </a:p>
          <a:p>
            <a:r>
              <a:rPr lang="en-US" dirty="0"/>
              <a:t>Can be suppressed </a:t>
            </a:r>
          </a:p>
          <a:p>
            <a:pPr lvl="1"/>
            <a:r>
              <a:rPr lang="en-US" dirty="0"/>
              <a:t>`</a:t>
            </a:r>
            <a:r>
              <a:rPr lang="en-US" dirty="0" err="1"/>
              <a:t>ExecutionContext.SupressFlow</a:t>
            </a:r>
            <a:r>
              <a:rPr lang="en-US" dirty="0"/>
              <a:t>()` + `</a:t>
            </a:r>
            <a:r>
              <a:rPr lang="en-US" dirty="0" err="1"/>
              <a:t>ExecutionContext.RestoreFlow</a:t>
            </a:r>
            <a:r>
              <a:rPr lang="en-US" dirty="0"/>
              <a:t>()`</a:t>
            </a:r>
          </a:p>
        </p:txBody>
      </p:sp>
    </p:spTree>
    <p:extLst>
      <p:ext uri="{BB962C8B-B14F-4D97-AF65-F5344CB8AC3E}">
        <p14:creationId xmlns:p14="http://schemas.microsoft.com/office/powerpoint/2010/main" val="17093374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1BC2C2E9-0E41-CA29-2960-247623D5C3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E64164-9974-ABD1-8587-B8F436FA18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ExecutionContext</a:t>
            </a:r>
            <a:br>
              <a:rPr lang="en-US" dirty="0"/>
            </a:br>
            <a:r>
              <a:rPr lang="en-US" sz="3600" dirty="0" err="1">
                <a:gradFill>
                  <a:gsLst>
                    <a:gs pos="1250">
                      <a:srgbClr val="FFB900"/>
                    </a:gs>
                    <a:gs pos="100000">
                      <a:srgbClr val="FFB900"/>
                    </a:gs>
                  </a:gsLst>
                  <a:lin ang="5400000" scaled="0"/>
                </a:gradFill>
              </a:rPr>
              <a:t>AsyncLocal</a:t>
            </a:r>
            <a:r>
              <a:rPr lang="en-US" sz="3600" dirty="0">
                <a:gradFill>
                  <a:gsLst>
                    <a:gs pos="1250">
                      <a:srgbClr val="FFB900"/>
                    </a:gs>
                    <a:gs pos="100000">
                      <a:srgbClr val="FFB900"/>
                    </a:gs>
                  </a:gsLst>
                  <a:lin ang="5400000" scaled="0"/>
                </a:gradFill>
              </a:rPr>
              <a:t>&lt;T&gt;</a:t>
            </a:r>
            <a:endParaRPr lang="en-US" sz="4000" dirty="0">
              <a:gradFill>
                <a:gsLst>
                  <a:gs pos="1250">
                    <a:srgbClr val="FFB900"/>
                  </a:gs>
                  <a:gs pos="100000">
                    <a:srgbClr val="FFB900"/>
                  </a:gs>
                </a:gsLst>
                <a:lin ang="5400000" scaled="0"/>
              </a:gra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7A1409-C24B-905F-3ECC-80D349B337E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4702" y="1630496"/>
            <a:ext cx="11888787" cy="1292662"/>
          </a:xfrm>
        </p:spPr>
        <p:txBody>
          <a:bodyPr/>
          <a:lstStyle/>
          <a:p>
            <a:r>
              <a:rPr lang="en-US" dirty="0"/>
              <a:t>Stores Data Specific to the operation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9475241-DD9C-18DC-2B9E-42FD0EAE1B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9955" y="1059735"/>
            <a:ext cx="5579276" cy="5698619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39D6CE6E-AD1C-7898-4CFC-C2BCAA6DD738}"/>
              </a:ext>
            </a:extLst>
          </p:cNvPr>
          <p:cNvGrpSpPr/>
          <p:nvPr/>
        </p:nvGrpSpPr>
        <p:grpSpPr>
          <a:xfrm>
            <a:off x="8090321" y="2451102"/>
            <a:ext cx="6733859" cy="3804363"/>
            <a:chOff x="5619624" y="3238334"/>
            <a:chExt cx="6733859" cy="3804363"/>
          </a:xfrm>
        </p:grpSpPr>
        <p:pic>
          <p:nvPicPr>
            <p:cNvPr id="1026" name="Picture 2" descr="macos - Terminal stuck at empty screen - Ask Different">
              <a:extLst>
                <a:ext uri="{FF2B5EF4-FFF2-40B4-BE49-F238E27FC236}">
                  <a16:creationId xmlns:a16="http://schemas.microsoft.com/office/drawing/2014/main" id="{D8B1A2B8-F990-BB29-9EA5-A8ABCEAFE20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619624" y="3238334"/>
              <a:ext cx="4759724" cy="380436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B4424F1F-8813-3F7B-3334-29D83CC016B5}"/>
                </a:ext>
              </a:extLst>
            </p:cNvPr>
            <p:cNvSpPr txBox="1"/>
            <p:nvPr/>
          </p:nvSpPr>
          <p:spPr>
            <a:xfrm>
              <a:off x="5704403" y="3497262"/>
              <a:ext cx="6649080" cy="8309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200" dirty="0"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rPr>
                <a:t>Main Thread: Main Thread Value</a:t>
              </a:r>
            </a:p>
            <a:p>
              <a:r>
                <a:rPr lang="en-US" sz="1200" dirty="0"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rPr>
                <a:t>Thread 1: Thread 1 Value</a:t>
              </a:r>
            </a:p>
            <a:p>
              <a:r>
                <a:rPr lang="en-US" sz="1200" dirty="0"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rPr>
                <a:t>Thread 2: Thread 2 Value</a:t>
              </a:r>
            </a:p>
            <a:p>
              <a:r>
                <a:rPr lang="en-US" sz="1200" dirty="0"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rPr>
                <a:t>Main Thread (after Task): Main Thread Value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474378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B47CB9-161E-230B-8CEC-B52562A6A4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F15A10-3F5F-10AA-8289-D5617FE488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SynchronizationContext</a:t>
            </a:r>
            <a:br>
              <a:rPr lang="en-US" dirty="0"/>
            </a:br>
            <a:r>
              <a:rPr lang="en-US" sz="3600" dirty="0">
                <a:gradFill>
                  <a:gsLst>
                    <a:gs pos="1250">
                      <a:srgbClr val="FFB900"/>
                    </a:gs>
                    <a:gs pos="100000">
                      <a:srgbClr val="FFB900"/>
                    </a:gs>
                  </a:gsLst>
                  <a:lin ang="5400000" scaled="0"/>
                </a:gradFill>
              </a:rPr>
              <a:t>Manages Asynchronous Code Execution</a:t>
            </a:r>
            <a:endParaRPr lang="en-US" sz="4000" dirty="0">
              <a:gradFill>
                <a:gsLst>
                  <a:gs pos="1250">
                    <a:srgbClr val="FFB900"/>
                  </a:gs>
                  <a:gs pos="100000">
                    <a:srgbClr val="FFB900"/>
                  </a:gs>
                </a:gsLst>
                <a:lin ang="5400000" scaled="0"/>
              </a:gra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1B30A5-EE56-09BD-C199-95F5F9BB1DE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4702" y="1630496"/>
            <a:ext cx="11888787" cy="2985433"/>
          </a:xfrm>
        </p:spPr>
        <p:txBody>
          <a:bodyPr/>
          <a:lstStyle/>
          <a:p>
            <a:r>
              <a:rPr lang="en-US" dirty="0"/>
              <a:t>Used in UI Frameworks*</a:t>
            </a:r>
          </a:p>
          <a:p>
            <a:r>
              <a:rPr lang="en-US" dirty="0"/>
              <a:t>Controls Task Continuations</a:t>
            </a:r>
          </a:p>
          <a:p>
            <a:pPr lvl="1"/>
            <a:r>
              <a:rPr lang="en-US" dirty="0"/>
              <a:t>Return to calling thread</a:t>
            </a:r>
          </a:p>
          <a:p>
            <a:r>
              <a:rPr lang="en-US" dirty="0"/>
              <a:t>When null, continuations use Thread Pool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06438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4C689C-F821-771E-D99C-396BBFEAA3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E3D28D-C1E4-7DB5-F202-B0EC723243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SynchronizationContext</a:t>
            </a:r>
            <a:br>
              <a:rPr lang="en-US" dirty="0"/>
            </a:br>
            <a:r>
              <a:rPr lang="en-US" sz="3600" dirty="0">
                <a:gradFill>
                  <a:gsLst>
                    <a:gs pos="1250">
                      <a:srgbClr val="FFB900"/>
                    </a:gs>
                    <a:gs pos="100000">
                      <a:srgbClr val="FFB900"/>
                    </a:gs>
                  </a:gsLst>
                  <a:lin ang="5400000" scaled="0"/>
                </a:gradFill>
              </a:rPr>
              <a:t>*ASP.NET Core MVC</a:t>
            </a:r>
            <a:endParaRPr lang="en-US" sz="4000" dirty="0">
              <a:gradFill>
                <a:gsLst>
                  <a:gs pos="1250">
                    <a:srgbClr val="FFB900"/>
                  </a:gs>
                  <a:gs pos="100000">
                    <a:srgbClr val="FFB900"/>
                  </a:gs>
                </a:gsLst>
                <a:lin ang="5400000" scaled="0"/>
              </a:gra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F5DEE2-5BE3-096D-5E00-DCE50A794E7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4702" y="1630496"/>
            <a:ext cx="11888787" cy="1766637"/>
          </a:xfrm>
        </p:spPr>
        <p:txBody>
          <a:bodyPr/>
          <a:lstStyle/>
          <a:p>
            <a:r>
              <a:rPr lang="en-US" dirty="0"/>
              <a:t>No </a:t>
            </a:r>
            <a:r>
              <a:rPr lang="en-US" dirty="0" err="1"/>
              <a:t>SynchronizationContext</a:t>
            </a:r>
            <a:r>
              <a:rPr lang="en-US" dirty="0"/>
              <a:t> in ASP.NET Core</a:t>
            </a:r>
          </a:p>
          <a:p>
            <a:r>
              <a:rPr lang="en-US" dirty="0"/>
              <a:t>UI Updates On Server</a:t>
            </a:r>
          </a:p>
          <a:p>
            <a:pPr lvl="1"/>
            <a:r>
              <a:rPr lang="en-US" dirty="0"/>
              <a:t>HTML Sent to Browser for Rendering</a:t>
            </a:r>
          </a:p>
        </p:txBody>
      </p:sp>
    </p:spTree>
    <p:extLst>
      <p:ext uri="{BB962C8B-B14F-4D97-AF65-F5344CB8AC3E}">
        <p14:creationId xmlns:p14="http://schemas.microsoft.com/office/powerpoint/2010/main" val="28912358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D26169-8642-018B-A6DA-96A9FFF5CC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1D1A04-AA61-D396-BA20-6FF2E99A8B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SynchronizationContext</a:t>
            </a:r>
            <a:br>
              <a:rPr lang="en-US" dirty="0"/>
            </a:br>
            <a:r>
              <a:rPr lang="en-US" sz="3600" dirty="0">
                <a:gradFill>
                  <a:gsLst>
                    <a:gs pos="1250">
                      <a:srgbClr val="FFB900"/>
                    </a:gs>
                    <a:gs pos="100000">
                      <a:srgbClr val="FFB900"/>
                    </a:gs>
                  </a:gsLst>
                  <a:lin ang="5400000" scaled="0"/>
                </a:gradFill>
              </a:rPr>
              <a:t>*ASP.NET Core </a:t>
            </a:r>
            <a:r>
              <a:rPr lang="en-US" sz="3600" dirty="0" err="1">
                <a:gradFill>
                  <a:gsLst>
                    <a:gs pos="1250">
                      <a:srgbClr val="FFB900"/>
                    </a:gs>
                    <a:gs pos="100000">
                      <a:srgbClr val="FFB900"/>
                    </a:gs>
                  </a:gsLst>
                  <a:lin ang="5400000" scaled="0"/>
                </a:gradFill>
              </a:rPr>
              <a:t>HttpContext</a:t>
            </a:r>
            <a:endParaRPr lang="en-US" sz="4000" dirty="0">
              <a:gradFill>
                <a:gsLst>
                  <a:gs pos="1250">
                    <a:srgbClr val="FFB900"/>
                  </a:gs>
                  <a:gs pos="100000">
                    <a:srgbClr val="FFB900"/>
                  </a:gs>
                </a:gsLst>
                <a:lin ang="5400000" scaled="0"/>
              </a:gra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6ED643-28AE-CA3B-DF4A-22D71CCE531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4702" y="1630496"/>
            <a:ext cx="11888787" cy="2850011"/>
          </a:xfrm>
        </p:spPr>
        <p:txBody>
          <a:bodyPr/>
          <a:lstStyle/>
          <a:p>
            <a:r>
              <a:rPr lang="en-US" dirty="0"/>
              <a:t>Contains Request / Response Information</a:t>
            </a:r>
          </a:p>
          <a:p>
            <a:pPr lvl="1"/>
            <a:r>
              <a:rPr lang="en-US" dirty="0" err="1"/>
              <a:t>Eg</a:t>
            </a:r>
            <a:r>
              <a:rPr lang="en-US" dirty="0"/>
              <a:t> Request headers, Cookies, Session</a:t>
            </a:r>
          </a:p>
          <a:p>
            <a:r>
              <a:rPr lang="en-US" dirty="0"/>
              <a:t>Scoped to the HTTP Request</a:t>
            </a:r>
          </a:p>
          <a:p>
            <a:pPr lvl="1"/>
            <a:r>
              <a:rPr lang="en-US" dirty="0"/>
              <a:t>“Request-scoped services”</a:t>
            </a:r>
          </a:p>
          <a:p>
            <a:r>
              <a:rPr lang="en-US" dirty="0"/>
              <a:t>Retrieved via </a:t>
            </a:r>
            <a:r>
              <a:rPr lang="en-US" dirty="0" err="1"/>
              <a:t>IHttpContextAccessor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63274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DEF65C-EAF8-FB56-566C-487DB668AE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026D51-23D8-CCC7-D411-773C84B3D5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SynchronizationContext</a:t>
            </a:r>
            <a:br>
              <a:rPr lang="en-US" dirty="0"/>
            </a:br>
            <a:r>
              <a:rPr lang="en-US" sz="3600" dirty="0">
                <a:gradFill>
                  <a:gsLst>
                    <a:gs pos="1250">
                      <a:srgbClr val="FFB900"/>
                    </a:gs>
                    <a:gs pos="100000">
                      <a:srgbClr val="FFB900"/>
                    </a:gs>
                  </a:gsLst>
                  <a:lin ang="5400000" scaled="0"/>
                </a:gradFill>
              </a:rPr>
              <a:t>*</a:t>
            </a:r>
            <a:r>
              <a:rPr lang="en-US" sz="3600" dirty="0" err="1">
                <a:gradFill>
                  <a:gsLst>
                    <a:gs pos="1250">
                      <a:srgbClr val="FFB900"/>
                    </a:gs>
                    <a:gs pos="100000">
                      <a:srgbClr val="FFB900"/>
                    </a:gs>
                  </a:gsLst>
                  <a:lin ang="5400000" scaled="0"/>
                </a:gradFill>
              </a:rPr>
              <a:t>Blazor</a:t>
            </a:r>
            <a:r>
              <a:rPr lang="en-US" sz="3600" dirty="0">
                <a:gradFill>
                  <a:gsLst>
                    <a:gs pos="1250">
                      <a:srgbClr val="FFB900"/>
                    </a:gs>
                    <a:gs pos="100000">
                      <a:srgbClr val="FFB900"/>
                    </a:gs>
                  </a:gsLst>
                  <a:lin ang="5400000" scaled="0"/>
                </a:gradFill>
              </a:rPr>
              <a:t> Server</a:t>
            </a:r>
            <a:endParaRPr lang="en-US" sz="4000" dirty="0">
              <a:gradFill>
                <a:gsLst>
                  <a:gs pos="1250">
                    <a:srgbClr val="FFB900"/>
                  </a:gs>
                  <a:gs pos="100000">
                    <a:srgbClr val="FFB900"/>
                  </a:gs>
                </a:gsLst>
                <a:lin ang="5400000" scaled="0"/>
              </a:gra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AB0D9B-B7E5-C47A-7866-6E925F5F2FF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4702" y="1630496"/>
            <a:ext cx="11888787" cy="4068806"/>
          </a:xfrm>
        </p:spPr>
        <p:txBody>
          <a:bodyPr/>
          <a:lstStyle/>
          <a:p>
            <a:r>
              <a:rPr lang="en-US" dirty="0"/>
              <a:t>Does contain </a:t>
            </a:r>
            <a:r>
              <a:rPr lang="en-US" dirty="0" err="1"/>
              <a:t>SynchronizationContext</a:t>
            </a:r>
            <a:endParaRPr lang="en-US" dirty="0"/>
          </a:p>
          <a:p>
            <a:r>
              <a:rPr lang="en-US" dirty="0"/>
              <a:t>UI Updates On Server</a:t>
            </a:r>
          </a:p>
          <a:p>
            <a:pPr lvl="1"/>
            <a:r>
              <a:rPr lang="en-US" dirty="0"/>
              <a:t>HTML Sent to Browser for Rendering</a:t>
            </a:r>
          </a:p>
          <a:p>
            <a:r>
              <a:rPr lang="en-US" dirty="0"/>
              <a:t>Client app connects to Server via </a:t>
            </a:r>
            <a:r>
              <a:rPr lang="en-US" dirty="0" err="1"/>
              <a:t>SignalR</a:t>
            </a:r>
            <a:endParaRPr lang="en-US" dirty="0"/>
          </a:p>
          <a:p>
            <a:pPr lvl="1"/>
            <a:r>
              <a:rPr lang="en-US" dirty="0"/>
              <a:t>Bidirectional communication via WebSocket protocol</a:t>
            </a:r>
          </a:p>
          <a:p>
            <a:r>
              <a:rPr lang="en-US" dirty="0"/>
              <a:t>User events sent to server for processing</a:t>
            </a:r>
          </a:p>
          <a:p>
            <a:pPr lvl="1"/>
            <a:r>
              <a:rPr lang="en-US" dirty="0" err="1"/>
              <a:t>eg</a:t>
            </a:r>
            <a:r>
              <a:rPr lang="en-US" dirty="0"/>
              <a:t> Button click</a:t>
            </a:r>
          </a:p>
        </p:txBody>
      </p:sp>
    </p:spTree>
    <p:extLst>
      <p:ext uri="{BB962C8B-B14F-4D97-AF65-F5344CB8AC3E}">
        <p14:creationId xmlns:p14="http://schemas.microsoft.com/office/powerpoint/2010/main" val="31451881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839309-FC38-5D5F-FBA0-7238E75D80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47713C-7DB8-EDF6-E625-9BDB16ACDD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SynchronizationContext</a:t>
            </a:r>
            <a:br>
              <a:rPr lang="en-US" dirty="0"/>
            </a:br>
            <a:r>
              <a:rPr lang="en-US" sz="3600" dirty="0">
                <a:gradFill>
                  <a:gsLst>
                    <a:gs pos="1250">
                      <a:srgbClr val="FFB900"/>
                    </a:gs>
                    <a:gs pos="100000">
                      <a:srgbClr val="FFB900"/>
                    </a:gs>
                  </a:gsLst>
                  <a:lin ang="5400000" scaled="0"/>
                </a:gradFill>
              </a:rPr>
              <a:t>*</a:t>
            </a:r>
            <a:r>
              <a:rPr lang="en-US" sz="3600" dirty="0" err="1">
                <a:gradFill>
                  <a:gsLst>
                    <a:gs pos="1250">
                      <a:srgbClr val="FFB900"/>
                    </a:gs>
                    <a:gs pos="100000">
                      <a:srgbClr val="FFB900"/>
                    </a:gs>
                  </a:gsLst>
                  <a:lin ang="5400000" scaled="0"/>
                </a:gradFill>
              </a:rPr>
              <a:t>Blazor</a:t>
            </a:r>
            <a:r>
              <a:rPr lang="en-US" sz="3600" dirty="0">
                <a:gradFill>
                  <a:gsLst>
                    <a:gs pos="1250">
                      <a:srgbClr val="FFB900"/>
                    </a:gs>
                    <a:gs pos="100000">
                      <a:srgbClr val="FFB900"/>
                    </a:gs>
                  </a:gsLst>
                  <a:lin ang="5400000" scaled="0"/>
                </a:gradFill>
              </a:rPr>
              <a:t> </a:t>
            </a:r>
            <a:r>
              <a:rPr lang="en-US" sz="3600" dirty="0" err="1">
                <a:gradFill>
                  <a:gsLst>
                    <a:gs pos="1250">
                      <a:srgbClr val="FFB900"/>
                    </a:gs>
                    <a:gs pos="100000">
                      <a:srgbClr val="FFB900"/>
                    </a:gs>
                  </a:gsLst>
                  <a:lin ang="5400000" scaled="0"/>
                </a:gradFill>
              </a:rPr>
              <a:t>WebAssembly</a:t>
            </a:r>
            <a:endParaRPr lang="en-US" sz="4000" dirty="0">
              <a:gradFill>
                <a:gsLst>
                  <a:gs pos="1250">
                    <a:srgbClr val="FFB900"/>
                  </a:gs>
                  <a:gs pos="100000">
                    <a:srgbClr val="FFB900"/>
                  </a:gs>
                </a:gsLst>
                <a:lin ang="5400000" scaled="0"/>
              </a:gra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92793F-5B6C-CFCC-3722-AFC9798BC26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4702" y="1630496"/>
            <a:ext cx="11888787" cy="2240613"/>
          </a:xfrm>
        </p:spPr>
        <p:txBody>
          <a:bodyPr/>
          <a:lstStyle/>
          <a:p>
            <a:r>
              <a:rPr lang="en-US" dirty="0"/>
              <a:t>Does contain </a:t>
            </a:r>
            <a:r>
              <a:rPr lang="en-US" dirty="0" err="1"/>
              <a:t>SynchronizationContext</a:t>
            </a:r>
            <a:endParaRPr lang="en-US" dirty="0"/>
          </a:p>
          <a:p>
            <a:r>
              <a:rPr lang="en-US" dirty="0"/>
              <a:t>UI updates via Browser’s Event Loop</a:t>
            </a:r>
          </a:p>
          <a:p>
            <a:pPr lvl="1"/>
            <a:r>
              <a:rPr lang="en-US" dirty="0"/>
              <a:t>UI Components (.razor) each rendered independently </a:t>
            </a:r>
          </a:p>
          <a:p>
            <a:pPr lvl="1"/>
            <a:r>
              <a:rPr lang="en-US" dirty="0"/>
              <a:t>Batches UI updates on the Render Queue</a:t>
            </a:r>
          </a:p>
        </p:txBody>
      </p:sp>
    </p:spTree>
    <p:extLst>
      <p:ext uri="{BB962C8B-B14F-4D97-AF65-F5344CB8AC3E}">
        <p14:creationId xmlns:p14="http://schemas.microsoft.com/office/powerpoint/2010/main" val="25959014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APEX Template 2017 ">
  <a:themeElements>
    <a:clrScheme name="Custom 79">
      <a:dk1>
        <a:srgbClr val="353535"/>
      </a:dk1>
      <a:lt1>
        <a:srgbClr val="FFFFFF"/>
      </a:lt1>
      <a:dk2>
        <a:srgbClr val="353535"/>
      </a:dk2>
      <a:lt2>
        <a:srgbClr val="FFFFFF"/>
      </a:lt2>
      <a:accent1>
        <a:srgbClr val="FFB900"/>
      </a:accent1>
      <a:accent2>
        <a:srgbClr val="B4009E"/>
      </a:accent2>
      <a:accent3>
        <a:srgbClr val="0078D7"/>
      </a:accent3>
      <a:accent4>
        <a:srgbClr val="00BCF2"/>
      </a:accent4>
      <a:accent5>
        <a:srgbClr val="B4A0FF"/>
      </a:accent5>
      <a:accent6>
        <a:srgbClr val="00B294"/>
      </a:accent6>
      <a:hlink>
        <a:srgbClr val="00BCF2"/>
      </a:hlink>
      <a:folHlink>
        <a:srgbClr val="00BCF2"/>
      </a:folHlink>
    </a:clrScheme>
    <a:fontScheme name="Segoe UI Light - Segoe UI Semilight">
      <a:majorFont>
        <a:latin typeface="Segoe UI Light"/>
        <a:ea typeface=""/>
        <a:cs typeface=""/>
      </a:majorFont>
      <a:minorFont>
        <a:latin typeface="Segoe UI Semilight"/>
        <a:ea typeface=""/>
        <a:cs typeface="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>
          <a:noFill/>
          <a:headEnd type="none" w="med" len="med"/>
          <a:tailEnd type="none" w="med" len="med"/>
        </a:ln>
        <a:effectLst/>
      </a:spPr>
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<a:prstTxWarp prst="textNoShape">
          <a:avLst/>
        </a:prstTxWarp>
        <a:noAutofit/>
      </a:bodyPr>
      <a:lstStyle>
        <a:defPPr defTabSz="932472" fontAlgn="base">
          <a:lnSpc>
            <a:spcPct val="90000"/>
          </a:lnSpc>
          <a:spcBef>
            <a:spcPct val="0"/>
          </a:spcBef>
          <a:spcAft>
            <a:spcPct val="0"/>
          </a:spcAft>
          <a:defRPr sz="2400" dirty="0" err="1" smtClean="0">
            <a:gradFill>
              <a:gsLst>
                <a:gs pos="0">
                  <a:srgbClr val="FFFFFF"/>
                </a:gs>
                <a:gs pos="100000">
                  <a:srgbClr val="FFFFFF"/>
                </a:gs>
              </a:gsLst>
              <a:lin ang="5400000" scaled="0"/>
            </a:gradFill>
            <a:ea typeface="Segoe UI" pitchFamily="34" charset="0"/>
            <a:cs typeface="Segoe UI" pitchFamily="34" charset="0"/>
          </a:defRPr>
        </a:defPPr>
      </a:lstStyle>
      <a:style>
        <a:lnRef idx="1">
          <a:schemeClr val="accent2"/>
        </a:lnRef>
        <a:fillRef idx="3">
          <a:schemeClr val="accent2"/>
        </a:fillRef>
        <a:effectRef idx="2">
          <a:schemeClr val="accent2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headEnd type="none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182880" tIns="146304" rIns="182880" bIns="146304" rtlCol="0">
        <a:spAutoFit/>
      </a:bodyPr>
      <a:lstStyle>
        <a:defPPr>
          <a:lnSpc>
            <a:spcPct val="90000"/>
          </a:lnSpc>
          <a:spcAft>
            <a:spcPts val="600"/>
          </a:spcAft>
          <a:defRPr sz="2400" dirty="0" err="1" smtClean="0">
            <a:gradFill>
              <a:gsLst>
                <a:gs pos="2917">
                  <a:schemeClr val="tx1"/>
                </a:gs>
                <a:gs pos="30000">
                  <a:schemeClr val="tx1"/>
                </a:gs>
              </a:gsLst>
              <a:lin ang="5400000" scaled="0"/>
            </a:gra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3" id="{71239882-4395-4F1E-A7A4-B9823733F26A}" vid="{F3DECCDB-D108-476B-BDE8-0D4C8C1A03CE}"/>
    </a:ext>
  </a:extLst>
</a:theme>
</file>

<file path=ppt/theme/theme2.xml><?xml version="1.0" encoding="utf-8"?>
<a:theme xmlns:a="http://schemas.openxmlformats.org/drawingml/2006/main" name="2_APEX Template 2017 ">
  <a:themeElements>
    <a:clrScheme name="Custom 79">
      <a:dk1>
        <a:srgbClr val="353535"/>
      </a:dk1>
      <a:lt1>
        <a:srgbClr val="FFFFFF"/>
      </a:lt1>
      <a:dk2>
        <a:srgbClr val="353535"/>
      </a:dk2>
      <a:lt2>
        <a:srgbClr val="FFFFFF"/>
      </a:lt2>
      <a:accent1>
        <a:srgbClr val="FFB900"/>
      </a:accent1>
      <a:accent2>
        <a:srgbClr val="B4009E"/>
      </a:accent2>
      <a:accent3>
        <a:srgbClr val="0078D7"/>
      </a:accent3>
      <a:accent4>
        <a:srgbClr val="00BCF2"/>
      </a:accent4>
      <a:accent5>
        <a:srgbClr val="B4A0FF"/>
      </a:accent5>
      <a:accent6>
        <a:srgbClr val="00B294"/>
      </a:accent6>
      <a:hlink>
        <a:srgbClr val="00BCF2"/>
      </a:hlink>
      <a:folHlink>
        <a:srgbClr val="00BCF2"/>
      </a:folHlink>
    </a:clrScheme>
    <a:fontScheme name="Segoe UI Light - Segoe UI Semilight">
      <a:majorFont>
        <a:latin typeface="Segoe UI Light"/>
        <a:ea typeface=""/>
        <a:cs typeface=""/>
      </a:majorFont>
      <a:minorFont>
        <a:latin typeface="Segoe UI Semilight"/>
        <a:ea typeface=""/>
        <a:cs typeface="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>
          <a:noFill/>
          <a:headEnd type="none" w="med" len="med"/>
          <a:tailEnd type="none" w="med" len="med"/>
        </a:ln>
        <a:effectLst/>
      </a:spPr>
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<a:prstTxWarp prst="textNoShape">
          <a:avLst/>
        </a:prstTxWarp>
        <a:noAutofit/>
      </a:bodyPr>
      <a:lstStyle>
        <a:defPPr defTabSz="932472" fontAlgn="base">
          <a:lnSpc>
            <a:spcPct val="90000"/>
          </a:lnSpc>
          <a:spcBef>
            <a:spcPct val="0"/>
          </a:spcBef>
          <a:spcAft>
            <a:spcPct val="0"/>
          </a:spcAft>
          <a:defRPr sz="2400" dirty="0" err="1" smtClean="0">
            <a:gradFill>
              <a:gsLst>
                <a:gs pos="0">
                  <a:srgbClr val="FFFFFF"/>
                </a:gs>
                <a:gs pos="100000">
                  <a:srgbClr val="FFFFFF"/>
                </a:gs>
              </a:gsLst>
              <a:lin ang="5400000" scaled="0"/>
            </a:gradFill>
            <a:ea typeface="Segoe UI" pitchFamily="34" charset="0"/>
            <a:cs typeface="Segoe UI" pitchFamily="34" charset="0"/>
          </a:defRPr>
        </a:defPPr>
      </a:lstStyle>
      <a:style>
        <a:lnRef idx="1">
          <a:schemeClr val="accent2"/>
        </a:lnRef>
        <a:fillRef idx="3">
          <a:schemeClr val="accent2"/>
        </a:fillRef>
        <a:effectRef idx="2">
          <a:schemeClr val="accent2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headEnd type="none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182880" tIns="146304" rIns="182880" bIns="146304" rtlCol="0">
        <a:spAutoFit/>
      </a:bodyPr>
      <a:lstStyle>
        <a:defPPr>
          <a:lnSpc>
            <a:spcPct val="90000"/>
          </a:lnSpc>
          <a:spcAft>
            <a:spcPts val="600"/>
          </a:spcAft>
          <a:defRPr sz="2400" dirty="0" err="1" smtClean="0">
            <a:gradFill>
              <a:gsLst>
                <a:gs pos="2917">
                  <a:schemeClr val="tx1"/>
                </a:gs>
                <a:gs pos="30000">
                  <a:schemeClr val="tx1"/>
                </a:gs>
              </a:gsLst>
              <a:lin ang="5400000" scaled="0"/>
            </a:gra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3" id="{71239882-4395-4F1E-A7A4-B9823733F26A}" vid="{F3DECCDB-D108-476B-BDE8-0D4C8C1A03CE}"/>
    </a:ext>
  </a:extLst>
</a:theme>
</file>

<file path=ppt/theme/theme3.xml><?xml version="1.0" encoding="utf-8"?>
<a:theme xmlns:a="http://schemas.openxmlformats.org/drawingml/2006/main" name="1_APEX Template 2017 ">
  <a:themeElements>
    <a:clrScheme name="Custom 79">
      <a:dk1>
        <a:srgbClr val="353535"/>
      </a:dk1>
      <a:lt1>
        <a:srgbClr val="FFFFFF"/>
      </a:lt1>
      <a:dk2>
        <a:srgbClr val="353535"/>
      </a:dk2>
      <a:lt2>
        <a:srgbClr val="FFFFFF"/>
      </a:lt2>
      <a:accent1>
        <a:srgbClr val="FFB900"/>
      </a:accent1>
      <a:accent2>
        <a:srgbClr val="B4009E"/>
      </a:accent2>
      <a:accent3>
        <a:srgbClr val="0078D7"/>
      </a:accent3>
      <a:accent4>
        <a:srgbClr val="00BCF2"/>
      </a:accent4>
      <a:accent5>
        <a:srgbClr val="B4A0FF"/>
      </a:accent5>
      <a:accent6>
        <a:srgbClr val="00B294"/>
      </a:accent6>
      <a:hlink>
        <a:srgbClr val="00BCF2"/>
      </a:hlink>
      <a:folHlink>
        <a:srgbClr val="00BCF2"/>
      </a:folHlink>
    </a:clrScheme>
    <a:fontScheme name="Segoe UI Light - Segoe UI Semilight">
      <a:majorFont>
        <a:latin typeface="Segoe UI Light"/>
        <a:ea typeface=""/>
        <a:cs typeface=""/>
      </a:majorFont>
      <a:minorFont>
        <a:latin typeface="Segoe UI Semilight"/>
        <a:ea typeface=""/>
        <a:cs typeface="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>
          <a:noFill/>
          <a:headEnd type="none" w="med" len="med"/>
          <a:tailEnd type="none" w="med" len="med"/>
        </a:ln>
        <a:effectLst/>
      </a:spPr>
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<a:prstTxWarp prst="textNoShape">
          <a:avLst/>
        </a:prstTxWarp>
        <a:noAutofit/>
      </a:bodyPr>
      <a:lstStyle>
        <a:defPPr defTabSz="932472" fontAlgn="base">
          <a:lnSpc>
            <a:spcPct val="90000"/>
          </a:lnSpc>
          <a:spcBef>
            <a:spcPct val="0"/>
          </a:spcBef>
          <a:spcAft>
            <a:spcPct val="0"/>
          </a:spcAft>
          <a:defRPr sz="2400" dirty="0" err="1" smtClean="0">
            <a:gradFill>
              <a:gsLst>
                <a:gs pos="0">
                  <a:srgbClr val="FFFFFF"/>
                </a:gs>
                <a:gs pos="100000">
                  <a:srgbClr val="FFFFFF"/>
                </a:gs>
              </a:gsLst>
              <a:lin ang="5400000" scaled="0"/>
            </a:gradFill>
            <a:ea typeface="Segoe UI" pitchFamily="34" charset="0"/>
            <a:cs typeface="Segoe UI" pitchFamily="34" charset="0"/>
          </a:defRPr>
        </a:defPPr>
      </a:lstStyle>
      <a:style>
        <a:lnRef idx="1">
          <a:schemeClr val="accent2"/>
        </a:lnRef>
        <a:fillRef idx="3">
          <a:schemeClr val="accent2"/>
        </a:fillRef>
        <a:effectRef idx="2">
          <a:schemeClr val="accent2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headEnd type="none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182880" tIns="146304" rIns="182880" bIns="146304" rtlCol="0">
        <a:spAutoFit/>
      </a:bodyPr>
      <a:lstStyle>
        <a:defPPr>
          <a:lnSpc>
            <a:spcPct val="90000"/>
          </a:lnSpc>
          <a:spcAft>
            <a:spcPts val="600"/>
          </a:spcAft>
          <a:defRPr sz="2400" dirty="0" err="1" smtClean="0">
            <a:gradFill>
              <a:gsLst>
                <a:gs pos="2917">
                  <a:schemeClr val="tx1"/>
                </a:gs>
                <a:gs pos="30000">
                  <a:schemeClr val="tx1"/>
                </a:gs>
              </a:gsLst>
              <a:lin ang="5400000" scaled="0"/>
            </a:gra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3" id="{71239882-4395-4F1E-A7A4-B9823733F26A}" vid="{F3DECCDB-D108-476B-BDE8-0D4C8C1A03CE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33D2391BFF58241AEB203BD95DC1F89" ma:contentTypeVersion="16" ma:contentTypeDescription="Create a new document." ma:contentTypeScope="" ma:versionID="bd4b5e6fa70efd11586bd069caa6259f">
  <xsd:schema xmlns:xsd="http://www.w3.org/2001/XMLSchema" xmlns:xs="http://www.w3.org/2001/XMLSchema" xmlns:p="http://schemas.microsoft.com/office/2006/metadata/properties" xmlns:ns1="http://schemas.microsoft.com/sharepoint/v3" xmlns:ns2="16dc66bd-df5a-4495-a5c9-5e296f49988a" xmlns:ns3="12239fb0-26c0-4a37-b790-6c81fba9d0fc" targetNamespace="http://schemas.microsoft.com/office/2006/metadata/properties" ma:root="true" ma:fieldsID="1236f19879e555dfdef409a5be7c6d72" ns1:_="" ns2:_="" ns3:_="">
    <xsd:import namespace="http://schemas.microsoft.com/sharepoint/v3"/>
    <xsd:import namespace="16dc66bd-df5a-4495-a5c9-5e296f49988a"/>
    <xsd:import namespace="12239fb0-26c0-4a37-b790-6c81fba9d0f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DateTaken" minOccurs="0"/>
                <xsd:element ref="ns3:SharedWithUsers" minOccurs="0"/>
                <xsd:element ref="ns3:SharedWithDetails" minOccurs="0"/>
                <xsd:element ref="ns3:LastSharedByUser" minOccurs="0"/>
                <xsd:element ref="ns3:LastSharedByTime" minOccurs="0"/>
                <xsd:element ref="ns2:MediaServiceOCR" minOccurs="0"/>
                <xsd:element ref="ns2:MediaServiceLocation" minOccurs="0"/>
                <xsd:element ref="ns2:MediaServiceEventHashCode" minOccurs="0"/>
                <xsd:element ref="ns2:MediaServiceGenerationTime" minOccurs="0"/>
                <xsd:element ref="ns2:MediaServiceAutoKeyPoints" minOccurs="0"/>
                <xsd:element ref="ns2:MediaServiceKeyPoints" minOccurs="0"/>
                <xsd:element ref="ns1:_ip_UnifiedCompliancePolicyProperties" minOccurs="0"/>
                <xsd:element ref="ns1:_ip_UnifiedCompliancePolicyUIAc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2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3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dc66bd-df5a-4495-a5c9-5e296f49988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MediaServiceAutoTags" ma:description="" ma:internalName="MediaServiceAutoTags" ma:readOnly="true">
      <xsd:simpleType>
        <xsd:restriction base="dms:Text"/>
      </xsd:simpleType>
    </xsd:element>
    <xsd:element name="MediaServiceDateTaken" ma:index="11" nillable="true" ma:displayName="MediaServiceDateTaken" ma:description="" ma:hidden="true" ma:internalName="MediaServiceDateTaken" ma:readOnly="true">
      <xsd:simpleType>
        <xsd:restriction base="dms:Text"/>
      </xsd:simpleType>
    </xsd:element>
    <xsd:element name="MediaServiceOCR" ma:index="16" nillable="true" ma:displayName="MediaServiceOCR" ma:description="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7" nillable="true" ma:displayName="MediaServiceLocation" ma:description="" ma:internalName="MediaServiceLocation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2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1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2239fb0-26c0-4a37-b790-6c81fba9d0fc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description="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description="" ma:internalName="SharedWithDetails" ma:readOnly="true">
      <xsd:simpleType>
        <xsd:restriction base="dms:Note">
          <xsd:maxLength value="255"/>
        </xsd:restriction>
      </xsd:simpleType>
    </xsd:element>
    <xsd:element name="LastSharedByUser" ma:index="14" nillable="true" ma:displayName="Last Shared By User" ma:description="" ma:hidden="true" ma:internalName="LastSharedByUser" ma:readOnly="true">
      <xsd:simpleType>
        <xsd:restriction base="dms:Note"/>
      </xsd:simpleType>
    </xsd:element>
    <xsd:element name="LastSharedByTime" ma:index="15" nillable="true" ma:displayName="Last Shared By Time" ma:description="" ma:hidden="true" ma:internalName="LastSharedByTime" ma:readOnly="true">
      <xsd:simpleType>
        <xsd:restriction base="dms:DateTim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MediaServiceKeyPoints xmlns="16dc66bd-df5a-4495-a5c9-5e296f49988a" xsi:nil="true"/>
    <_ip_UnifiedCompliancePolicyProperties xmlns="http://schemas.microsoft.com/sharepoint/v3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F517AA3B-FC88-46DF-B5BA-DC6634CFCC94}">
  <ds:schemaRefs>
    <ds:schemaRef ds:uri="12239fb0-26c0-4a37-b790-6c81fba9d0fc"/>
    <ds:schemaRef ds:uri="16dc66bd-df5a-4495-a5c9-5e296f49988a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B59C5458-A72E-4627-9FFC-D350DCB4700F}">
  <ds:schemaRefs>
    <ds:schemaRef ds:uri="http://schemas.microsoft.com/office/2006/metadata/properties"/>
    <ds:schemaRef ds:uri="http://schemas.openxmlformats.org/package/2006/metadata/core-properties"/>
    <ds:schemaRef ds:uri="http://purl.org/dc/dcmitype/"/>
    <ds:schemaRef ds:uri="http://schemas.microsoft.com/office/infopath/2007/PartnerControls"/>
    <ds:schemaRef ds:uri="http://schemas.microsoft.com/sharepoint/v3"/>
    <ds:schemaRef ds:uri="http://purl.org/dc/elements/1.1/"/>
    <ds:schemaRef ds:uri="http://schemas.microsoft.com/office/2006/documentManagement/types"/>
    <ds:schemaRef ds:uri="12239fb0-26c0-4a37-b790-6c81fba9d0fc"/>
    <ds:schemaRef ds:uri="16dc66bd-df5a-4495-a5c9-5e296f49988a"/>
    <ds:schemaRef ds:uri="http://www.w3.org/XML/1998/namespace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758FDAC0-319D-4A54-8D8E-1D42CB1F8004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f42aa342-8706-4288-bd11-ebb85995028c}" enabled="1" method="Privilege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3134_APEX_template_r03</Template>
  <TotalTime>13169</TotalTime>
  <Words>2709</Words>
  <Application>Microsoft Macintosh PowerPoint</Application>
  <PresentationFormat>Custom</PresentationFormat>
  <Paragraphs>204</Paragraphs>
  <Slides>10</Slides>
  <Notes>10</Notes>
  <HiddenSlides>1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10</vt:i4>
      </vt:variant>
    </vt:vector>
  </HeadingPairs>
  <TitlesOfParts>
    <vt:vector size="21" baseType="lpstr">
      <vt:lpstr>-webkit-standard</vt:lpstr>
      <vt:lpstr>Arial</vt:lpstr>
      <vt:lpstr>Lucida Console</vt:lpstr>
      <vt:lpstr>Menlo</vt:lpstr>
      <vt:lpstr>Segoe UI</vt:lpstr>
      <vt:lpstr>Segoe UI Light</vt:lpstr>
      <vt:lpstr>Segoe UI Semilight</vt:lpstr>
      <vt:lpstr>Wingdings</vt:lpstr>
      <vt:lpstr>APEX Template 2017 </vt:lpstr>
      <vt:lpstr>2_APEX Template 2017 </vt:lpstr>
      <vt:lpstr>1_APEX Template 2017 </vt:lpstr>
      <vt:lpstr>Deep Dive: .NET Internals</vt:lpstr>
      <vt:lpstr>ThreadStatic [ThreadStatic]</vt:lpstr>
      <vt:lpstr>Security System.Security.Principal</vt:lpstr>
      <vt:lpstr>ExecutionContext All Information Required for a Logical Thread</vt:lpstr>
      <vt:lpstr>ExecutionContext AsyncLocal&lt;T&gt;</vt:lpstr>
      <vt:lpstr>SynchronizationContext Manages Asynchronous Code Execution</vt:lpstr>
      <vt:lpstr>SynchronizationContext *ASP.NET Core MVC</vt:lpstr>
      <vt:lpstr>SynchronizationContext *ASP.NET Core HttpContext</vt:lpstr>
      <vt:lpstr>SynchronizationContext *Blazor Server</vt:lpstr>
      <vt:lpstr>SynchronizationContext *Blazor WebAssembly</vt:lpstr>
    </vt:vector>
  </TitlesOfParts>
  <Manager/>
  <Company>Microsoft Corporation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title</dc:title>
  <dc:subject>&lt;Speech title here&gt;</dc:subject>
  <dc:creator>Trine Thogersen</dc:creator>
  <cp:keywords/>
  <dc:description>Template: _x000d_
Formatting: _x000d_
Audience Type:</dc:description>
  <cp:lastModifiedBy>Brandon Minnick</cp:lastModifiedBy>
  <cp:revision>226</cp:revision>
  <dcterms:created xsi:type="dcterms:W3CDTF">2017-10-31T19:47:21Z</dcterms:created>
  <dcterms:modified xsi:type="dcterms:W3CDTF">2026-01-23T22:11:50Z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0x010100A33D2391BFF58241AEB203BD95DC1F89</vt:lpwstr>
  </property>
  <property fmtid="{D5CDD505-2E9C-101B-9397-08002B2CF9AE}" pid="3" name="Product">
    <vt:lpwstr/>
  </property>
  <property fmtid="{D5CDD505-2E9C-101B-9397-08002B2CF9AE}" pid="4" name="Event1">
    <vt:lpwstr>622;#Unassigned|2c8af875-f38a-40b8-a0a9-056aed3fc8c0</vt:lpwstr>
  </property>
  <property fmtid="{D5CDD505-2E9C-101B-9397-08002B2CF9AE}" pid="5" name="Audience">
    <vt:lpwstr/>
  </property>
  <property fmtid="{D5CDD505-2E9C-101B-9397-08002B2CF9AE}" pid="6" name="Event Venue">
    <vt:lpwstr/>
  </property>
  <property fmtid="{D5CDD505-2E9C-101B-9397-08002B2CF9AE}" pid="7" name="Track">
    <vt:lpwstr/>
  </property>
  <property fmtid="{D5CDD505-2E9C-101B-9397-08002B2CF9AE}" pid="8" name="Event Location">
    <vt:lpwstr/>
  </property>
  <property fmtid="{D5CDD505-2E9C-101B-9397-08002B2CF9AE}" pid="9" name="Campaign">
    <vt:lpwstr/>
  </property>
  <property fmtid="{D5CDD505-2E9C-101B-9397-08002B2CF9AE}" pid="10" name="IsMyDocuments">
    <vt:bool>true</vt:bool>
  </property>
  <property fmtid="{D5CDD505-2E9C-101B-9397-08002B2CF9AE}" pid="11" name="MSIP_Label_f42aa342-8706-4288-bd11-ebb85995028c_Enabled">
    <vt:lpwstr>True</vt:lpwstr>
  </property>
  <property fmtid="{D5CDD505-2E9C-101B-9397-08002B2CF9AE}" pid="12" name="MSIP_Label_f42aa342-8706-4288-bd11-ebb85995028c_SiteId">
    <vt:lpwstr>72f988bf-86f1-41af-91ab-2d7cd011db47</vt:lpwstr>
  </property>
  <property fmtid="{D5CDD505-2E9C-101B-9397-08002B2CF9AE}" pid="13" name="MSIP_Label_f42aa342-8706-4288-bd11-ebb85995028c_Owner">
    <vt:lpwstr>maprende@microsoft.com</vt:lpwstr>
  </property>
  <property fmtid="{D5CDD505-2E9C-101B-9397-08002B2CF9AE}" pid="14" name="MSIP_Label_f42aa342-8706-4288-bd11-ebb85995028c_SetDate">
    <vt:lpwstr>2018-04-03T18:59:45.4491218Z</vt:lpwstr>
  </property>
  <property fmtid="{D5CDD505-2E9C-101B-9397-08002B2CF9AE}" pid="15" name="MSIP_Label_f42aa342-8706-4288-bd11-ebb85995028c_Name">
    <vt:lpwstr>General</vt:lpwstr>
  </property>
  <property fmtid="{D5CDD505-2E9C-101B-9397-08002B2CF9AE}" pid="16" name="MSIP_Label_f42aa342-8706-4288-bd11-ebb85995028c_Application">
    <vt:lpwstr>Microsoft Azure Information Protection</vt:lpwstr>
  </property>
  <property fmtid="{D5CDD505-2E9C-101B-9397-08002B2CF9AE}" pid="17" name="MSIP_Label_f42aa342-8706-4288-bd11-ebb85995028c_Extended_MSFT_Method">
    <vt:lpwstr>Automatic</vt:lpwstr>
  </property>
  <property fmtid="{D5CDD505-2E9C-101B-9397-08002B2CF9AE}" pid="18" name="Sensitivity">
    <vt:lpwstr>General</vt:lpwstr>
  </property>
</Properties>
</file>