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14"/>
    <p:sldId id="257" r:id="rId15"/>
    <p:sldId id="258" r:id="rId16"/>
    <p:sldId id="259" r:id="rId17"/>
    <p:sldId id="260" r:id="rId18"/>
    <p:sldId id="261" r:id="rId19"/>
    <p:sldId id="262" r:id="rId20"/>
    <p:sldId id="263" r:id="rId21"/>
    <p:sldId id="264" r:id="rId13"/>
    <p:sldId id="265" r:id="rId12"/>
    <p:sldId id="266" r:id="rId11"/>
    <p:sldId id="267" r:id="rId10"/>
    <p:sldId id="268" r:id="rId9"/>
    <p:sldId id="269" r:id="rId8"/>
    <p:sldId id="270" r:id="rId7"/>
    <p:sldId id="271" r:id="rId29"/>
    <p:sldId id="272" r:id="rId3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20"/>
    <p:restoredTop sz="80531"/>
  </p:normalViewPr>
  <p:slideViewPr>
    <p:cSldViewPr snapToGrid="0">
      <p:cViewPr varScale="1">
        <p:scale>
          <a:sx n="273" d="100"/>
          <a:sy n="273" d="100"/>
        </p:scale>
        <p:origin x="4040"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5.xml"/><Relationship Id="rId8" Type="http://schemas.openxmlformats.org/officeDocument/2006/relationships/slide" Target="slides/slide14.xml"/><Relationship Id="rId9" Type="http://schemas.openxmlformats.org/officeDocument/2006/relationships/slide" Target="slides/slide13.xml"/><Relationship Id="rId10" Type="http://schemas.openxmlformats.org/officeDocument/2006/relationships/slide" Target="slides/slide12.xml"/><Relationship Id="rId11" Type="http://schemas.openxmlformats.org/officeDocument/2006/relationships/slide" Target="slides/slide11.xml"/><Relationship Id="rId12" Type="http://schemas.openxmlformats.org/officeDocument/2006/relationships/slide" Target="slides/slide10.xml"/><Relationship Id="rId13" Type="http://schemas.openxmlformats.org/officeDocument/2006/relationships/slide" Target="slides/slide9.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6.xml"/><Relationship Id="rId30"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9/6/26 7:46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9/6/26 7:44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data parallelism. So far today you have used many threads by accident and had to make shared state safe, and you have coordinated a handful of independent calls with Task.WhenAll. This section is a different shape of problem. Here you have one operation and thousands of items, and you want every core in the machine working on them at once. .NET gives you two answers. The Parallel class is the imperative one: Invoke, For, ForEach, and the asynchronous siblings ForAsync and ForEachAsync. PLINQ is the declarative one: write the LINQ query you already know, append AsParallel, and the runtime partitions and merges for you. We will cover both, then look at the one trap that makes Parallel.ForEach quietly do nothing at all. That trap is sitting in the app you are about to fix, and it ships more often than you would like to believe. https://learn.microsoft.com/dotnet/standard/parallel-programming/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parallelism, which you saw with Task.WhenAll, splits the steps: inventory here, pricing there, reviews over there. Data parallelism splits the data: one operation applied to every item in a collection, chopped into chunks and handed to different cores. The distinction matters because it changes which tool you reach for. When each item is independent and the body is real CPU work, the Parallel class and PLINQ can give you a speedup close to your core count. That is the ceiling, and it is a hard ceiling. Eight cores will not give you sixteen times faster, and neither will asking for a hundred threads. Environment.ProcessorCount is the number you are trying to take advantage of, and it is the number the sample app prints in its header so you can watch how much of the machine you are leaving idle. https://learn.microsoft.com/dotnet/standard/parallel-programming/data-parallelism-task-parallel-library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you will fix. ImportPortal reads the nightly order file, scores every row for risk, enriches every row with a customer tier from an internal API, and summarizes by region. Two of those stages are wrong, for two different reasons. Validation is correct but slow: it scores 4,000 rows on a single thread in 2.12 seconds while the rest of the machine does nothing. Enrichment is fast and useless: it reports 0 of 4,000 rows in 0.01 seconds, which is the honest cost of starting 4,000 things and waiting for none of them. The part that gets people is the last bullet. This compiles with zero warnings, throws nothing, logs nothing, and reports success. The only signal you get is a column full of nulls in production. Keep this slide in mind for the next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Parallel.Invoke is the simplest member of the class. Hand it several actions, or an Action array, and it runs them in parallel and returns when the last one finishes. It is a blocking call: it does not yield the calling thread, so never put it on a UI thread or in a request handler where you meant to await something. You are probably wondering why not just use Task.WaitAll. Two reasons, and one tradeoff. Performance: Invoke runs one of the actions inline on the calling thread instead of queueing it, and if you pass exactly one action it just runs it. Exception handling: when the loop is cancelled, Invoke collapses the OperationCanceledExceptions into a single OperationCanceledException instead of an AggregateException wrapping them. Every other failure comes back as an AggregateException, exactly like Task.WaitAll, and neither one flattens a nested AggregateException your action threw. The tradeoff is that you never create the tasks yourself, so you have no control over TaskCreationOptions. https://github.com/dotnet/runtime/blob/b146d7512ce67051e127ab48dc2d4f65d30e818f/src/libraries/System.Threading.Tasks.Parallel/src/System/Threading/Tasks/Parallel.cs#L352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Parallel.For is the for loop you already write, with the iterations spread across the thread pool. The range is exclusive at the top, exactly like a normal for loop, and the body receives the index. The rule that makes this safe is visible in the snippet: each iteration touches only the element at its own index, so no iteration can see a value another iteration is writing. If your loop body increments a shared counter or appends to a shared List, this transformation is not safe and you will lose data. Notice the return value. Parallel.For hands back a ParallelLoopResult, and its IsCompleted property tells you whether every iteration ran. It is false when the body called ParallelLoopState.Break or Stop to end the loop early, which is how you check that a parallel loop actually finished its work. https://learn.microsoft.com/dotnet/api/system.threading.tasks.parallelloopresult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Parallel.ForEach is the same idea over an IEnumerable instead of a range. It partitions the source, hands each partition to a thread pool worker, and blocks until every item has been processed. Read the second bullet slowly, because the whole challenge hangs off it. The body parameter is an Action of T. It returns void. There is no overload of Parallel.ForEach that takes a Func returning Task, so there is nothing there that can await your work. Like Parallel.For, it is a blocking call and it does not yield the calling thread, which makes it a poor fit inside a request handler unless you genuinely have CPU work to burn. Every Parallel method has an overload that takes a ParallelOptions, and that is where you set your cancellation token and your concurrency ceiling. The shorter overloads that omit it are the ones that give you no limits at all. https://learn.microsoft.com/dotnet/api/system.threading.tasks.parallel.foreach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ParallelOptions is a small object that carries the two settings you will actually change. MaxDegreeOfParallelism caps how many iterations run at the same time, and it defaults to negative one. Read the sub-bullets carefully, because negative one does not mean the same thing everywhere. For Parallel.For, ForEach and Invoke it means the runtime decides, limited only by the thread pool. For the asynchronous overloads, ForAsync and ForEachAsync, negative one is converted to Environment.ProcessorCount, so leaving it alone quietly caps I/O work at your core count, which is usually far too low. Set it deliberately. CancellationToken lets the loop stop between iterations, and the Parallel call then throws OperationCanceledException instead of quietly leaving half the work running. There is a third property, TaskScheduler, which you will almost never set. Create one options object per kind of work, not one per method: CPU-bound loops want a ceiling near your core count, and I/O-bound loops want whatever the downstream service tolerates. https://learn.microsoft.com/dotnet/api/system.threading.tasks.paralleloptions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remember from this section, so it is worth reading twice. When you write an async lambda, the compiler picks the delegate type from the context. Bind it to a Func returning Task and you get an async Task method. Bind it to something that returns void, like Action of T, and you get an async void method. The only single-argument body Parallel.ForEach offers is Action of T. It does have Func overloads, but they exist for thread-local accumulation, where the body returns TLocal and never a Task, so there is still nothing for the compiler to bind an async lambda to except Action of T. Async void means the caller has no handle on the work. ForEach invokes your lambda, the lambda runs to its first await, returns immediately, and ForEach considers that item finished. It does this 4,000 times and returns. https://learn.microsoft.com/dotnet/csharp/language-reference/operators/lambda-expressions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it looks like in the wild. Four lines, entirely reasonable at a glance, and reviewers approve it every day. The compiler cannot warn you, because binding an async lambda to Action of T is legal C# and is sometimes what you want, for example an event handler. So there is no squiggle, no CS4014, nothing in the build log. At runtime, Parallel.ForEach starts 4,000 state machines, each of which hits its first await and returns, and ForEach reports that it is done. The measurement you take right after it is meaningless. Do not read nobody waiting for it as harmless. If UploadAsync throws, the state machine rethrows the exception on the captured SynchronizationContext, or on the thread pool when there is none, and an unhandled thread pool exception terminates the process. The try block you carefully wrote around the loop never sees it. The fix is not a lock or a Wait. The fix is the overload that understands asynchronous bodies. https://learn.microsoft.com/dotnet/csharp/asynchronous-programming/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Parallel.ForAsync arrived in .NET 8 and is the asynchronous twin of Parallel.For. It walks a numeric range, but the body is a Func taking the index and a CancellationToken and returning a ValueTask. That signature is the whole point: because the body returns something awaitable, ForAsync can await it, and the Task that ForAsync returns does not complete until every body has completed. So you await ForAsync, and when that await finishes the work is genuinely done. Compare that to Parallel.For, which blocks a thread while it waits. ForAsync does not block: it releases the calling thread the way any other await does, which is what you want inside a request handler or a Blazor component. The same ParallelOptions applies, so you still control cancellation and the maximum number of bodies in flight, and here the default really is your core count. https://learn.microsoft.com/dotnet/api/system.threading.tasks.parallel.forasync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Parallel.ForEachAsync has been in the framework since .NET 6, and it is the method the broken code on the earlier slide wanted. Same collection, same idea, but the body is a Func taking the item and a CancellationToken and returning a ValueTask. Because the body is awaitable, ForEachAsync awaits it, so nothing is lost and exceptions come back to you. It also accepts IAsyncEnumerable of T, which is handy when the source itself is streamed from a database or an API. The last bullet is the one that saves you a production incident. For I/O-bound work, MaxDegreeOfParallelism is not a CPU setting, it is a rate limit. Cores are not the constraint when every body is waiting on a network call, and the default here is your core count, so leaving it alone throttles you rather than protecting anyone. Pick the number your downstream service is willing to take. https://learn.microsoft.com/dotnet/api/system.threading.tasks.parallel.foreachasync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notice. First, the await in front of the call. That is the difference between work that happened and work that was started, and it is why the measurement you take on the next line means something. Second, the degree of parallelism is 64, not Environment.ProcessorCount. Sixty four calls in flight on an eight core machine would be silly for CPU work, but these bodies spend their time waiting on the network, not computing, so cores are the wrong unit. The right number is whatever the service on the other end can absorb without rate limiting you or falling over, and you should be able to say why you picked it. Third, the body receives its own CancellationToken and passes it down. Use that one rather than closing over an outer token: ForEachAsync links your options token with its own and hands you the combined result, so passing it along is what makes cancellation actually stop the calls in flight.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PLINQ is the declarative sibling of the Parallel class. Take a LINQ to Objects query you already have, append AsParallel, and you are now calling into ParallelEnumerable instead of Enumerable. The runtime partitions the source, runs your operators on each partition, and merges the results back into one sequence. Your Where, Select, GroupBy and aggregate calls do not change. Two behaviors do change and you need to know both. Order is not preserved by default, because merging in completion order is faster than merging in source order, so if your output order matters you have to ask for it. And exceptions from different partitions are collected into an AggregateException, so catch that or call Flatten rather than expecting the single exception type you would get from a sequential query. https://learn.microsoft.com/dotnet/standard/parallel-programming/introduction-to-plinq</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operators you will actually reach for. AsOrdered tells PLINQ to preserve the ordering of the source sequence, which costs real time because the merge has to buffer and reorder, so only ask when the order matters, and AsUnordered is the operator that undoes it. AsSequential does not undo AsParallel. It returns a plain IEnumerable, so everything upstream still ran in parallel and only the operators after it run sequentially, which is how you parallelize one expensive stage and finish sequentially where an operator is not worth the trouble. WithDegreeOfParallelism sets maximum concurrency, and PLINQ already defaults to your processor count, so this is the knob you turn down inside a busy web server that has other requests to serve. WithCancellation gives the query a token, and the query then throws OperationCanceledException at the next partition boundary rather than running to completion after the user has already navigated away. https://learn.microsoft.com/dotnet/standard/parallel-programming/order-preservation-in-plinq</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operators for when the defaults are not right. WithMergeOptions controls how results come back from the partitions. NotBuffered makes each element available to the consumer as soon as it is computed, which is what you want when a caller is streaming results into a UI. FullyBuffered accumulates everything before anyone sees a result, which is faster in total but shows nothing until the end. AutoBuffered sits in the middle and is the default. WithExecutionMode addresses something that surprises people: PLINQ analyzes your query, and if it decides the parallel algorithm would be more expensive than just running sequentially, it runs it sequentially. That is usually the right call. When you have measured and you know better, ParallelExecutionMode.ForceParallelism overrides it. Measure first, then force, never the other way around. https://learn.microsoft.com/dotnet/standard/parallel-programming/merge-options-in-plinq</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parallel loop pays for partitioning, thread pool scheduling, and merging. On a few dozen items, or on a body that only formats a string, that overhead is larger than the work and your parallel version is slower than the foreach it replaced. Reach for these tools when the body is genuinely expensive and the collection is genuinely large, and measure before and after rather than assuming. For I/O-bound work, do not block cores with Parallel.ForEach at all: ForEachAsync exists so the threads can go do something else while the network answers. Watch what you point that at, because an unbounded parallel loop is an excellent way to launch a denial of service attack against your own API. And if the loop body touches a shared List, Dictionary or counter, stop. Fixing that is the next section. https://learn.microsoft.com/dotnet/standard/parallel-programming/potential-pitfalls-in-data-and-task-parallelism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turn. Open the starter, run it, and click Run import before you change anything, so you have your own baseline rather than mine. Everything you need to change is in ImportService.cs, in RunImportAsync, and the three ToDo Refactor comments mark the spots. Stage one is pure CPU work with no shared state, so it wants every core. Stage two is I/O, currently async void, and it wants the overload that can await your body plus a sensible ceiling on how many calls you make at once. Stage three is a LINQ query that can become a PLINQ query. Do not change the other services, the model, or the page. When you are done, the Validated and Enriched cards should both read 4,000 of 4,000, and the total should be lower than your baseline even though the app is finally doing the work it used to skip.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gi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em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theme" Target="../theme/theme2.xml"/><Relationship Id="rId4" Type="http://schemas.openxmlformats.org/officeDocument/2006/relationships/image" Target="../media/image1.emf"/><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theme" Target="../theme/theme3.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sz="4000"/>
              <a:t>Data Parallelism</a:t>
            </a:r>
            <a:br>
              <a:rPr lang="en-US" dirty="0" sz="4000"/>
            </a:br>
            <a:r>
              <a:rPr lang="en-US" dirty="0" sz="4000"/>
              <a:t>The Parallel Class and PLINQ</a:t>
            </a:r>
          </a:p>
        </p:txBody>
      </p:sp>
      <p:sp>
        <p:nvSpPr>
          <p:cNvPr id="3" name="Text Placeholder 2"/>
          <p:cNvSpPr>
            <a:spLocks noGrp="1"/>
          </p:cNvSpPr>
          <p:nvPr>
            <p:ph type="body" idx="12" sz="quarter"/>
          </p:nvPr>
        </p:nvSpPr>
        <p:spPr/>
        <p:txBody>
          <a:bodyPr/>
          <a:lstStyle/>
          <a:p>
            <a:r>
              <a:rPr lang="en-US" dirty="0"/>
              <a:t>Brandon Minnick</a:t>
            </a:r>
          </a:p>
          <a:p>
            <a:r>
              <a:rPr lang="en-US" dirty="0" sz="200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Two Kinds of Parallelism</a:t>
            </a:r>
            <a:br>
              <a:rPr lang="en-US" dirty="0"/>
            </a:br>
            <a:r>
              <a:rPr lang="en-US" dirty="0" sz="3600">
                <a:gradFill>
                  <a:gsLst>
                    <a:gs pos="1250">
                      <a:srgbClr val="FFB900"/>
                    </a:gs>
                    <a:gs pos="100000">
                      <a:srgbClr val="FFB900"/>
                    </a:gs>
                  </a:gsLst>
                  <a:lin ang="5400000" scaled="0"/>
                </a:gradFill>
              </a:rPr>
              <a:t>Same Operation, Many Items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One Operation, Thousands of Items</a:t>
            </a:r>
          </a:p>
          <a:p>
            <a:r>
              <a:rPr lang="en-US" dirty="0"/>
              <a:t>Split the Data, Not the Steps</a:t>
            </a:r>
          </a:p>
          <a:p>
            <a:pPr lvl="1"/>
            <a:r>
              <a:rPr lang="en-US" dirty="0"/>
              <a:t>The runtime partitions and schedules for you</a:t>
            </a:r>
          </a:p>
          <a:p>
            <a:r>
              <a:rPr lang="en-US" dirty="0"/>
              <a:t>Best for CPU-bound Work</a:t>
            </a:r>
          </a:p>
          <a:p>
            <a:r>
              <a:rPr lang="en-US" dirty="0"/>
              <a:t>Limited by hardware resources*</a:t>
            </a:r>
          </a:p>
          <a:p>
            <a:pPr lvl="1"/>
            <a:r>
              <a:rPr lang="en-US" dirty="0"/>
              <a:t>*`Environment.ProcessorCount`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The Nightly Import</a:t>
            </a:r>
            <a:br>
              <a:rPr lang="en-US" dirty="0"/>
            </a:br>
            <a:r>
              <a:rPr lang="en-US" dirty="0" sz="3600">
                <a:gradFill>
                  <a:gsLst>
                    <a:gs pos="1250">
                      <a:srgbClr val="FFB900"/>
                    </a:gs>
                    <a:gs pos="100000">
                      <a:srgbClr val="FFB900"/>
                    </a:gs>
                  </a:gsLst>
                  <a:lin ang="5400000" scaled="0"/>
                </a:gradFill>
              </a:rPr>
              <a:t>ImportPortal, and the run nobody was paged for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Read 4,000 rows, score, enrich, summarize</a:t>
            </a:r>
          </a:p>
          <a:p>
            <a:r>
              <a:rPr lang="en-US" dirty="0"/>
              <a:t>Validate: 4,000 of 4,000 in 2.12 seconds</a:t>
            </a:r>
          </a:p>
          <a:p>
            <a:pPr lvl="1"/>
            <a:r>
              <a:rPr lang="en-US" dirty="0"/>
              <a:t>One thread busy, every other core idle</a:t>
            </a:r>
          </a:p>
          <a:p>
            <a:r>
              <a:rPr lang="en-US" dirty="0"/>
              <a:t>Enrich: 0 of 4,000 rows in 0.01 seconds</a:t>
            </a:r>
          </a:p>
          <a:p>
            <a:pPr lvl="1"/>
            <a:r>
              <a:rPr lang="en-US" dirty="0"/>
              <a:t>Fastest stage, zero work done</a:t>
            </a:r>
          </a:p>
          <a:p>
            <a:r>
              <a:rPr lang="en-US" dirty="0"/>
              <a:t>Clean build, zero warnings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Parallel.Invoke()</a:t>
            </a:r>
            <a:br>
              <a:rPr lang="en-US" dirty="0"/>
            </a:br>
            <a:r>
              <a:rPr lang="en-US" dirty="0" sz="360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Runs Multiple Actions in Parallel</a:t>
            </a:r>
          </a:p>
          <a:p>
            <a:r>
              <a:rPr lang="en-US" dirty="0" sz="2800"/>
              <a:t>Blocking Call</a:t>
            </a:r>
          </a:p>
          <a:p>
            <a:pPr lvl="2"/>
            <a:r>
              <a:rPr lang="en-US" dirty="0" sz="2400"/>
              <a:t>Does not yield the calling thread</a:t>
            </a:r>
          </a:p>
        </p:txBody>
      </p:sp>
      <p:pic>
        <p:nvPicPr>
          <p:cNvPr id="4" name="Picture 3" descr="slide04.png"/>
          <p:cNvPicPr>
            <a:picLocks noChangeAspect="1"/>
          </p:cNvPicPr>
          <p:nvPr/>
        </p:nvPicPr>
        <p:blipFill>
          <a:blip r:embed="rId2"/>
          <a:stretch>
            <a:fillRect/>
          </a:stretch>
        </p:blipFill>
        <p:spPr>
          <a:xfrm>
            <a:off x="5577839" y="2233802"/>
            <a:ext cx="6583680" cy="325907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Parallel.For()</a:t>
            </a:r>
            <a:br>
              <a:rPr lang="en-US" dirty="0"/>
            </a:br>
            <a:r>
              <a:rPr lang="en-US" dirty="0" sz="360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Runs a For Loop in Parallel</a:t>
            </a:r>
          </a:p>
          <a:p>
            <a:r>
              <a:rPr lang="en-US" dirty="0" sz="2800"/>
              <a:t>Blocking Call</a:t>
            </a:r>
          </a:p>
          <a:p>
            <a:r>
              <a:rPr lang="en-US" dirty="0" sz="2800"/>
              <a:t>Returns `ParallelLoopResult`</a:t>
            </a:r>
          </a:p>
        </p:txBody>
      </p:sp>
      <p:pic>
        <p:nvPicPr>
          <p:cNvPr id="4" name="Picture 3" descr="slide05.png"/>
          <p:cNvPicPr>
            <a:picLocks noChangeAspect="1"/>
          </p:cNvPicPr>
          <p:nvPr/>
        </p:nvPicPr>
        <p:blipFill>
          <a:blip r:embed="rId2"/>
          <a:stretch>
            <a:fillRect/>
          </a:stretch>
        </p:blipFill>
        <p:spPr>
          <a:xfrm>
            <a:off x="5577839" y="2384634"/>
            <a:ext cx="6583680" cy="295741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Parallel.ForEach()</a:t>
            </a:r>
            <a:br>
              <a:rPr lang="en-US" dirty="0"/>
            </a:br>
            <a:r>
              <a:rPr lang="en-US" dirty="0" sz="360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Runs a ForEach Loop in Parallel</a:t>
            </a:r>
          </a:p>
          <a:p>
            <a:r>
              <a:rPr lang="en-US" dirty="0"/>
              <a:t>Takes an `Action&lt;T&gt;`</a:t>
            </a:r>
          </a:p>
          <a:p>
            <a:pPr lvl="1"/>
            <a:r>
              <a:rPr lang="en-US" dirty="0"/>
              <a:t>Never a `Func&lt;Task&gt;`</a:t>
            </a:r>
          </a:p>
          <a:p>
            <a:r>
              <a:rPr lang="en-US" dirty="0"/>
              <a:t>Blocking Call</a:t>
            </a:r>
          </a:p>
          <a:p>
            <a:pPr lvl="1"/>
            <a:r>
              <a:rPr lang="en-US" dirty="0"/>
              <a:t>Does not yield the calling thread</a:t>
            </a:r>
          </a:p>
          <a:p>
            <a:r>
              <a:rPr lang="en-US" dirty="0"/>
              <a:t>ParallelOptions</a:t>
            </a:r>
          </a:p>
          <a:p>
            <a:pPr lvl="1"/>
            <a:r>
              <a:rPr lang="en-US" dirty="0"/>
              <a:t>`CancellationToken` and `MaxDegreeOfParallelism`</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ParallelOptions</a:t>
            </a:r>
            <a:br>
              <a:rPr lang="en-US" dirty="0"/>
            </a:br>
            <a:r>
              <a:rPr lang="en-US" dirty="0" sz="3600">
                <a:gradFill>
                  <a:gsLst>
                    <a:gs pos="1250">
                      <a:srgbClr val="FFB900"/>
                    </a:gs>
                    <a:gs pos="100000">
                      <a:srgbClr val="FFB900"/>
                    </a:gs>
                  </a:gsLst>
                  <a:lin ang="5400000" scaled="0"/>
                </a:gradFill>
              </a:rPr>
              <a:t>One place for your limits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`MaxDegreeOfParallelism` caps how many run at once</a:t>
            </a:r>
          </a:p>
          <a:p>
            <a:pPr lvl="2"/>
            <a:r>
              <a:rPr lang="en-US" dirty="0" sz="2400"/>
              <a:t>`For` / `ForEach` / `Invoke`: `-1` lets the thread pool decide</a:t>
            </a:r>
          </a:p>
          <a:p>
            <a:pPr lvl="2"/>
            <a:r>
              <a:rPr lang="en-US" dirty="0" sz="2400"/>
              <a:t>`ForAsync` / `ForEachAsync`: `-1` means `Environment.ProcessorCount`</a:t>
            </a:r>
          </a:p>
        </p:txBody>
      </p:sp>
      <p:pic>
        <p:nvPicPr>
          <p:cNvPr id="4" name="Picture 3" descr="slide07.png"/>
          <p:cNvPicPr>
            <a:picLocks noChangeAspect="1"/>
          </p:cNvPicPr>
          <p:nvPr/>
        </p:nvPicPr>
        <p:blipFill>
          <a:blip r:embed="rId2"/>
          <a:stretch>
            <a:fillRect/>
          </a:stretch>
        </p:blipFill>
        <p:spPr>
          <a:xfrm>
            <a:off x="5577839" y="2230537"/>
            <a:ext cx="6583680" cy="32656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011680"/>
            <a:ext cx="11155680" cy="1371600"/>
          </a:xfrm>
          <a:prstGeom prst="rect">
            <a:avLst/>
          </a:prstGeom>
          <a:noFill/>
        </p:spPr>
        <p:txBody>
          <a:bodyPr wrap="square">
            <a:spAutoFit/>
          </a:bodyPr>
          <a:lstStyle/>
          <a:p>
            <a:r>
              <a:rPr lang="en-US" dirty="0" sz="6600">
                <a:gradFill>
                  <a:gsLst>
                    <a:gs pos="1250">
                      <a:srgbClr val="FFB900"/>
                    </a:gs>
                    <a:gs pos="100000">
                      <a:srgbClr val="FFB900"/>
                    </a:gs>
                  </a:gsLst>
                  <a:lin ang="5400000" scaled="0"/>
                </a:gradFill>
                <a:latin typeface="+mj-lt"/>
              </a:rPr>
              <a:t>Parallel.ForEach Takes an Action</a:t>
            </a:r>
          </a:p>
        </p:txBody>
      </p:sp>
      <p:sp>
        <p:nvSpPr>
          <p:cNvPr id="3" name="TextBox 2"/>
          <p:cNvSpPr txBox="1"/>
          <p:nvPr/>
        </p:nvSpPr>
        <p:spPr>
          <a:xfrm>
            <a:off x="768096" y="4023360"/>
            <a:ext cx="11155680" cy="914400"/>
          </a:xfrm>
          <a:prstGeom prst="rect">
            <a:avLst/>
          </a:prstGeom>
          <a:noFill/>
        </p:spPr>
        <p:txBody>
          <a:bodyPr wrap="square">
            <a:spAutoFit/>
          </a:bodyPr>
          <a:lstStyle/>
          <a:p>
            <a:r>
              <a:rPr lang="en-US" dirty="0" sz="3600">
                <a:solidFill>
                  <a:schemeClr val="tx1"/>
                </a:solidFill>
                <a:latin typeface="+mj-lt"/>
              </a:rPr>
              <a:t>So an `async` lambda there becomes `async void`, and nothing waits for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The async void Trap</a:t>
            </a:r>
            <a:br>
              <a:rPr lang="en-US" dirty="0"/>
            </a:br>
            <a:r>
              <a:rPr lang="en-US" dirty="0" sz="3600">
                <a:gradFill>
                  <a:gsLst>
                    <a:gs pos="1250">
                      <a:srgbClr val="FFB900"/>
                    </a:gs>
                    <a:gs pos="100000">
                      <a:srgbClr val="FFB900"/>
                    </a:gs>
                  </a:gsLst>
                  <a:lin ang="5400000" scaled="0"/>
                </a:gradFill>
              </a:rPr>
              <a:t>It compiles. It does nothing.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The lambda binds to `Action&lt;T&gt;`</a:t>
            </a:r>
          </a:p>
          <a:p>
            <a:r>
              <a:rPr lang="en-US" dirty="0" sz="2800"/>
              <a:t>`ForEach` returns before one upload finishes</a:t>
            </a:r>
          </a:p>
          <a:p>
            <a:r>
              <a:rPr lang="en-US" dirty="0" sz="2800"/>
              <a:t>No warning, no work, and any failure crashes the process</a:t>
            </a:r>
          </a:p>
        </p:txBody>
      </p:sp>
      <p:pic>
        <p:nvPicPr>
          <p:cNvPr id="4" name="Picture 3" descr="slide09.png"/>
          <p:cNvPicPr>
            <a:picLocks noChangeAspect="1"/>
          </p:cNvPicPr>
          <p:nvPr/>
        </p:nvPicPr>
        <p:blipFill>
          <a:blip r:embed="rId2"/>
          <a:stretch>
            <a:fillRect/>
          </a:stretch>
        </p:blipFill>
        <p:spPr>
          <a:xfrm>
            <a:off x="5577839" y="2266647"/>
            <a:ext cx="6583680" cy="319338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Parallel.ForAsync()</a:t>
            </a:r>
            <a:br>
              <a:rPr lang="en-US" dirty="0"/>
            </a:br>
            <a:r>
              <a:rPr lang="en-US" dirty="0" sz="360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Runs a For Loop in Parallel for asynchronous operations</a:t>
            </a:r>
          </a:p>
          <a:p>
            <a:r>
              <a:rPr lang="en-US" dirty="0"/>
              <a:t>Added in .NET 8</a:t>
            </a:r>
          </a:p>
          <a:p>
            <a:r>
              <a:rPr lang="en-US" dirty="0"/>
              <a:t>Body is `Func&lt;int, CancellationToken, ValueTask&gt;`</a:t>
            </a:r>
          </a:p>
          <a:p>
            <a:r>
              <a:rPr lang="en-US" dirty="0"/>
              <a:t>Returns a `Task`, so `await` it</a:t>
            </a:r>
          </a:p>
          <a:p>
            <a:r>
              <a:rPr lang="en-US" dirty="0"/>
              <a:t>ParallelOptions</a:t>
            </a:r>
          </a:p>
          <a:p>
            <a:pPr lvl="1"/>
            <a:r>
              <a:rPr lang="en-US" dirty="0"/>
              <a:t>`CancellationToken`</a:t>
            </a:r>
          </a:p>
          <a:p>
            <a:pPr lvl="1"/>
            <a:r>
              <a:rPr lang="en-US" dirty="0"/>
              <a:t>`MaxDegreeOfParallelism`</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Parallel.ForEachAsync()</a:t>
            </a:r>
            <a:br>
              <a:rPr lang="en-US" dirty="0"/>
            </a:br>
            <a:r>
              <a:rPr lang="en-US" dirty="0" sz="360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Runs a ForEach Loop in Parallel for asynchronous operations</a:t>
            </a:r>
          </a:p>
          <a:p>
            <a:r>
              <a:rPr lang="en-US" dirty="0"/>
              <a:t>Added in .NET 6</a:t>
            </a:r>
          </a:p>
          <a:p>
            <a:r>
              <a:rPr lang="en-US" dirty="0"/>
              <a:t>Body is `Func&lt;T, CancellationToken, ValueTask&gt;`</a:t>
            </a:r>
          </a:p>
          <a:p>
            <a:r>
              <a:rPr lang="en-US" dirty="0"/>
              <a:t>Awaits every body before the returned `Task` completes</a:t>
            </a:r>
          </a:p>
          <a:p>
            <a:r>
              <a:rPr lang="en-US" dirty="0"/>
              <a:t>Also accepts `IAsyncEnumerable&lt;T&gt;`</a:t>
            </a:r>
          </a:p>
          <a:p>
            <a:r>
              <a:rPr lang="en-US" dirty="0"/>
              <a:t>`MaxDegreeOfParallelism` is your rate limit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Parallel.ForEachAsync()</a:t>
            </a:r>
            <a:br>
              <a:rPr lang="en-US" dirty="0"/>
            </a:br>
            <a:r>
              <a:rPr lang="en-US" dirty="0" sz="3600">
                <a:gradFill>
                  <a:gsLst>
                    <a:gs pos="1250">
                      <a:srgbClr val="FFB900"/>
                    </a:gs>
                    <a:gs pos="100000">
                      <a:srgbClr val="FFB900"/>
                    </a:gs>
                  </a:gsLst>
                  <a:lin ang="5400000" scaled="0"/>
                </a:gradFill>
              </a:rPr>
              <a:t>Bound the calls, not the cores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5303520" cy="4636008"/>
          </a:xfrm>
        </p:spPr>
        <p:txBody>
          <a:bodyPr/>
          <a:lstStyle/>
          <a:p>
            <a:r>
              <a:rPr lang="en-US" dirty="0" sz="2800"/>
              <a:t>I/O-bound work is not limited by cores</a:t>
            </a:r>
          </a:p>
          <a:p>
            <a:r>
              <a:rPr lang="en-US" dirty="0" sz="2800"/>
              <a:t>Pick the number the downstream service can take</a:t>
            </a:r>
          </a:p>
          <a:p>
            <a:r>
              <a:rPr lang="en-US" dirty="0" sz="2800"/>
              <a:t>Use the token the body is handed</a:t>
            </a:r>
          </a:p>
        </p:txBody>
      </p:sp>
      <p:pic>
        <p:nvPicPr>
          <p:cNvPr id="4" name="Picture 3" descr="slide12.png"/>
          <p:cNvPicPr>
            <a:picLocks noChangeAspect="1"/>
          </p:cNvPicPr>
          <p:nvPr/>
        </p:nvPicPr>
        <p:blipFill>
          <a:blip r:embed="rId2"/>
          <a:stretch>
            <a:fillRect/>
          </a:stretch>
        </p:blipFill>
        <p:spPr>
          <a:xfrm>
            <a:off x="5577839" y="2001024"/>
            <a:ext cx="6583680" cy="37246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PLINQ</a:t>
            </a:r>
            <a:br>
              <a:rPr lang="en-US" dirty="0"/>
            </a:br>
            <a:r>
              <a:rPr lang="en-US" dirty="0" sz="3600">
                <a:gradFill>
                  <a:gsLst>
                    <a:gs pos="1250">
                      <a:srgbClr val="FFB900"/>
                    </a:gs>
                    <a:gs pos="100000">
                      <a:srgbClr val="FFB900"/>
                    </a:gs>
                  </a:gsLst>
                  <a:lin ang="5400000" scaled="0"/>
                </a:gradFill>
              </a:rPr>
              <a:t>System.Linq.ParallelEnumerable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Enables LINQ Queries to run in Parallel</a:t>
            </a:r>
          </a:p>
          <a:p>
            <a:r>
              <a:rPr lang="en-US" dirty="0"/>
              <a:t>Append `.AsParallel()` Extension Method</a:t>
            </a:r>
          </a:p>
          <a:p>
            <a:r>
              <a:rPr lang="en-US" dirty="0"/>
              <a:t>Partitions the source, runs the query, merges the results</a:t>
            </a:r>
          </a:p>
          <a:p>
            <a:r>
              <a:rPr lang="en-US" dirty="0"/>
              <a:t>Same query shape, same results</a:t>
            </a:r>
          </a:p>
          <a:p>
            <a:r>
              <a:rPr lang="en-US" dirty="0"/>
              <a:t>Order is not preserved by default</a:t>
            </a:r>
          </a:p>
          <a:p>
            <a:r>
              <a:rPr lang="en-US" dirty="0"/>
              <a:t>Failures arrive as `AggregateException`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Tuning the Query</a:t>
            </a:r>
            <a:br>
              <a:rPr lang="en-US" dirty="0"/>
            </a:br>
            <a:r>
              <a:rPr lang="en-US" dirty="0" sz="3600">
                <a:gradFill>
                  <a:gsLst>
                    <a:gs pos="1250">
                      <a:srgbClr val="FFB900"/>
                    </a:gs>
                    <a:gs pos="100000">
                      <a:srgbClr val="FFB900"/>
                    </a:gs>
                  </a:gsLst>
                  <a:lin ang="5400000" scaled="0"/>
                </a:gradFill>
              </a:rPr>
              <a:t>PLINQ</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`.AsOrdered()`</a:t>
            </a:r>
          </a:p>
          <a:p>
            <a:pPr lvl="1"/>
            <a:r>
              <a:rPr lang="en-US" dirty="0"/>
              <a:t>Preserves source order, `.AsUnordered()` reverts it</a:t>
            </a:r>
          </a:p>
          <a:p>
            <a:r>
              <a:rPr lang="en-US" dirty="0"/>
              <a:t>`.AsSequential()`</a:t>
            </a:r>
          </a:p>
          <a:p>
            <a:pPr lvl="1"/>
            <a:r>
              <a:rPr lang="en-US" dirty="0"/>
              <a:t>Runs the rest of the query sequentially</a:t>
            </a:r>
          </a:p>
          <a:p>
            <a:r>
              <a:rPr lang="en-US" dirty="0"/>
              <a:t>`.WithDegreeOfParallelism(int)`</a:t>
            </a:r>
          </a:p>
          <a:p>
            <a:pPr lvl="1"/>
            <a:r>
              <a:rPr lang="en-US" dirty="0"/>
              <a:t>Sets maximum concurrency</a:t>
            </a:r>
          </a:p>
          <a:p>
            <a:r>
              <a:rPr lang="en-US" dirty="0"/>
              <a:t>`.WithCancellation(token)`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Merge and Execution Mode</a:t>
            </a:r>
            <a:br>
              <a:rPr lang="en-US" dirty="0"/>
            </a:br>
            <a:r>
              <a:rPr lang="en-US" dirty="0" sz="3600">
                <a:gradFill>
                  <a:gsLst>
                    <a:gs pos="1250">
                      <a:srgbClr val="FFB900"/>
                    </a:gs>
                    <a:gs pos="100000">
                      <a:srgbClr val="FFB900"/>
                    </a:gs>
                  </a:gsLst>
                  <a:lin ang="5400000" scaled="0"/>
                </a:gradFill>
              </a:rPr>
              <a:t>PLINQ</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`.WithMergeOptions(ParallelMergeOptions)`</a:t>
            </a:r>
          </a:p>
          <a:p>
            <a:pPr lvl="1"/>
            <a:r>
              <a:rPr lang="en-US" dirty="0"/>
              <a:t>`NotBuffered` yields each result as it is computed</a:t>
            </a:r>
          </a:p>
          <a:p>
            <a:pPr lvl="1"/>
            <a:r>
              <a:rPr lang="en-US" dirty="0"/>
              <a:t>`AutoBuffered` is the default, buffer size chosen by the system</a:t>
            </a:r>
          </a:p>
          <a:p>
            <a:pPr lvl="1"/>
            <a:r>
              <a:rPr lang="en-US" dirty="0"/>
              <a:t>`FullyBuffered` accumulates every result first</a:t>
            </a:r>
          </a:p>
          <a:p>
            <a:r>
              <a:rPr lang="en-US" dirty="0"/>
              <a:t>`.WithExecutionMode(ParallelExecutionMode)`</a:t>
            </a:r>
          </a:p>
          <a:p>
            <a:pPr lvl="1"/>
            <a:r>
              <a:rPr lang="en-US" dirty="0"/>
              <a:t>PLINQ may decide to run your query sequentially</a:t>
            </a:r>
          </a:p>
          <a:p>
            <a:pPr lvl="1"/>
            <a:r>
              <a:rPr lang="en-US" dirty="0"/>
              <a:t>`ForceParallelism` overrides that decision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When Not To Parallelize</a:t>
            </a:r>
            <a:br>
              <a:rPr lang="en-US" dirty="0"/>
            </a:br>
            <a:r>
              <a:rPr lang="en-US" dirty="0" sz="3600">
                <a:gradFill>
                  <a:gsLst>
                    <a:gs pos="1250">
                      <a:srgbClr val="FFB900"/>
                    </a:gs>
                    <a:gs pos="100000">
                      <a:srgbClr val="FFB900"/>
                    </a:gs>
                  </a:gsLst>
                  <a:lin ang="5400000" scaled="0"/>
                </a:gradFill>
              </a:rPr>
              <a:t>Parallel is not free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Small collections</a:t>
            </a:r>
          </a:p>
          <a:p>
            <a:r>
              <a:rPr lang="en-US" dirty="0"/>
              <a:t>Cheap bodies</a:t>
            </a:r>
          </a:p>
          <a:p>
            <a:pPr lvl="1"/>
            <a:r>
              <a:rPr lang="en-US" dirty="0"/>
              <a:t>Scheduling costs more than the work</a:t>
            </a:r>
          </a:p>
          <a:p>
            <a:r>
              <a:rPr lang="en-US" dirty="0"/>
              <a:t>I/O-bound work: use `ForEachAsync`, not `ForEach`</a:t>
            </a:r>
          </a:p>
          <a:p>
            <a:r>
              <a:rPr lang="en-US" dirty="0"/>
              <a:t>Downstream services you would flood</a:t>
            </a:r>
          </a:p>
          <a:p>
            <a:r>
              <a:rPr lang="en-US" dirty="0"/>
              <a:t>Shared state that is not thread safe</a:t>
            </a:r>
          </a:p>
          <a:p>
            <a:pPr lvl="1"/>
            <a:r>
              <a:rPr lang="en-US" dirty="0"/>
              <a:t>That is the next section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Challenge: Fix the Nightly Import</a:t>
            </a:r>
            <a:br>
              <a:rPr lang="en-US" dirty="0"/>
            </a:br>
            <a:r>
              <a:rPr lang="en-US" dirty="0" sz="3600">
                <a:gradFill>
                  <a:gsLst>
                    <a:gs pos="1250">
                      <a:srgbClr val="FFB900"/>
                    </a:gs>
                    <a:gs pos="100000">
                      <a:srgbClr val="FFB900"/>
                    </a:gs>
                  </a:gsLst>
                  <a:lin ang="5400000" scaled="0"/>
                </a:gradFill>
              </a:rPr>
              <a:t>25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idx="10" sz="quarter"/>
          </p:nvPr>
        </p:nvSpPr>
        <p:spPr>
          <a:xfrm>
            <a:off x="274320" y="1627632"/>
            <a:ext cx="11887200" cy="4636008"/>
          </a:xfrm>
        </p:spPr>
        <p:txBody>
          <a:bodyPr/>
          <a:lstStyle/>
          <a:p>
            <a:r>
              <a:rPr lang="en-US" dirty="0"/>
              <a:t>`1. Start/ImportPortal`, http://localhost:5011</a:t>
            </a:r>
          </a:p>
          <a:p>
            <a:r>
              <a:rPr lang="en-US" dirty="0"/>
              <a:t>Three `// ToDo Refactor` comments in `ImportService.cs`</a:t>
            </a:r>
          </a:p>
          <a:p>
            <a:r>
              <a:rPr lang="en-US" dirty="0"/>
              <a:t>Validate on every core, not one</a:t>
            </a:r>
          </a:p>
          <a:p>
            <a:r>
              <a:rPr lang="en-US" dirty="0"/>
              <a:t>Actually enrich all 4,000 rows</a:t>
            </a:r>
          </a:p>
          <a:p>
            <a:r>
              <a:rPr lang="en-US" dirty="0"/>
              <a:t>Bound the calls to the customer API</a:t>
            </a:r>
          </a:p>
          <a:p>
            <a:r>
              <a:rPr lang="en-US" dirty="0"/>
              <a:t>Summarize with PLINQ</a:t>
            </a:r>
          </a:p>
          <a:p>
            <a:r>
              <a:rPr lang="en-US" dirty="0"/>
              <a:t>Both cards green, total time down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13171</TotalTime>
  <Words>6918</Words>
  <Application>Microsoft Macintosh PowerPoint</Application>
  <PresentationFormat>Custom</PresentationFormat>
  <Paragraphs>346</Paragraphs>
  <Slides>15</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Arial</vt:lpstr>
      <vt:lpstr>Lucida Console</vt:lpstr>
      <vt:lpstr>Menlo</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Security System.Security.Principal</vt:lpstr>
      <vt:lpstr>ExecutionContext All Information Required for a Logical Thread</vt:lpstr>
      <vt:lpstr>ExecutionContext AsyncLocal&lt;T&gt;</vt:lpstr>
      <vt:lpstr>ExecutionContext Capture() + Run()</vt:lpstr>
      <vt:lpstr>ExecutionContext SuppressFlow()</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227</cp:revision>
  <dcterms:created xsi:type="dcterms:W3CDTF">2017-10-31T19:47:21Z</dcterms:created>
  <dcterms:modified xsi:type="dcterms:W3CDTF">2026-09-07T02:47:27Z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