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14"/>
    <p:sldId id="257" r:id="rId15"/>
    <p:sldId id="258" r:id="rId16"/>
    <p:sldId id="259" r:id="rId17"/>
    <p:sldId id="260" r:id="rId18"/>
    <p:sldId id="261" r:id="rId19"/>
    <p:sldId id="262" r:id="rId20"/>
    <p:sldId id="263" r:id="rId21"/>
    <p:sldId id="264" r:id="rId13"/>
    <p:sldId id="265" r:id="rId12"/>
    <p:sldId id="266" r:id="rId11"/>
    <p:sldId id="267" r:id="rId10"/>
    <p:sldId id="268" r:id="rId9"/>
    <p:sldId id="269" r:id="rId8"/>
    <p:sldId id="270" r:id="rId7"/>
    <p:sldId id="271" r:id="rId29"/>
    <p:sldId id="272" r:id="rId3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120"/>
    <p:restoredTop sz="80531"/>
  </p:normalViewPr>
  <p:slideViewPr>
    <p:cSldViewPr snapToGrid="0">
      <p:cViewPr varScale="1">
        <p:scale>
          <a:sx n="273" d="100"/>
          <a:sy n="273" d="100"/>
        </p:scale>
        <p:origin x="4040"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5.xml"/><Relationship Id="rId8" Type="http://schemas.openxmlformats.org/officeDocument/2006/relationships/slide" Target="slides/slide14.xml"/><Relationship Id="rId9" Type="http://schemas.openxmlformats.org/officeDocument/2006/relationships/slide" Target="slides/slide13.xml"/><Relationship Id="rId10" Type="http://schemas.openxmlformats.org/officeDocument/2006/relationships/slide" Target="slides/slide12.xml"/><Relationship Id="rId11" Type="http://schemas.openxmlformats.org/officeDocument/2006/relationships/slide" Target="slides/slide11.xml"/><Relationship Id="rId12" Type="http://schemas.openxmlformats.org/officeDocument/2006/relationships/slide" Target="slides/slide10.xml"/><Relationship Id="rId13" Type="http://schemas.openxmlformats.org/officeDocument/2006/relationships/slide" Target="slides/slide9.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commentAuthors" Target="commentAuthors.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6.xml"/><Relationship Id="rId30"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9/6/26 7:46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9/6/26 7:44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last section of Day 2. Everything up to now has been about doing more work at the same time. Channels are about something different. They connect two pieces of code that run at different speeds, so that neither one has to know anything about the other. One side produces items, the other side consumes them, and the channel sits in the middle and absorbs the difference. You already know the two ingredients. A channel is a thread safe queue, like the concurrent collections we just covered, plus the asynchronous waiting you learned on Day 1. Put those together and you get a queue you can await. The app in this section is a device telemetry webhook that does its slow work in exactly the wrong place, and the fix touches one file. Overview of the API: https://learn.microsoft.com/dotnet/core/extensions/channels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channel is the producer and consumer model with a first class API. FIFO means the consumer sees items in the order they were written, which matters a great deal when the items are events. Buffering is the reason the pattern exists at all. The producer and the consumer almost never run at the same speed, and the buffer absorbs that difference so neither side has to run on the other side's schedule. Thread safe means many threads can write and many threads can read with no lock that you wrote. Async first means the waiting is done with await, so a consumer with nothing to do costs you no thread at all, and a producer that has to wait for room does it without blocking. High performance means the implementation is tuned for this one job, including allocation free reads on the fast path. If you have used BlockingCollection, this is the version that does not block. https://learn.microsoft.com/dotnet/core/extensions/channels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app you are about to fix. TelemetryPipeline is the server side of a device fleet. Every device posts a reading, and every reading has to land in the database, which takes 40 milliseconds per write. The handler awaits that write before it answers the device. Measured on the starter app, the average accept takes 41.4 milliseconds and taking the whole burst of 400 readings takes 16.56 seconds. The devices in this scenario give up after 20 milliseconds, so every one of those readings becomes a retry, and the retries land on an endpoint that is already behind. Nothing was lost on this run and no exception was thrown. The counters all read 400 of 400. There are real correctness hazards under that surface, a plain List written by one side and drained by the other, and counters that are not atomic, and you will find them in the README. But the symptom you feel first is latency. The slow work is on the wrong side of the response, and there is already a BackgroundService in the app that was supposed to be doing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idea the whole section rests on. When a device, a payment provider, or a partner system posts to your endpoint, the only promise worth making quickly is that you have the message and you will not lose it. Everything after that is your problem, not the caller's. If you do the durable write, the enrichment, and the notification while the caller waits, then your latency is the sum of every downstream system you touch, and the caller times out and retries, which doubles your load exactly when you can least afford it. Splitting accept from process is what lets those two things have different service levels. Accept has to be fast and always available. Process has to be complete and eventually finished, and it can take as long as the database needs. A channel is the seam between them, and it is a seam you can measure, because the queue depth tells you which half is falling behind.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everyone builds this by hand once. A shared List, one side adding, another side removing, and a loop that sleeps for a few milliseconds and checks again. Every part of it is a problem. A List is not thread safe, so concurrent add and remove can lose items or corrupt the backing array. The polling loop wakes up and does nothing thousands of times a minute, which burns thread pool turns and keeps a machine that should be idle busy. There is no completion signal, so the consumer cannot tell the difference between no work right now and no work ever again, which is why loops like this hang on shutdown. And there is no capacity, so the only thing stopping unbounded memory growth is luck. A Channel gives you all four in one type: thread safety, awaitable waiting, completion, and a capacity you choose on purpose.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Channel class is a factory. CreateUnbounded gives you a channel whose buffer grows as far as memory allows, which means a write never waits, and never fails as long as the writer is still open. Once Complete has been called, even an unbounded write fails, and we come back to that in a few slides. Unlimited is the right choice when you know the producer cannot outrun the consumer for long, or when dropping an item is worse than any amount of memory. It is the wrong choice when an upstream burst can outpace you indefinitely, because then unlimited really means until the process dies. UnboundedChannelOptions adds nothing of its own. SingleReader, SingleWriter and AllowSynchronousContinuations all live on the shared ChannelOptions base type, so the bounded options carry them too. Capacity and FullMode are what the bounded type adds. .NET 9 added CreateUnboundedPrioritized, which orders items by a comparer instead of first in first out. The parameterless overload uses Comparer&lt;T&gt;.Default and throws at runtime if T does not implement IComparable&lt;T&gt;. Pass UnboundedPrioritizedChannelOptions&lt;T&gt; with your own Comparer for any other order. https://learn.microsoft.com/dotnet/api/system.threading.channels.channel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bounded channel takes its capacity in the BoundedChannelOptions constructor, and that number is a design decision rather than a tuning detail. Capacity is how far behind you are willing to let the consumer fall before the producer has to feel it. Pick it from something real: how much work you can afford to lose in a crash, how much memory a queued item costs, or how long a caller will tolerate waiting. A capacity of 100 with a consumer that handles 25 items per second means you are accepting up to four seconds of lag. FullMode is the second half of the decision and it decides what happens on the write that does not fit. Wait is the only mode that ever slows the producer down. The other three keep the producer at full speed by throwing an item away. https://learn.microsoft.com/dotnet/api/system.threading.channels.boundedchanneloptions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Backpressure is what a full queue does to the code filling it. Wait makes WriteAsync suspend until a consumer frees a slot, which throttles the producer to the speed of the consumer without a single line of rate limiting code. The three drop modes keep every write fast by discarding something instead. DropOldest keeps the freshest data, which is what you want for a live gauge where only the latest reading matters. DropNewest keeps the earliest data. DropWrite discards the item you are writing right now, which is the cheapest and the easiest to reason about. Under the drop modes the write reports success, so by default nothing tells you data disappeared. If you need to know, use the CreateBounded overload that takes an itemDropped callback, added in .NET 7. It runs for every item the channel discards, on the writing thread, so keep it cheap. Increment a counter, do not log inline. And note that under DropOldest and DropNewest the item you lose is one already in the queue, not the one you just wrote, which is why you cannot count drops yourself at the call site. https://learn.microsoft.com/dotnet/api/system.threading.channels.boundedchannelfullmode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WriteAsync is the call you will use most. It returns a ValueTask and on an unbounded channel, or a bounded channel with room, that ValueTask is already completed and allocates nothing. It only suspends when the channel is full and FullMode is Wait, which is the moment backpressure becomes real in your code. Pass your CancellationToken so a shutdown does not leave a producer parked forever. TryWrite is the non waiting version. It returns false when a bounded channel is full under Wait, and it lets you decide what to do about that yourself, including logging a drop your team can alert on. There is also WaitToWriteAsync for the case where you want to know that room exists before you go build the item. Once the writer is completed, WriteAsync throws ChannelClosedException, while TryWrite and WaitToWriteAsync return false, so a producer that uses TryWrite has to check the result on the way down. https://learn.microsoft.com/dotnet/api/system.threading.channels.channelwriter-1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loop is the whole consumer. ReadAllAsync returns an IAsyncEnumerable, so an await foreach yields every item that was ever written, in order, and suspends when the channel is empty. That suspension is the reason the busy wait disappears. Waiting for the next item is now an await, not a sleep, so an idle consumer costs you nothing but a state machine sitting in memory. The loop ends on its own once the writer is completed and the buffer is drained, which is how a well behaved pipeline shuts down. Underneath, ReadAsync, TryRead, and WaitToReadAsync are still available if you need finer control, and ReadAllAsync is written in terms of them. One more property to know: Reader.Count is the current buffered depth, and it is the single best number to put on a dashboard, because it tells you which half of your pipeline is losing. https://learn.microsoft.com/dotnet/api/system.threading.channels.channelreader-1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step everyone forgets, and forgetting it is the most common channel bug. ReadAllAsync has no way to know that no more items are coming, so without Complete the await foreach waits forever and whatever awaits that consumer task never returns. Complete does two things. It rejects every later write, with WriteAsync throwing ChannelClosedException while TryWrite and WaitToWriteAsync simply return false, and it lets the reader finish once the buffer has drained, so any backlog still gets processed before the loop ends. You can pass an exception to Complete to tell consumers that the producer failed rather than finished. Use TryComplete when more than one code path might close the channel, because it returns false instead of throwing on a second call. There is also a Reader.Completion task you can await if you want to know the moment the last item has been consumed. https://learn.microsoft.com/dotnet/api/system.threading.channels.channelwriter-1.complete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into a Reader half and a Writer half is deliberate, and it is free design help. Pass ChannelWriter to the code that produces and ChannelReader to the code that consumes, and it becomes impossible for the consumer to enqueue work or for the producer to steal an item. It also makes both halves easy to test, because a test only has to supply one end. SingleReader and SingleWriter are a different kind of statement. They are promises you make to the runtime so it can pick a cheaper internal implementation with less synchronization. They are not enforced. If you promise a single writer and then write from two threads, nothing throws, you simply get corrupted state that is very hard to explain later. Set them to true only when the code structurally guarantees it, and default to false when in doubt. https://github.com/dotnet/runtime/tree/main/src/libraries/System.Threading.Channels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just spent a section on the concurrent collections, so this question always comes up in the room. ConcurrentQueue is storage. It is thread safe, it is fast, and TryDequeue answers immediately with whatever is there right now. What it cannot do is wait. If the queue is empty and the next item has not arrived yet, you have to write the waiting yourself, and that is exactly how people end up with the polling loop from a few slides ago. A channel is storage plus coordination. You get the same thread safe queue, and you also get an asynchronous wait for the next item, a capacity with a policy for what a full buffer does, and a completion signal that ends the consumer loop. Underneath, an unbounded channel keeps its items in a ConcurrentQueue, so this is not a performance tradeoff. Reach for a concurrent collection when you need shared storage, and for a channel when one side hands work to another. https://learn.microsoft.com/dotnet/core/extensions/channels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consumer is the slow half, you do not need a second channel or a fan out framework. You start more consumers over the same reader. Each item is handed to exactly one of them, so there is no duplicate work and no coordination code to write. The number of consumers is your degree of parallelism, and it is the honest place to set that limit, because it is also the amount of load you are willing to put on whatever the consumer talks to. In the app you are about to fix, eight consumers each doing a 40 millisecond write clear 400 events in 2.11 seconds, which is very close to the arithmetic. Be clear with yourself about ordering. Items leave the channel in order, but once several consumers are running, completion order is whatever the downstream system decides. If ordering per device matters, key the work so that one device's readings always go to the same consumer.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channel consumer needs somewhere to live that is not a request. In ASP.NET Core that place is a BackgroundService registered with AddHostedService. The host starts ExecuteAsync when the app starts and hands you a stoppingToken that is cancelled when the app is shutting down. Forward that token all the way into ReadAllAsync and the loop unwinds on shutdown instead of holding the process open. Catch OperationCanceledException only when the token actually fired, so you never swallow a real cancellation bug. Two more things to keep in mind. A BackgroundService is a singleton, so if you need a scoped service such as a database context, create a scope per item inside the loop. And an unhandled exception escaping ExecuteAsync stops the host by default, which is usually what you want, but it means the body of your loop needs its own try and catch if one poison item should not take the app down. https://learn.microsoft.com/aspnet/core/fundamentals/host/hosted-services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pick a capacity and a FullMode, you are answering a product question, not a performance question. Wait says every item matters more than the producer's speed, which is the right answer for orders, payments, and audit records. DropOldest says freshness matters more than history, which is the right answer for a temperature gauge or a live price. DropWrite says you would rather shed the newest load than pay for it, which is the right answer for optional telemetry. None of these is a default you can pick from a benchmark, and none of them is a decision that belongs to whoever happens to be editing the file. Write the reason down next to the option, because six months from now the number 500 will look arbitrary and someone will change it. And whichever mode you choose, put Reader.Count on a dashboard. A queue depth that is drifting upward tells you a capacity decision is about to become a customer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Start folder, run TelemetryPipeline on port 5013, and click Receive 400 events. Watch the average accept sit above 41 milliseconds while the endpoint takes more than 16 seconds to swallow the burst. Everything you need to change is in Services/TelemetryIngestService.cs, and each mistake is marked with a ToDo Refactor comment. Your job is to make accepting an event mean queueing it, nothing more, and to let the background service do the slow write on its own time. When you are done, the accept path should measure at zero milliseconds, the burst should finish instantly, and the written count should climb to 400 over the next couple of seconds while you press Refresh counters. Read the README for the full requirement list and the acceptance checks. Twenty minutes on the clock, then we review approaches together before walking through the solution.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gi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em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theme" Target="../theme/theme2.xml"/><Relationship Id="rId4" Type="http://schemas.openxmlformats.org/officeDocument/2006/relationships/image" Target="../media/image1.emf"/><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3.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sz="4000"/>
              <a:t>Channels</a:t>
            </a:r>
            <a:br>
              <a:rPr lang="en-US" dirty="0" sz="4000"/>
            </a:br>
            <a:r>
              <a:rPr lang="en-US" dirty="0" sz="4000"/>
              <a:t>Producer / Consumer in .NET</a:t>
            </a:r>
          </a:p>
        </p:txBody>
      </p:sp>
      <p:sp>
        <p:nvSpPr>
          <p:cNvPr id="3" name="Text Placeholder 2"/>
          <p:cNvSpPr>
            <a:spLocks noGrp="1"/>
          </p:cNvSpPr>
          <p:nvPr>
            <p:ph type="body" idx="12" sz="quarter"/>
          </p:nvPr>
        </p:nvSpPr>
        <p:spPr/>
        <p:txBody>
          <a:bodyPr/>
          <a:lstStyle/>
          <a:p>
            <a:r>
              <a:rPr lang="en-US" dirty="0"/>
              <a:t>Brandon Minnick</a:t>
            </a:r>
          </a:p>
          <a:p>
            <a:r>
              <a:rPr lang="en-US" dirty="0" sz="200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Producer / Consumer Model</a:t>
            </a:r>
            <a:br>
              <a:rPr lang="en-US" dirty="0"/>
            </a:br>
            <a:r>
              <a:rPr lang="en-US" dirty="0" sz="3600">
                <a:gradFill>
                  <a:gsLst>
                    <a:gs pos="1250">
                      <a:srgbClr val="FFB900"/>
                    </a:gs>
                    <a:gs pos="100000">
                      <a:srgbClr val="FFB900"/>
                    </a:gs>
                  </a:gsLst>
                  <a:lin ang="5400000" scaled="0"/>
                </a:gradFill>
              </a:rPr>
              <a:t>System.Threading.Channels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b="1"/>
              <a:t>FIFO</a:t>
            </a:r>
          </a:p>
          <a:p>
            <a:pPr lvl="1"/>
            <a:r>
              <a:rPr lang="en-US" dirty="0"/>
              <a:t>First-In First-Out (Queue)</a:t>
            </a:r>
          </a:p>
          <a:p>
            <a:r>
              <a:rPr lang="en-US" dirty="0" b="1"/>
              <a:t>Buffering</a:t>
            </a:r>
          </a:p>
          <a:p>
            <a:pPr lvl="1"/>
            <a:r>
              <a:rPr lang="en-US" dirty="0"/>
              <a:t>The channel absorbs speed differences between production and consumption rates</a:t>
            </a:r>
          </a:p>
          <a:p>
            <a:r>
              <a:rPr lang="en-US" dirty="0"/>
              <a:t>Thread Safe, Async-First, High Performance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One Handler, One Slow Write</a:t>
            </a:r>
            <a:br>
              <a:rPr lang="en-US" dirty="0"/>
            </a:br>
            <a:r>
              <a:rPr lang="en-US" dirty="0" sz="3600">
                <a:gradFill>
                  <a:gsLst>
                    <a:gs pos="1250">
                      <a:srgbClr val="FFB900"/>
                    </a:gs>
                    <a:gs pos="100000">
                      <a:srgbClr val="FFB900"/>
                    </a:gs>
                  </a:gsLst>
                  <a:lin ang="5400000" scaled="0"/>
                </a:gradFill>
              </a:rPr>
              <a:t>TelemetryPipeline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400 devices, one burst</a:t>
            </a:r>
          </a:p>
          <a:p>
            <a:r>
              <a:rPr lang="en-US" dirty="0"/>
              <a:t>Database write happens before the response</a:t>
            </a:r>
          </a:p>
          <a:p>
            <a:r>
              <a:rPr lang="en-US" dirty="0"/>
              <a:t>41.4ms average accept, 16.56s burst</a:t>
            </a:r>
          </a:p>
          <a:p>
            <a:pPr lvl="1"/>
            <a:r>
              <a:rPr lang="en-US" dirty="0"/>
              <a:t>Devices give up after 20ms</a:t>
            </a:r>
          </a:p>
          <a:p>
            <a:r>
              <a:rPr lang="en-US" dirty="0"/>
              <a:t>`BackgroundService` does none of the work</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011680"/>
            <a:ext cx="11155680" cy="1371600"/>
          </a:xfrm>
          <a:prstGeom prst="rect">
            <a:avLst/>
          </a:prstGeom>
          <a:noFill/>
        </p:spPr>
        <p:txBody>
          <a:bodyPr wrap="square">
            <a:spAutoFit/>
          </a:bodyPr>
          <a:lstStyle/>
          <a:p>
            <a:r>
              <a:rPr lang="en-US" dirty="0" sz="6600">
                <a:gradFill>
                  <a:gsLst>
                    <a:gs pos="1250">
                      <a:srgbClr val="FFB900"/>
                    </a:gs>
                    <a:gs pos="100000">
                      <a:srgbClr val="FFB900"/>
                    </a:gs>
                  </a:gsLst>
                  <a:lin ang="5400000" scaled="0"/>
                </a:gradFill>
                <a:latin typeface="+mj-lt"/>
              </a:rPr>
              <a:t>Accepting Is Not Processing</a:t>
            </a:r>
          </a:p>
        </p:txBody>
      </p:sp>
      <p:sp>
        <p:nvSpPr>
          <p:cNvPr id="3" name="TextBox 2"/>
          <p:cNvSpPr txBox="1"/>
          <p:nvPr/>
        </p:nvSpPr>
        <p:spPr>
          <a:xfrm>
            <a:off x="768096" y="4023360"/>
            <a:ext cx="11155680" cy="914400"/>
          </a:xfrm>
          <a:prstGeom prst="rect">
            <a:avLst/>
          </a:prstGeom>
          <a:noFill/>
        </p:spPr>
        <p:txBody>
          <a:bodyPr wrap="square">
            <a:spAutoFit/>
          </a:bodyPr>
          <a:lstStyle/>
          <a:p>
            <a:r>
              <a:rPr lang="en-US" dirty="0" sz="3600">
                <a:solidFill>
                  <a:schemeClr val="tx1"/>
                </a:solidFill>
                <a:latin typeface="+mj-lt"/>
              </a:rPr>
              <a:t>A webhook takes the message, then gets out of the way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The Hand-Rolled Queue</a:t>
            </a:r>
            <a:br>
              <a:rPr lang="en-US" dirty="0"/>
            </a:br>
            <a:r>
              <a:rPr lang="en-US" dirty="0" sz="3600">
                <a:gradFill>
                  <a:gsLst>
                    <a:gs pos="1250">
                      <a:srgbClr val="FFB900"/>
                    </a:gs>
                    <a:gs pos="100000">
                      <a:srgbClr val="FFB900"/>
                    </a:gs>
                  </a:gsLst>
                  <a:lin ang="5400000" scaled="0"/>
                </a:gradFill>
              </a:rPr>
              <a:t>A List&lt;T&gt; and a Polling Loop</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Not thread safe</a:t>
            </a:r>
          </a:p>
          <a:p>
            <a:r>
              <a:rPr lang="en-US" dirty="0"/>
              <a:t>Busy-waits when there is nothing to do</a:t>
            </a:r>
          </a:p>
          <a:p>
            <a:r>
              <a:rPr lang="en-US" dirty="0"/>
              <a:t>Nothing signals the last item</a:t>
            </a:r>
          </a:p>
          <a:p>
            <a:r>
              <a:rPr lang="en-US" dirty="0"/>
              <a:t>No capacity, so no backpressure</a:t>
            </a:r>
          </a:p>
          <a:p>
            <a:r>
              <a:rPr lang="en-US" dirty="0"/>
              <a:t>`Channel&lt;T&gt;` solves all four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Creating Unbounded Channels</a:t>
            </a:r>
            <a:br>
              <a:rPr lang="en-US" dirty="0"/>
            </a:br>
            <a:r>
              <a:rPr lang="en-US" dirty="0" sz="3600">
                <a:gradFill>
                  <a:gsLst>
                    <a:gs pos="1250">
                      <a:srgbClr val="FFB900"/>
                    </a:gs>
                    <a:gs pos="100000">
                      <a:srgbClr val="FFB900"/>
                    </a:gs>
                  </a:gsLst>
                  <a:lin ang="5400000" scaled="0"/>
                </a:gradFill>
              </a:rPr>
              <a:t>Channel.CreateUnbounded&lt;T&gt;()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Creates a Channel with an unlimited* buffer</a:t>
            </a:r>
          </a:p>
          <a:p>
            <a:pPr lvl="2"/>
            <a:r>
              <a:rPr lang="en-US" dirty="0" sz="2400"/>
              <a:t>*Limited by hardware resources</a:t>
            </a:r>
          </a:p>
          <a:p>
            <a:r>
              <a:rPr lang="en-US" dirty="0" sz="2800"/>
              <a:t>`CreateUnboundedPrioritized&lt;T&gt;()` orders by `Comparer&lt;T&gt;.Default`</a:t>
            </a:r>
          </a:p>
        </p:txBody>
      </p:sp>
      <p:pic>
        <p:nvPicPr>
          <p:cNvPr id="4" name="Picture 3" descr="slide06.png"/>
          <p:cNvPicPr>
            <a:picLocks noChangeAspect="1"/>
          </p:cNvPicPr>
          <p:nvPr/>
        </p:nvPicPr>
        <p:blipFill>
          <a:blip r:embed="rId2"/>
          <a:stretch>
            <a:fillRect/>
          </a:stretch>
        </p:blipFill>
        <p:spPr>
          <a:xfrm>
            <a:off x="5577839" y="2286473"/>
            <a:ext cx="6583680" cy="315373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Creating Bounded Channels</a:t>
            </a:r>
            <a:br>
              <a:rPr lang="en-US" dirty="0"/>
            </a:br>
            <a:r>
              <a:rPr lang="en-US" dirty="0" sz="3600">
                <a:gradFill>
                  <a:gsLst>
                    <a:gs pos="1250">
                      <a:srgbClr val="FFB900"/>
                    </a:gs>
                    <a:gs pos="100000">
                      <a:srgbClr val="FFB900"/>
                    </a:gs>
                  </a:gsLst>
                  <a:lin ang="5400000" scaled="0"/>
                </a:gradFill>
              </a:rPr>
              <a:t>Channel.CreateBounded&lt;T&gt;()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Creates a Channel with a limited buffer</a:t>
            </a:r>
          </a:p>
          <a:p>
            <a:r>
              <a:rPr lang="en-US" dirty="0" sz="2800"/>
              <a:t>Capacity is the backpressure knob</a:t>
            </a:r>
          </a:p>
          <a:p>
            <a:r>
              <a:rPr lang="en-US" dirty="0" sz="2800"/>
              <a:t>`FullMode` decides what a full channel does to a write</a:t>
            </a:r>
          </a:p>
        </p:txBody>
      </p:sp>
      <p:pic>
        <p:nvPicPr>
          <p:cNvPr id="4" name="Picture 3" descr="slide07.png"/>
          <p:cNvPicPr>
            <a:picLocks noChangeAspect="1"/>
          </p:cNvPicPr>
          <p:nvPr/>
        </p:nvPicPr>
        <p:blipFill>
          <a:blip r:embed="rId2"/>
          <a:stretch>
            <a:fillRect/>
          </a:stretch>
        </p:blipFill>
        <p:spPr>
          <a:xfrm>
            <a:off x="5577839" y="2397928"/>
            <a:ext cx="6583680" cy="293082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Handling Backpressure</a:t>
            </a:r>
            <a:br>
              <a:rPr lang="en-US" dirty="0"/>
            </a:br>
            <a:r>
              <a:rPr lang="en-US" dirty="0" sz="3600">
                <a:gradFill>
                  <a:gsLst>
                    <a:gs pos="1250">
                      <a:srgbClr val="FFB900"/>
                    </a:gs>
                    <a:gs pos="100000">
                      <a:srgbClr val="FFB900"/>
                    </a:gs>
                  </a:gsLst>
                  <a:lin ang="5400000" scaled="0"/>
                </a:gradFill>
              </a:rPr>
              <a:t>BoundedChannelFullMode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`Wait` - wait for space, then complete the write</a:t>
            </a:r>
          </a:p>
          <a:p>
            <a:r>
              <a:rPr lang="en-US" dirty="0"/>
              <a:t>`DropNewest` - remove the newest item to make room</a:t>
            </a:r>
          </a:p>
          <a:p>
            <a:r>
              <a:rPr lang="en-US" dirty="0"/>
              <a:t>`DropOldest` - remove the oldest item to make room</a:t>
            </a:r>
          </a:p>
          <a:p>
            <a:r>
              <a:rPr lang="en-US" dirty="0"/>
              <a:t>`DropWrite` - drop the item being written</a:t>
            </a:r>
          </a:p>
          <a:p>
            <a:r>
              <a:rPr lang="en-US" dirty="0"/>
              <a:t>`await Writer.WriteAsync(...)`</a:t>
            </a:r>
          </a:p>
          <a:p>
            <a:pPr lvl="2"/>
            <a:r>
              <a:rPr lang="en-US" dirty="0"/>
              <a:t>*Only `Wait` slows the producer down. The rest lose data.</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Writing to a Channel</a:t>
            </a:r>
            <a:br>
              <a:rPr lang="en-US" dirty="0"/>
            </a:br>
            <a:r>
              <a:rPr lang="en-US" dirty="0" sz="3600">
                <a:gradFill>
                  <a:gsLst>
                    <a:gs pos="1250">
                      <a:srgbClr val="FFB900"/>
                    </a:gs>
                    <a:gs pos="100000">
                      <a:srgbClr val="FFB900"/>
                    </a:gs>
                  </a:gsLst>
                  <a:lin ang="5400000" scaled="0"/>
                </a:gradFill>
              </a:rPr>
              <a:t>ChannelWriter&lt;T&gt;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`WriteAsync()` returns `ValueTask`, usually completed</a:t>
            </a:r>
          </a:p>
          <a:p>
            <a:r>
              <a:rPr lang="en-US" dirty="0" sz="2800"/>
              <a:t>`TryWrite()` never waits</a:t>
            </a:r>
          </a:p>
          <a:p>
            <a:pPr lvl="2"/>
            <a:r>
              <a:rPr lang="en-US" dirty="0" sz="2400"/>
              <a:t>*`WriteAsync()` after `Complete()` throws `ChannelClosedException`</a:t>
            </a:r>
          </a:p>
        </p:txBody>
      </p:sp>
      <p:pic>
        <p:nvPicPr>
          <p:cNvPr id="4" name="Picture 3" descr="slide09.png"/>
          <p:cNvPicPr>
            <a:picLocks noChangeAspect="1"/>
          </p:cNvPicPr>
          <p:nvPr/>
        </p:nvPicPr>
        <p:blipFill>
          <a:blip r:embed="rId2"/>
          <a:stretch>
            <a:fillRect/>
          </a:stretch>
        </p:blipFill>
        <p:spPr>
          <a:xfrm>
            <a:off x="5577839" y="2446163"/>
            <a:ext cx="6583680" cy="283435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Reading from a Channel</a:t>
            </a:r>
            <a:br>
              <a:rPr lang="en-US" dirty="0"/>
            </a:br>
            <a:r>
              <a:rPr lang="en-US" dirty="0" sz="3600">
                <a:gradFill>
                  <a:gsLst>
                    <a:gs pos="1250">
                      <a:srgbClr val="FFB900"/>
                    </a:gs>
                    <a:gs pos="100000">
                      <a:srgbClr val="FFB900"/>
                    </a:gs>
                  </a:gsLst>
                  <a:lin ang="5400000" scaled="0"/>
                </a:gradFill>
              </a:rPr>
              <a:t>ChannelReader&lt;T&gt;.ReadAllAsync()</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`ReadAllAsync()` returns an `IAsyncEnumerable&lt;T&gt;`</a:t>
            </a:r>
          </a:p>
          <a:p>
            <a:r>
              <a:rPr lang="en-US" dirty="0" sz="2800"/>
              <a:t>An idle consumer holds no thread</a:t>
            </a:r>
          </a:p>
          <a:p>
            <a:pPr lvl="2"/>
            <a:r>
              <a:rPr lang="en-US" dirty="0" sz="2400"/>
              <a:t>*Each item is delivered to exactly one reader</a:t>
            </a:r>
          </a:p>
        </p:txBody>
      </p:sp>
      <p:pic>
        <p:nvPicPr>
          <p:cNvPr id="4" name="Picture 3" descr="slide10.png"/>
          <p:cNvPicPr>
            <a:picLocks noChangeAspect="1"/>
          </p:cNvPicPr>
          <p:nvPr/>
        </p:nvPicPr>
        <p:blipFill>
          <a:blip r:embed="rId2"/>
          <a:stretch>
            <a:fillRect/>
          </a:stretch>
        </p:blipFill>
        <p:spPr>
          <a:xfrm>
            <a:off x="5577839" y="2347143"/>
            <a:ext cx="6583680" cy="303239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Cleaning Up</a:t>
            </a:r>
            <a:br>
              <a:rPr lang="en-US" dirty="0"/>
            </a:br>
            <a:r>
              <a:rPr lang="en-US" dirty="0" sz="3600">
                <a:gradFill>
                  <a:gsLst>
                    <a:gs pos="1250">
                      <a:srgbClr val="FFB900"/>
                    </a:gs>
                    <a:gs pos="100000">
                      <a:srgbClr val="FFB900"/>
                    </a:gs>
                  </a:gsLst>
                  <a:lin ang="5400000" scaled="0"/>
                </a:gradFill>
              </a:rPr>
              <a:t>Writer.Complete()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Always call `Writer.Complete()`</a:t>
            </a:r>
          </a:p>
          <a:p>
            <a:pPr lvl="1"/>
            <a:r>
              <a:rPr lang="en-US" dirty="0"/>
              <a:t>Marks the channel as complete</a:t>
            </a:r>
          </a:p>
          <a:p>
            <a:pPr lvl="1"/>
            <a:r>
              <a:rPr lang="en-US" dirty="0"/>
              <a:t>Nothing more can be written</a:t>
            </a:r>
          </a:p>
          <a:p>
            <a:pPr lvl="1"/>
            <a:r>
              <a:rPr lang="en-US" dirty="0"/>
              <a:t>Allows `Reader.ReadAllAsync()` to finish once the channel is empty</a:t>
            </a:r>
          </a:p>
          <a:p>
            <a:r>
              <a:rPr lang="en-US" dirty="0"/>
              <a:t>Alternatively, `Writer.TryComplete()`</a:t>
            </a:r>
          </a:p>
          <a:p>
            <a:pPr lvl="1"/>
            <a:r>
              <a:rPr lang="en-US" dirty="0"/>
              <a:t>Returns `false` when the channel has already been completed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Two Halves, One Channel</a:t>
            </a:r>
            <a:br>
              <a:rPr lang="en-US" dirty="0"/>
            </a:br>
            <a:r>
              <a:rPr lang="en-US" dirty="0" sz="3600">
                <a:gradFill>
                  <a:gsLst>
                    <a:gs pos="1250">
                      <a:srgbClr val="FFB900"/>
                    </a:gs>
                    <a:gs pos="100000">
                      <a:srgbClr val="FFB900"/>
                    </a:gs>
                  </a:gsLst>
                  <a:lin ang="5400000" scaled="0"/>
                </a:gradFill>
              </a:rPr>
              <a:t>Reader and Writer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`Channel&lt;T&gt;` exposes a `Reader` and a `Writer`</a:t>
            </a:r>
          </a:p>
          <a:p>
            <a:r>
              <a:rPr lang="en-US" dirty="0"/>
              <a:t>Hand producers the `ChannelWriter&lt;T&gt;`</a:t>
            </a:r>
          </a:p>
          <a:p>
            <a:r>
              <a:rPr lang="en-US" dirty="0"/>
              <a:t>Hand consumers the `ChannelReader&lt;T&gt;`</a:t>
            </a:r>
          </a:p>
          <a:p>
            <a:r>
              <a:rPr lang="en-US" dirty="0"/>
              <a:t>`SingleReader` and `SingleWriter` are optimization hints</a:t>
            </a:r>
          </a:p>
          <a:p>
            <a:pPr lvl="2"/>
            <a:r>
              <a:rPr lang="en-US" dirty="0"/>
              <a:t>*A broken hint corrupts state, it does not throw</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Channel or ConcurrentQueue?</a:t>
            </a:r>
            <a:br>
              <a:rPr lang="en-US" dirty="0"/>
            </a:br>
            <a:r>
              <a:rPr lang="en-US" dirty="0" sz="3600">
                <a:gradFill>
                  <a:gsLst>
                    <a:gs pos="1250">
                      <a:srgbClr val="FFB900"/>
                    </a:gs>
                    <a:gs pos="100000">
                      <a:srgbClr val="FFB900"/>
                    </a:gs>
                  </a:gsLst>
                  <a:lin ang="5400000" scaled="0"/>
                </a:gradFill>
              </a:rPr>
              <a:t>Storage vs Coordination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b="1"/>
              <a:t>`ConcurrentQueue&lt;T&gt;`</a:t>
            </a:r>
          </a:p>
          <a:p>
            <a:pPr lvl="1"/>
            <a:r>
              <a:rPr lang="en-US" dirty="0"/>
              <a:t>Thread safe storage. `TryDequeue()` answers right now.</a:t>
            </a:r>
          </a:p>
          <a:p>
            <a:pPr lvl="1"/>
            <a:r>
              <a:rPr lang="en-US" dirty="0"/>
              <a:t>You still write the waiting loop yourself</a:t>
            </a:r>
          </a:p>
          <a:p>
            <a:r>
              <a:rPr lang="en-US" dirty="0" b="1"/>
              <a:t>`Channel&lt;T&gt;`</a:t>
            </a:r>
          </a:p>
          <a:p>
            <a:pPr lvl="1"/>
            <a:r>
              <a:rPr lang="en-US" dirty="0"/>
              <a:t>Storage plus asynchronous waiting, capacity, completion</a:t>
            </a:r>
          </a:p>
          <a:p>
            <a:pPr lvl="2"/>
            <a:r>
              <a:rPr lang="en-US" dirty="0"/>
              <a:t>*An unbounded Channel stores its items in a `ConcurrentQueue&lt;T&gt;`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Several Consumers, One Reader</a:t>
            </a:r>
            <a:br>
              <a:rPr lang="en-US" dirty="0"/>
            </a:br>
            <a:r>
              <a:rPr lang="en-US" dirty="0" sz="3600">
                <a:gradFill>
                  <a:gsLst>
                    <a:gs pos="1250">
                      <a:srgbClr val="FFB900"/>
                    </a:gs>
                    <a:gs pos="100000">
                      <a:srgbClr val="FFB900"/>
                    </a:gs>
                  </a:gsLst>
                  <a:lin ang="5400000" scaled="0"/>
                </a:gradFill>
              </a:rPr>
              <a:t>Scale the slow half</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Start N tasks reading the same `ChannelReader&lt;T&gt;`</a:t>
            </a:r>
          </a:p>
          <a:p>
            <a:r>
              <a:rPr lang="en-US" dirty="0"/>
              <a:t>Each item goes to exactly one consumer</a:t>
            </a:r>
          </a:p>
          <a:p>
            <a:r>
              <a:rPr lang="en-US" dirty="0"/>
              <a:t>N is your degree of parallelism</a:t>
            </a:r>
          </a:p>
          <a:p>
            <a:r>
              <a:rPr lang="en-US" dirty="0"/>
              <a:t>Order holds in the channel, not across consumers</a:t>
            </a:r>
          </a:p>
          <a:p>
            <a:r>
              <a:rPr lang="en-US" dirty="0"/>
              <a:t>8 consumers, 40ms per write, 400 events in 2.11 seconds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Hosting the Consumer</a:t>
            </a:r>
            <a:br>
              <a:rPr lang="en-US" dirty="0"/>
            </a:br>
            <a:r>
              <a:rPr lang="en-US" dirty="0" sz="3600">
                <a:gradFill>
                  <a:gsLst>
                    <a:gs pos="1250">
                      <a:srgbClr val="FFB900"/>
                    </a:gs>
                    <a:gs pos="100000">
                      <a:srgbClr val="FFB900"/>
                    </a:gs>
                  </a:gsLst>
                  <a:lin ang="5400000" scaled="0"/>
                </a:gradFill>
              </a:rPr>
              <a:t>Microsoft.Extensions.Hosting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One home for a reader, for the life of the app</a:t>
            </a:r>
          </a:p>
          <a:p>
            <a:r>
              <a:rPr lang="en-US" dirty="0" sz="2800"/>
              <a:t>`stoppingToken` flows into `ReadAllAsync()`</a:t>
            </a:r>
          </a:p>
          <a:p>
            <a:pPr lvl="2"/>
            <a:r>
              <a:rPr lang="en-US" dirty="0" sz="2400"/>
              <a:t>*Catch `OperationCanceledException` only when the token fired</a:t>
            </a:r>
          </a:p>
        </p:txBody>
      </p:sp>
      <p:pic>
        <p:nvPicPr>
          <p:cNvPr id="4" name="Picture 3" descr="slide15.png"/>
          <p:cNvPicPr>
            <a:picLocks noChangeAspect="1"/>
          </p:cNvPicPr>
          <p:nvPr/>
        </p:nvPicPr>
        <p:blipFill>
          <a:blip r:embed="rId2"/>
          <a:stretch>
            <a:fillRect/>
          </a:stretch>
        </p:blipFill>
        <p:spPr>
          <a:xfrm>
            <a:off x="5577839" y="1971822"/>
            <a:ext cx="6583680" cy="378303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011680"/>
            <a:ext cx="11155680" cy="1371600"/>
          </a:xfrm>
          <a:prstGeom prst="rect">
            <a:avLst/>
          </a:prstGeom>
          <a:noFill/>
        </p:spPr>
        <p:txBody>
          <a:bodyPr wrap="square">
            <a:spAutoFit/>
          </a:bodyPr>
          <a:lstStyle/>
          <a:p>
            <a:r>
              <a:rPr lang="en-US" dirty="0" sz="6600">
                <a:gradFill>
                  <a:gsLst>
                    <a:gs pos="1250">
                      <a:srgbClr val="FFB900"/>
                    </a:gs>
                    <a:gs pos="100000">
                      <a:srgbClr val="FFB900"/>
                    </a:gs>
                  </a:gsLst>
                  <a:lin ang="5400000" scaled="0"/>
                </a:gradFill>
                <a:latin typeface="+mj-lt"/>
              </a:rPr>
              <a:t>Backpressure Is a Business Decision</a:t>
            </a:r>
          </a:p>
        </p:txBody>
      </p:sp>
      <p:sp>
        <p:nvSpPr>
          <p:cNvPr id="3" name="TextBox 2"/>
          <p:cNvSpPr txBox="1"/>
          <p:nvPr/>
        </p:nvSpPr>
        <p:spPr>
          <a:xfrm>
            <a:off x="768096" y="4023360"/>
            <a:ext cx="11155680" cy="914400"/>
          </a:xfrm>
          <a:prstGeom prst="rect">
            <a:avLst/>
          </a:prstGeom>
          <a:noFill/>
        </p:spPr>
        <p:txBody>
          <a:bodyPr wrap="square">
            <a:spAutoFit/>
          </a:bodyPr>
          <a:lstStyle/>
          <a:p>
            <a:r>
              <a:rPr lang="en-US" dirty="0" sz="3600">
                <a:solidFill>
                  <a:schemeClr val="tx1"/>
                </a:solidFill>
                <a:latin typeface="+mj-lt"/>
              </a:rPr>
              <a:t>Wait for room, or drop the reading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Challenge: Drain the Pipeline</a:t>
            </a:r>
            <a:br>
              <a:rPr lang="en-US" dirty="0"/>
            </a:br>
            <a:r>
              <a:rPr lang="en-US" dirty="0" sz="3600">
                <a:gradFill>
                  <a:gsLst>
                    <a:gs pos="1250">
                      <a:srgbClr val="FFB900"/>
                    </a:gs>
                    <a:gs pos="100000">
                      <a:srgbClr val="FFB900"/>
                    </a:gs>
                  </a:gsLst>
                  <a:lin ang="5400000" scaled="0"/>
                </a:gradFill>
              </a:rPr>
              <a:t>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Replace the `List&lt;T&gt;` with a bounded `Channel&lt;TelemetryEvent&gt;`</a:t>
            </a:r>
          </a:p>
          <a:p>
            <a:r>
              <a:rPr lang="en-US" dirty="0"/>
              <a:t>Accept, queue, return</a:t>
            </a:r>
          </a:p>
          <a:p>
            <a:r>
              <a:rPr lang="en-US" dirty="0"/>
              <a:t>Move the database write into the consumer</a:t>
            </a:r>
          </a:p>
          <a:p>
            <a:r>
              <a:rPr lang="en-US" dirty="0"/>
              <a:t>Run several consumers under the `BackgroundService`</a:t>
            </a:r>
          </a:p>
          <a:p>
            <a:r>
              <a:rPr lang="en-US" dirty="0"/>
              <a:t>Delete the polling loop and its `Task.Delay`</a:t>
            </a:r>
          </a:p>
          <a:p>
            <a:pPr lvl="2"/>
            <a:r>
              <a:rPr lang="en-US" dirty="0"/>
              <a:t>*AI Agents are for understanding, not for solving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13171</TotalTime>
  <Words>6918</Words>
  <Application>Microsoft Macintosh PowerPoint</Application>
  <PresentationFormat>Custom</PresentationFormat>
  <Paragraphs>346</Paragraphs>
  <Slides>15</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15</vt:i4>
      </vt:variant>
    </vt:vector>
  </HeadingPairs>
  <TitlesOfParts>
    <vt:vector size="25" baseType="lpstr">
      <vt:lpstr>Arial</vt:lpstr>
      <vt:lpstr>Lucida Console</vt:lpstr>
      <vt:lpstr>Menlo</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Security System.Security.Principal</vt:lpstr>
      <vt:lpstr>ExecutionContext All Information Required for a Logical Thread</vt:lpstr>
      <vt:lpstr>ExecutionContext AsyncLocal&lt;T&gt;</vt:lpstr>
      <vt:lpstr>ExecutionContext Capture() + Run()</vt:lpstr>
      <vt:lpstr>ExecutionContext SuppressFlow()</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227</cp:revision>
  <dcterms:created xsi:type="dcterms:W3CDTF">2017-10-31T19:47:21Z</dcterms:created>
  <dcterms:modified xsi:type="dcterms:W3CDTF">2026-09-07T02:47:27Z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