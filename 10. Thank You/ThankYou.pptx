
<file path=[Content_Types].xml><?xml version="1.0" encoding="utf-8"?>
<Types xmlns="http://schemas.openxmlformats.org/package/2006/content-types">
  <Default Extension="emf" ContentType="image/x-emf"/>
  <Default Extension="gif" ContentType="image/gif"/>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 Id="rId5"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495" r:id="rId4"/>
    <p:sldMasterId id="2147484524" r:id="rId5"/>
    <p:sldMasterId id="2147484523" r:id="rId6"/>
  </p:sldMasterIdLst>
  <p:notesMasterIdLst>
    <p:notesMasterId r:id="rId19"/>
  </p:notesMasterIdLst>
  <p:handoutMasterIdLst>
    <p:handoutMasterId r:id="rId20"/>
  </p:handoutMasterIdLst>
  <p:sldIdLst>
    <p:sldId id="274" r:id="rId26"/>
    <p:sldId id="275" r:id="rId27"/>
    <p:sldId id="276" r:id="rId28"/>
    <p:sldId id="277" r:id="rId29"/>
    <p:sldId id="278" r:id="rId30"/>
    <p:sldId id="279" r:id="rId31"/>
  </p:sldIdLst>
  <p:sldSz cx="12436475" cy="6994525"/>
  <p:notesSz cx="6858000" cy="9144000"/>
  <p:defaultText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Saku Uchikawa" initials="SU" lastIdx="11" clrIdx="0"/>
  <p:cmAuthor id="1" name="Mary Feil-Jacobs" initials="MFJ" lastIdx="43" clrIdx="1"/>
  <p:cmAuthor id="2" name="Monica Lueder" initials="ML" lastIdx="22" clrIdx="2">
    <p:extLst>
      <p:ext uri="{19B8F6BF-5375-455C-9EA6-DF929625EA0E}">
        <p15:presenceInfo xmlns:p15="http://schemas.microsoft.com/office/powerpoint/2012/main" userId="S-1-5-21-2127521184-1604012920-1887927527-2598260" providerId="AD"/>
      </p:ext>
    </p:extLst>
  </p:cmAuthor>
  <p:cmAuthor id="3" name="Mary Feil-Jacobs" initials="MF" lastIdx="22" clrIdx="3">
    <p:extLst>
      <p:ext uri="{19B8F6BF-5375-455C-9EA6-DF929625EA0E}">
        <p15:presenceInfo xmlns:p15="http://schemas.microsoft.com/office/powerpoint/2012/main" userId="S-1-5-21-2127521184-1604012920-1887927527-65006"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62626"/>
    <a:srgbClr val="FFB900"/>
    <a:srgbClr val="414141"/>
    <a:srgbClr val="1E1E1E"/>
    <a:srgbClr val="00BCF2"/>
    <a:srgbClr val="0078D7"/>
    <a:srgbClr val="353535"/>
    <a:srgbClr val="525252"/>
    <a:srgbClr val="B4009E"/>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9561"/>
    <p:restoredTop sz="70881"/>
  </p:normalViewPr>
  <p:slideViewPr>
    <p:cSldViewPr snapToGrid="0">
      <p:cViewPr varScale="1">
        <p:scale>
          <a:sx n="105" d="100"/>
          <a:sy n="105" d="100"/>
        </p:scale>
        <p:origin x="2200" y="176"/>
      </p:cViewPr>
      <p:guideLst/>
    </p:cSldViewPr>
  </p:slideViewPr>
  <p:notesTextViewPr>
    <p:cViewPr>
      <p:scale>
        <a:sx n="1" d="1"/>
        <a:sy n="1" d="1"/>
      </p:scale>
      <p:origin x="0" y="0"/>
    </p:cViewPr>
  </p:notesTextViewPr>
  <p:notesViewPr>
    <p:cSldViewPr snapToGrid="0">
      <p:cViewPr varScale="1">
        <p:scale>
          <a:sx n="66" d="100"/>
          <a:sy n="66" d="100"/>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19" Type="http://schemas.openxmlformats.org/officeDocument/2006/relationships/notesMaster" Target="notesMasters/notesMaster1.xml"/><Relationship Id="rId20" Type="http://schemas.openxmlformats.org/officeDocument/2006/relationships/handoutMaster" Target="handoutMasters/handoutMaster1.xml"/><Relationship Id="rId21" Type="http://schemas.openxmlformats.org/officeDocument/2006/relationships/commentAuthors" Target="commentAuthors.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 Id="rId26" Type="http://schemas.openxmlformats.org/officeDocument/2006/relationships/slide" Target="slides/slide13.xml"/><Relationship Id="rId27" Type="http://schemas.openxmlformats.org/officeDocument/2006/relationships/slide" Target="slides/slide14.xml"/><Relationship Id="rId28" Type="http://schemas.openxmlformats.org/officeDocument/2006/relationships/slide" Target="slides/slide15.xml"/><Relationship Id="rId29" Type="http://schemas.openxmlformats.org/officeDocument/2006/relationships/slide" Target="slides/slide16.xml"/><Relationship Id="rId30" Type="http://schemas.openxmlformats.org/officeDocument/2006/relationships/slide" Target="slides/slide17.xml"/><Relationship Id="rId31"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Header Placeholder 5"/>
          <p:cNvSpPr>
            <a:spLocks noGrp="1"/>
          </p:cNvSpPr>
          <p:nvPr>
            <p:ph type="hdr" sz="quarter"/>
          </p:nvPr>
        </p:nvSpPr>
        <p:spPr>
          <a:xfrm>
            <a:off x="0" y="-11574"/>
            <a:ext cx="2971800" cy="457200"/>
          </a:xfrm>
          <a:prstGeom prst="rect">
            <a:avLst/>
          </a:prstGeom>
        </p:spPr>
        <p:txBody>
          <a:bodyPr vert="horz" lIns="91440" tIns="45720" rIns="91440" bIns="45720" rtlCol="0"/>
          <a:lstStyle>
            <a:lvl1pPr algn="l">
              <a:defRPr sz="1200"/>
            </a:lvl1pPr>
          </a:lstStyle>
          <a:p>
            <a:endParaRPr lang="en-US">
              <a:latin typeface="Segoe UI" pitchFamily="34" charset="0"/>
            </a:endParaRPr>
          </a:p>
        </p:txBody>
      </p:sp>
      <p:sp>
        <p:nvSpPr>
          <p:cNvPr id="7" name="Date Placeholder 6"/>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21D0CB2F-F0BF-435A-A27A-2EC15087F634}" type="datetime8">
              <a:rPr lang="en-US" smtClean="0">
                <a:latin typeface="Segoe UI" pitchFamily="34" charset="0"/>
              </a:rPr>
              <a:t>9/8/26 11:43 AM</a:t>
            </a:fld>
            <a:endParaRPr lang="en-US">
              <a:latin typeface="Segoe UI" pitchFamily="34" charset="0"/>
            </a:endParaRPr>
          </a:p>
        </p:txBody>
      </p:sp>
      <p:sp>
        <p:nvSpPr>
          <p:cNvPr id="8" name="Footer Placeholder 7"/>
          <p:cNvSpPr>
            <a:spLocks noGrp="1"/>
          </p:cNvSpPr>
          <p:nvPr>
            <p:ph type="ftr" sz="quarter" idx="2"/>
          </p:nvPr>
        </p:nvSpPr>
        <p:spPr>
          <a:xfrm>
            <a:off x="0" y="8685213"/>
            <a:ext cx="5795010" cy="332434"/>
          </a:xfrm>
          <a:prstGeom prst="rect">
            <a:avLst/>
          </a:prstGeom>
        </p:spPr>
        <p:txBody>
          <a:bodyPr vert="horz" lIns="91440" tIns="45720" rIns="91440" bIns="45720" rtlCol="0" anchor="b"/>
          <a:lstStyle>
            <a:lvl1pPr algn="l">
              <a:defRPr sz="1200"/>
            </a:lvl1pPr>
          </a:lstStyle>
          <a:p>
            <a:pPr marL="398463" defTabSz="914099" eaLnBrk="0" hangingPunct="0"/>
            <a:r>
              <a:rPr lang="en-US" sz="400">
                <a:gradFill>
                  <a:gsLst>
                    <a:gs pos="0">
                      <a:schemeClr val="tx1"/>
                    </a:gs>
                    <a:gs pos="100000">
                      <a:schemeClr val="tx1"/>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Slide Number Placeholder 8"/>
          <p:cNvSpPr>
            <a:spLocks noGrp="1"/>
          </p:cNvSpPr>
          <p:nvPr>
            <p:ph type="sldNum" sz="quarter" idx="3"/>
          </p:nvPr>
        </p:nvSpPr>
        <p:spPr>
          <a:xfrm>
            <a:off x="5783579" y="8685213"/>
            <a:ext cx="1072833" cy="457200"/>
          </a:xfrm>
          <a:prstGeom prst="rect">
            <a:avLst/>
          </a:prstGeom>
        </p:spPr>
        <p:txBody>
          <a:bodyPr vert="horz" lIns="91440" tIns="45720" rIns="91440" bIns="45720" rtlCol="0" anchor="b"/>
          <a:lstStyle>
            <a:lvl1pPr algn="r">
              <a:defRPr sz="1200"/>
            </a:lvl1pPr>
          </a:lstStyle>
          <a:p>
            <a:fld id="{0EC9E9D6-92A0-482B-A603-C9BA7FFB8190}" type="slidenum">
              <a:rPr lang="en-US" smtClean="0">
                <a:latin typeface="Segoe UI" pitchFamily="34" charset="0"/>
              </a:rPr>
              <a:t>‹#›</a:t>
            </a:fld>
            <a:endParaRPr lang="en-US">
              <a:latin typeface="Segoe UI" pitchFamily="34" charset="0"/>
            </a:endParaRPr>
          </a:p>
        </p:txBody>
      </p:sp>
    </p:spTree>
    <p:extLst>
      <p:ext uri="{BB962C8B-B14F-4D97-AF65-F5344CB8AC3E}">
        <p14:creationId xmlns:p14="http://schemas.microsoft.com/office/powerpoint/2010/main" val="3904595630"/>
      </p:ext>
    </p:extLst>
  </p:cSld>
  <p:clrMap bg1="lt1" tx1="dk1" bg2="lt2" tx2="dk2" accent1="accent1" accent2="accent2" accent3="accent3" accent4="accent4" accent5="accent5" accent6="accent6" hlink="hlink" folHlink="folHlink"/>
  <p:hf/>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Header Placeholder 7"/>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Segoe UI" pitchFamily="34" charset="0"/>
              </a:defRPr>
            </a:lvl1pPr>
          </a:lstStyle>
          <a:p>
            <a:endParaRPr lang="en-US"/>
          </a:p>
        </p:txBody>
      </p:sp>
      <p:sp>
        <p:nvSpPr>
          <p:cNvPr id="9" name="Slide Image Placeholder 8"/>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10" name="Footer Placeholder 9"/>
          <p:cNvSpPr>
            <a:spLocks noGrp="1"/>
          </p:cNvSpPr>
          <p:nvPr>
            <p:ph type="ftr" sz="quarter" idx="4"/>
          </p:nvPr>
        </p:nvSpPr>
        <p:spPr>
          <a:xfrm>
            <a:off x="0" y="8686800"/>
            <a:ext cx="5920740" cy="355964"/>
          </a:xfrm>
          <a:prstGeom prst="rect">
            <a:avLst/>
          </a:prstGeom>
        </p:spPr>
        <p:txBody>
          <a:bodyPr vert="horz" lIns="91440" tIns="45720" rIns="91440" bIns="45720" rtlCol="0" anchor="b"/>
          <a:lstStyle>
            <a:lvl1pPr marL="571500" indent="0" algn="l">
              <a:defRPr sz="1200"/>
            </a:lvl1p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11" name="Date Placeholder 10"/>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Segoe UI" pitchFamily="34" charset="0"/>
              </a:defRPr>
            </a:lvl1pPr>
          </a:lstStyle>
          <a:p>
            <a:fld id="{D18B56EA-E28F-4F92-9F16-7A6F2501B303}" type="datetime8">
              <a:rPr lang="en-US" smtClean="0"/>
              <a:t>9/8/26 11:43 AM</a:t>
            </a:fld>
            <a:endParaRPr lang="en-US"/>
          </a:p>
        </p:txBody>
      </p:sp>
      <p:sp>
        <p:nvSpPr>
          <p:cNvPr id="12" name="Notes Placeholder 11"/>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Slide Number Placeholder 12"/>
          <p:cNvSpPr>
            <a:spLocks noGrp="1"/>
          </p:cNvSpPr>
          <p:nvPr>
            <p:ph type="sldNum" sz="quarter" idx="5"/>
          </p:nvPr>
        </p:nvSpPr>
        <p:spPr>
          <a:xfrm>
            <a:off x="5909309" y="8685213"/>
            <a:ext cx="947103" cy="457200"/>
          </a:xfrm>
          <a:prstGeom prst="rect">
            <a:avLst/>
          </a:prstGeom>
        </p:spPr>
        <p:txBody>
          <a:bodyPr vert="horz" lIns="91440" tIns="45720" rIns="91440" bIns="45720" rtlCol="0" anchor="b"/>
          <a:lstStyle>
            <a:lvl1pPr algn="r">
              <a:defRPr sz="1200">
                <a:latin typeface="Segoe UI" pitchFamily="34" charset="0"/>
              </a:defRPr>
            </a:lvl1pPr>
          </a:lstStyle>
          <a:p>
            <a:fld id="{B4008EB6-D09E-4580-8CD6-DDB14511944F}" type="slidenum">
              <a:rPr lang="en-US" smtClean="0"/>
              <a:pPr/>
              <a:t>‹#›</a:t>
            </a:fld>
            <a:endParaRPr lang="en-US"/>
          </a:p>
        </p:txBody>
      </p:sp>
    </p:spTree>
    <p:extLst>
      <p:ext uri="{BB962C8B-B14F-4D97-AF65-F5344CB8AC3E}">
        <p14:creationId xmlns:p14="http://schemas.microsoft.com/office/powerpoint/2010/main" val="2624648265"/>
      </p:ext>
    </p:extLst>
  </p:cSld>
  <p:clrMap bg1="lt1" tx1="dk1" bg2="lt2" tx2="dk2" accent1="accent1" accent2="accent2" accent3="accent3" accent4="accent4" accent5="accent5" accent6="accent6" hlink="hlink" folHlink="folHlink"/>
  <p:hf/>
  <p:notesStyle>
    <a:lvl1pPr marL="0" algn="l" defTabSz="932742" rtl="0" eaLnBrk="1" latinLnBrk="0" hangingPunct="1">
      <a:lnSpc>
        <a:spcPct val="90000"/>
      </a:lnSpc>
      <a:spcAft>
        <a:spcPts val="340"/>
      </a:spcAft>
      <a:defRPr sz="900" kern="1200">
        <a:solidFill>
          <a:schemeClr val="tx1"/>
        </a:solidFill>
        <a:latin typeface="Segoe UI Light" pitchFamily="34" charset="0"/>
        <a:ea typeface="+mn-ea"/>
        <a:cs typeface="+mn-cs"/>
      </a:defRPr>
    </a:lvl1pPr>
    <a:lvl2pPr marL="217262" indent="-107956"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2pPr>
    <a:lvl3pPr marL="334664" indent="-117403"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3pPr>
    <a:lvl4pPr marL="492551" indent="-149789"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4pPr>
    <a:lvl5pPr marL="627496" indent="-117403"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5pPr>
    <a:lvl6pPr marL="2331856" algn="l" defTabSz="932742" rtl="0" eaLnBrk="1" latinLnBrk="0" hangingPunct="1">
      <a:defRPr sz="1200" kern="1200">
        <a:solidFill>
          <a:schemeClr val="tx1"/>
        </a:solidFill>
        <a:latin typeface="+mn-lt"/>
        <a:ea typeface="+mn-ea"/>
        <a:cs typeface="+mn-cs"/>
      </a:defRPr>
    </a:lvl6pPr>
    <a:lvl7pPr marL="2798226" algn="l" defTabSz="932742" rtl="0" eaLnBrk="1" latinLnBrk="0" hangingPunct="1">
      <a:defRPr sz="1200" kern="1200">
        <a:solidFill>
          <a:schemeClr val="tx1"/>
        </a:solidFill>
        <a:latin typeface="+mn-lt"/>
        <a:ea typeface="+mn-ea"/>
        <a:cs typeface="+mn-cs"/>
      </a:defRPr>
    </a:lvl7pPr>
    <a:lvl8pPr marL="3264597" algn="l" defTabSz="932742" rtl="0" eaLnBrk="1" latinLnBrk="0" hangingPunct="1">
      <a:defRPr sz="1200" kern="1200">
        <a:solidFill>
          <a:schemeClr val="tx1"/>
        </a:solidFill>
        <a:latin typeface="+mn-lt"/>
        <a:ea typeface="+mn-ea"/>
        <a:cs typeface="+mn-cs"/>
      </a:defRPr>
    </a:lvl8pPr>
    <a:lvl9pPr marL="3730969" algn="l" defTabSz="932742" rtl="0" eaLnBrk="1" latinLnBrk="0" hangingPunct="1">
      <a:defRPr sz="1200" kern="1200">
        <a:solidFill>
          <a:schemeClr val="tx1"/>
        </a:solidFill>
        <a:latin typeface="+mn-lt"/>
        <a:ea typeface="+mn-ea"/>
        <a:cs typeface="+mn-cs"/>
      </a:defRPr>
    </a:lvl9pPr>
  </p:notesStyle>
</p:notesMaster>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Day 1 was about one thread and how not to waste it. Here is what is worth keeping.</a:t>
            </a:r>
          </a:p>
          <a:p/>
          <a:p>
            <a:r>
              <a:t>A Task is not a thread. It is a small object that records whether work has finished, what the outcome was, and who is waiting to hear about it. Task.Run does not create a thread either. The Thread Pool does the running, and the Task only records the result when that work completes. Once you separate the work from the object that tracks the work, most async confusion goes away.</a:t>
            </a:r>
          </a:p>
          <a:p/>
          <a:p>
            <a:r>
              <a:t>Await is just a pattern. You proved that yourself when you gave CustomTask a GetAwaiter method and the compiler accepted it with no attributes and no registration. Every behavior you have ever debugged, thread switches, context capture, exceptions surfacing at the await instead of where they were thrown, lives in the awaiter and the task rather than in the keyword.</a:t>
            </a:r>
          </a:p>
          <a:p/>
          <a:p>
            <a:r>
              <a:t>The ambient data question has a three bucket answer. AsyncLocal-backed values flow with the ExecutionContext, so Thread.CurrentPrincipal and CultureInfo.CurrentCulture survive an await. [ThreadStatic] and SynchronizationContext.Current stay on the thread. Object references you already hold were never ambient at all, which is why some values look like they flowed when nothing flowed.</a:t>
            </a:r>
          </a:p>
          <a:p/>
          <a:p>
            <a:r>
              <a:t>And the rules from the mistakes section did not move. Await every Task, forward your token, and never block on .Wait() or .Result. Runtime Async in .NET 11 changes who builds the state machine. It changes none of that advice.</a:t>
            </a:r>
          </a:p>
          <a:p/>
          <a:p>
            <a:r>
              <a:t>https://learn.microsoft.com/dotnet/csharp/asynchronous-programming/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Day 2 was about many threads and the correctness bill that arrives with them.</a:t>
            </a:r>
          </a:p>
          <a:p/>
          <a:p>
            <a:r>
              <a:t>Waiting is not working. If the machine is idle because you are waiting on a network call, a database or a disk, adding threads just gives you more threads standing around. If the machine is busy because you are genuinely computing, awaiting buys you nothing, because there is nothing to wait for. Pick based on what is actually slow, and remember that Environment.ProcessorCount is the ceiling on the second one.</a:t>
            </a:r>
          </a:p>
          <a:p/>
          <a:p>
            <a:r>
              <a:t>Start early, await late. Calling an async method starts the work. The await only says you have nothing useful to do until it finishes. Task.WhenAll, Task.WhenAny and Task.WhenEach are three ways to wait on work that is already running, and none of the three start anything or create threads.</a:t>
            </a:r>
          </a:p>
          <a:p/>
          <a:p>
            <a:r>
              <a:t>Parallel.ForEach takes an Action of T. An async lambda bound to it becomes async void, so the loop returns before a single body has finished, with no warning, no work done, and any failure crashing the process instead of landing in your try block. Parallel.ForEachAsync is the overload that can await your body.</a:t>
            </a:r>
          </a:p>
          <a:p/>
          <a:p>
            <a:r>
              <a:t>Thread safe is not atomic. Every method on ConcurrentDictionary is safe on its own, and two safe calls in a row are still a race. AddOrUpdate and GetOrAdd exist so you do not have to invent that yourself.</a:t>
            </a:r>
          </a:p>
          <a:p/>
          <a:p>
            <a:r>
              <a:t>And a ConcurrentQueue is storage, while a Channel is storage plus asynchronous waiting, capacity and completion.</a:t>
            </a:r>
          </a:p>
          <a:p/>
          <a:p>
            <a:r>
              <a:t>https://learn.microsoft.com/dotnet/standard/parallel-programming/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days, nine sections, and one question underneath all of it. Before you reach for an API, ask what kind of slow you are actually looking at.</a:t>
            </a:r>
          </a:p>
          <a:p/>
          <a:p>
            <a:r>
              <a:t>If the answer is waiting, the work is happening somewhere else and your thread is doing nothing. Await it, forward the token, and let that thread go serve somebody else. More threads there buy you nothing at all.</a:t>
            </a:r>
          </a:p>
          <a:p/>
          <a:p>
            <a:r>
              <a:t>If the answer is working, a thread really is busy and somebody has to do the work. Split the data, reach for the Parallel class or PLINQ, and accept that your core count is a hard ceiling.</a:t>
            </a:r>
          </a:p>
          <a:p/>
          <a:p>
            <a:r>
              <a:t>Most real code is both at once, which is why Parallel.ForEachAsync exists. When the body waits on a network call, MaxDegreeOfParallelism stops being a CPU setting and becomes a rate limit, and you should be able to say why you picked the number.</a:t>
            </a:r>
          </a:p>
          <a:p/>
          <a:p>
            <a:r>
              <a:t>Then ask the second half of the question. Which state can two threads now reach at the same time? A race needs all three of shared, mutable and unsynchronized, so the cheapest fixes are the ones that remove an ingredient. A local inside the loop body is not shared. An immutable record is not mutable. When you need all three, pick the guard by what you are guarding: Interlocked for a counter, Lock for a synchronous critical section, SemaphoreSlim when it has to await, Lazy of T for one time initialization, a concurrent collection for a collection, and a channel for a handoff.</a:t>
            </a:r>
          </a:p>
          <a:p/>
          <a:p>
            <a:r>
              <a:t>If you take one idea home from these two days, take this one.</a:t>
            </a:r>
          </a:p>
          <a:p/>
          <a:p>
            <a:r>
              <a:t>https://learn.microsoft.com/dotnet/standard/threading/overview-of-synchronization-primitives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the repo with you. It is public, it stays up, and it is the version of these two days you can actually re-run. Every deck, every 1. Start project, every 2. Finish project, and a SOLUTION.md for each section that walks the reasoning rather than just showing you the diff. The speaker notes ship with it too, so the explanations you heard out loud are readable later, on a Tuesday, when the bug is yours.</a:t>
            </a:r>
          </a:p>
          <a:p/>
          <a:p>
            <a:r>
              <a:t>Here is a good way to use it next week. Open a 1. Start project you did not finish, and do the challenge again cold, without the solution open. The second attempt is where this material moves from recognized to known.</a:t>
            </a:r>
          </a:p>
          <a:p/>
          <a:p>
            <a:r>
              <a:t>The reference link at the end of each slide's notes is deliberate. Almost all of them go to learn.microsoft.com, and they are the pages I would send you to anyway. The parallel programming landing page, the thread safe collections guide and the channels overview between them cover most of Day 2, and they are maintained by the people who ship the runtime.</a:t>
            </a:r>
          </a:p>
          <a:p/>
          <a:p>
            <a:r>
              <a:t>If you want the long form version of either day, I teach both halves of this material on Dometrain. From Zero to Hero: Asynchronous Programming in C# covers Day 1 at a slower pace, and From Zero to Hero: Parallel Programming in C# does the same for Day 2. They are a reasonable next step when you want the repetitions without the room.</a:t>
            </a:r>
          </a:p>
          <a:p/>
          <a:p>
            <a:r>
              <a:t>https://github.com/TheCodeTraveler/BecomeAnExpertWithAsyncAwait</a:t>
            </a:r>
          </a:p>
          <a:p>
            <a:r>
              <a:t>https://dometrain.com/course/from-zero-to-hero-parallel-programming-in-csharp/</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slide about what I do, and then we are finished.</a:t>
            </a:r>
          </a:p>
          <a:p/>
          <a:p>
            <a:r>
              <a:t>Code Traveler, LLC is my company, and there are two kinds of work I take on.</a:t>
            </a:r>
          </a:p>
          <a:p/>
          <a:p>
            <a:r>
              <a:t>The first is .NET consulting. It is usually this material applied to a codebase that is already in production: a race condition nobody can reproduce, a request path that blocks a thread pool thread, a nightly job that is slower than it should be, an async refactor that stalled halfway through. Sometimes that is a code review, sometimes it is a design review before the code exists, and sometimes it is running these two days for a team that could not all be in this room.</a:t>
            </a:r>
          </a:p>
          <a:p/>
          <a:p>
            <a:r>
              <a:t>The second is Developer Advocacy consulting. If your company has a developer product and is trying to build a DevRel practice, or has one that is not paying off, I help with the parts that decide whether it works: what to publish, which samples are worth maintaining, how docs and talks and community programs fit together, and how to tell whether any of it is landing.</a:t>
            </a:r>
          </a:p>
          <a:p/>
          <a:p>
            <a:r>
              <a:t>If either of those sounds like a problem you have, the next step is a conversation rather than a proposal. Send me a note describing what is going wrong and we will work out whether I am useful to you. If I am not the right person for it, I will usually know who is.</a:t>
            </a:r>
          </a:p>
          <a:p/>
          <a:p>
            <a:r>
              <a:t>[contact email]</a:t>
            </a:r>
          </a:p>
          <a:p>
            <a:r>
              <a:t>[website]</a:t>
            </a:r>
          </a:p>
          <a:p>
            <a:r>
              <a:t>[LinkedIn]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is the workshop. Thank you for two days of it.</a:t>
            </a:r>
          </a:p>
          <a:p/>
          <a:p>
            <a:r>
              <a:t>You came in able to write async code that worked. You are leaving able to explain why it works, which is a different skill and a far more durable one. You watched the compiler rewrite a method into a state machine, you built a Task from scratch and taught the await keyword to accept it, you found race conditions that a single user test will never catch, you made a parallel loop that was quietly doing nothing do all of its work, and you replaced a polling loop with a channel.</a:t>
            </a:r>
          </a:p>
          <a:p/>
          <a:p>
            <a:r>
              <a:t>Two things before you go.</a:t>
            </a:r>
          </a:p>
          <a:p/>
          <a:p>
            <a:r>
              <a:t>First, the repo is yours. These notes are in it, so the explanations are readable later, when the context has faded and the bug is real and nobody is standing at a whiteboard.</a:t>
            </a:r>
          </a:p>
          <a:p/>
          <a:p>
            <a:r>
              <a:t>Second, go break something on purpose. The fastest way to keep this is to take one real thing at work next week, a loop, a cache, an endpoint that blocks, and put what you learned against it while the material is still fresh. Then run it under load five times rather than once, because a race condition that passes once has not been fixed, it has been lucky. The load is not the bug. The load is the test.</a:t>
            </a:r>
          </a:p>
          <a:p/>
          <a:p>
            <a:r>
              <a:t>Questions now, while everybody is still in the room, and my inbox is open long after that.</a:t>
            </a:r>
          </a:p>
          <a:p/>
          <a:p>
            <a:r>
              <a:t>Thank you. Go write something fast and correct.</a:t>
            </a:r>
          </a:p>
          <a:p/>
          <a:p>
            <a:r>
              <a:t>[contact email]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emf"/><Relationship Id="rId3" Type="http://schemas.openxmlformats.org/officeDocument/2006/relationships/image" Target="../media/image4.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gif"/></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amp; Non-bullete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38" y="1212850"/>
            <a:ext cx="11888787" cy="2308324"/>
          </a:xfrm>
        </p:spPr>
        <p:txBody>
          <a:bodyPr>
            <a:spAutoFit/>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6175702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p>
        </p:txBody>
      </p:sp>
      <p:sp>
        <p:nvSpPr>
          <p:cNvPr id="3" name="Text Placeholder 2"/>
          <p:cNvSpPr>
            <a:spLocks noGrp="1"/>
          </p:cNvSpPr>
          <p:nvPr>
            <p:ph type="body" sz="quarter" idx="10" hasCustomPrompt="1"/>
          </p:nvPr>
        </p:nvSpPr>
        <p:spPr>
          <a:xfrm>
            <a:off x="274702" y="1211287"/>
            <a:ext cx="11888787" cy="5484813"/>
          </a:xfrm>
        </p:spPr>
        <p:txBody>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7123215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Non-bullete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39" y="1211287"/>
            <a:ext cx="5486399" cy="2157514"/>
          </a:xfrm>
        </p:spPr>
        <p:txBody>
          <a:bodyPr wrap="square">
            <a:spAutoFit/>
          </a:bodyPr>
          <a:lstStyle>
            <a:lvl1pPr marL="0" indent="0">
              <a:spcBef>
                <a:spcPts val="1224"/>
              </a:spcBef>
              <a:buClr>
                <a:schemeClr val="tx1"/>
              </a:buClr>
              <a:buFont typeface="Wingdings" panose="05000000000000000000" pitchFamily="2" charset="2"/>
              <a:buNone/>
              <a:defRPr sz="3000" b="0">
                <a:latin typeface="+mn-lt"/>
              </a:defRPr>
            </a:lvl1pPr>
            <a:lvl2pPr marL="255588" indent="0">
              <a:buFont typeface="Wingdings" panose="05000000000000000000" pitchFamily="2" charset="2"/>
              <a:buNone/>
              <a:defRPr sz="2400" b="0"/>
            </a:lvl2pPr>
            <a:lvl3pPr marL="450850" indent="0">
              <a:buFont typeface="Wingdings" panose="05000000000000000000" pitchFamily="2" charset="2"/>
              <a:buNone/>
              <a:tabLst/>
              <a:defRPr sz="2200" b="0"/>
            </a:lvl3pPr>
            <a:lvl4pPr marL="652462" indent="0">
              <a:buFont typeface="Wingdings" panose="05000000000000000000" pitchFamily="2" charset="2"/>
              <a:buNone/>
              <a:defRPr sz="2200" b="0"/>
            </a:lvl4pPr>
            <a:lvl5pPr marL="854075" indent="0">
              <a:buFont typeface="Wingdings" panose="05000000000000000000" pitchFamily="2" charset="2"/>
              <a:buNone/>
              <a:tabLst/>
              <a:defRPr sz="2200" b="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3"/>
          <p:cNvSpPr>
            <a:spLocks noGrp="1"/>
          </p:cNvSpPr>
          <p:nvPr>
            <p:ph type="body" sz="quarter" idx="11"/>
          </p:nvPr>
        </p:nvSpPr>
        <p:spPr>
          <a:xfrm>
            <a:off x="6675439" y="1211287"/>
            <a:ext cx="5486399" cy="2123658"/>
          </a:xfrm>
        </p:spPr>
        <p:txBody>
          <a:bodyPr wrap="square">
            <a:spAutoFit/>
          </a:bodyPr>
          <a:lstStyle>
            <a:lvl1pPr marL="0" indent="0">
              <a:spcBef>
                <a:spcPts val="1224"/>
              </a:spcBef>
              <a:buClr>
                <a:schemeClr val="tx1"/>
              </a:buClr>
              <a:buFont typeface="Arial" panose="020B0604020202020204" pitchFamily="34" charset="0"/>
              <a:buNone/>
              <a:defRPr lang="en-US" sz="3000" b="0" kern="1200" spc="0" baseline="0" dirty="0">
                <a:gradFill>
                  <a:gsLst>
                    <a:gs pos="1250">
                      <a:schemeClr val="tx1"/>
                    </a:gs>
                    <a:gs pos="100000">
                      <a:schemeClr val="tx1"/>
                    </a:gs>
                  </a:gsLst>
                  <a:lin ang="5400000" scaled="0"/>
                </a:gradFill>
                <a:latin typeface="+mn-lt"/>
                <a:ea typeface="+mn-ea"/>
                <a:cs typeface="+mn-cs"/>
              </a:defRPr>
            </a:lvl1pPr>
            <a:lvl2pPr marL="255588" indent="0">
              <a:buFont typeface="Arial" panose="020B0604020202020204" pitchFamily="34" charset="0"/>
              <a:buNone/>
              <a:defRPr lang="en-US" sz="2400" b="0" kern="1200" spc="0" baseline="0" dirty="0">
                <a:gradFill>
                  <a:gsLst>
                    <a:gs pos="1250">
                      <a:schemeClr val="tx1"/>
                    </a:gs>
                    <a:gs pos="100000">
                      <a:schemeClr val="tx1"/>
                    </a:gs>
                  </a:gsLst>
                  <a:lin ang="5400000" scaled="0"/>
                </a:gradFill>
                <a:latin typeface="+mn-lt"/>
                <a:ea typeface="+mn-ea"/>
                <a:cs typeface="+mn-cs"/>
              </a:defRPr>
            </a:lvl2pPr>
            <a:lvl3pPr marL="450850" indent="0">
              <a:buFont typeface="Arial" panose="020B0604020202020204" pitchFamily="34" charset="0"/>
              <a:buNone/>
              <a:tabLst/>
              <a:defRPr lang="en-US" sz="2200" b="0" kern="1200" spc="0" baseline="0" dirty="0">
                <a:gradFill>
                  <a:gsLst>
                    <a:gs pos="1250">
                      <a:schemeClr val="tx1"/>
                    </a:gs>
                    <a:gs pos="100000">
                      <a:schemeClr val="tx1"/>
                    </a:gs>
                  </a:gsLst>
                  <a:lin ang="5400000" scaled="0"/>
                </a:gradFill>
                <a:latin typeface="+mn-lt"/>
                <a:ea typeface="+mn-ea"/>
                <a:cs typeface="+mn-cs"/>
              </a:defRPr>
            </a:lvl3pPr>
            <a:lvl4pPr marL="652462" indent="0">
              <a:buFont typeface="Arial" panose="020B0604020202020204" pitchFamily="34" charset="0"/>
              <a:buNone/>
              <a:defRPr lang="en-US" sz="2200" b="0" kern="1200" spc="0" baseline="0" dirty="0">
                <a:gradFill>
                  <a:gsLst>
                    <a:gs pos="1250">
                      <a:schemeClr val="tx1"/>
                    </a:gs>
                    <a:gs pos="100000">
                      <a:schemeClr val="tx1"/>
                    </a:gs>
                  </a:gsLst>
                  <a:lin ang="5400000" scaled="0"/>
                </a:gradFill>
                <a:latin typeface="+mn-lt"/>
                <a:ea typeface="+mn-ea"/>
                <a:cs typeface="+mn-cs"/>
              </a:defRPr>
            </a:lvl4pPr>
            <a:lvl5pPr marL="854075" indent="0">
              <a:buFont typeface="Arial" panose="020B0604020202020204" pitchFamily="34" charset="0"/>
              <a:buNone/>
              <a:tabLst/>
              <a:defRPr lang="en-US" sz="2200" b="0" kern="1200" spc="0" baseline="0" dirty="0">
                <a:gradFill>
                  <a:gsLst>
                    <a:gs pos="1250">
                      <a:schemeClr val="tx1"/>
                    </a:gs>
                    <a:gs pos="100000">
                      <a:schemeClr val="tx1"/>
                    </a:gs>
                  </a:gsLst>
                  <a:lin ang="5400000" scaled="0"/>
                </a:gradFill>
                <a:latin typeface="+mn-lt"/>
                <a:ea typeface="+mn-ea"/>
                <a:cs typeface="+mn-cs"/>
              </a:defRPr>
            </a:lvl5pPr>
          </a:lstStyle>
          <a:p>
            <a:pPr marL="514350" marR="0" lvl="0" indent="-514350" algn="l" defTabSz="932742" rtl="0" eaLnBrk="1" fontAlgn="auto" latinLnBrk="0" hangingPunct="1">
              <a:lnSpc>
                <a:spcPct val="90000"/>
              </a:lnSpc>
              <a:spcBef>
                <a:spcPts val="1224"/>
              </a:spcBef>
              <a:spcAft>
                <a:spcPts val="0"/>
              </a:spcAft>
              <a:buClr>
                <a:schemeClr val="tx1"/>
              </a:buClr>
              <a:buSzPct val="90000"/>
              <a:tabLst/>
            </a:pPr>
            <a:r>
              <a:rPr lang="en-US"/>
              <a:t>Edit Master text styles</a:t>
            </a:r>
          </a:p>
          <a:p>
            <a:pPr marL="514350" marR="0" lvl="1" indent="-514350" algn="l" defTabSz="932742" rtl="0" eaLnBrk="1" fontAlgn="auto" latinLnBrk="0" hangingPunct="1">
              <a:lnSpc>
                <a:spcPct val="90000"/>
              </a:lnSpc>
              <a:spcBef>
                <a:spcPts val="1224"/>
              </a:spcBef>
              <a:spcAft>
                <a:spcPts val="0"/>
              </a:spcAft>
              <a:buClr>
                <a:schemeClr val="tx1"/>
              </a:buClr>
              <a:buSzPct val="90000"/>
              <a:tabLst/>
            </a:pPr>
            <a:r>
              <a:rPr lang="en-US"/>
              <a:t>Second level</a:t>
            </a:r>
          </a:p>
          <a:p>
            <a:pPr marL="514350" marR="0" lvl="2" indent="-514350" algn="l" defTabSz="932742" rtl="0" eaLnBrk="1" fontAlgn="auto" latinLnBrk="0" hangingPunct="1">
              <a:lnSpc>
                <a:spcPct val="90000"/>
              </a:lnSpc>
              <a:spcBef>
                <a:spcPts val="1224"/>
              </a:spcBef>
              <a:spcAft>
                <a:spcPts val="0"/>
              </a:spcAft>
              <a:buClr>
                <a:schemeClr val="tx1"/>
              </a:buClr>
              <a:buSzPct val="90000"/>
              <a:tabLst/>
            </a:pPr>
            <a:r>
              <a:rPr lang="en-US"/>
              <a:t>Third level</a:t>
            </a:r>
          </a:p>
          <a:p>
            <a:pPr marL="514350" marR="0" lvl="3" indent="-514350" algn="l" defTabSz="932742" rtl="0" eaLnBrk="1" fontAlgn="auto" latinLnBrk="0" hangingPunct="1">
              <a:lnSpc>
                <a:spcPct val="90000"/>
              </a:lnSpc>
              <a:spcBef>
                <a:spcPts val="1224"/>
              </a:spcBef>
              <a:spcAft>
                <a:spcPts val="0"/>
              </a:spcAft>
              <a:buClr>
                <a:schemeClr val="tx1"/>
              </a:buClr>
              <a:buSzPct val="90000"/>
              <a:tabLst/>
            </a:pPr>
            <a:r>
              <a:rPr lang="en-US"/>
              <a:t>Fourth level</a:t>
            </a:r>
          </a:p>
          <a:p>
            <a:pPr marL="514350" marR="0" lvl="4" indent="-514350" algn="l" defTabSz="932742" rtl="0" eaLnBrk="1" fontAlgn="auto" latinLnBrk="0" hangingPunct="1">
              <a:lnSpc>
                <a:spcPct val="90000"/>
              </a:lnSpc>
              <a:spcBef>
                <a:spcPts val="1224"/>
              </a:spcBef>
              <a:spcAft>
                <a:spcPts val="0"/>
              </a:spcAft>
              <a:buClr>
                <a:schemeClr val="tx1"/>
              </a:buClr>
              <a:buSzPct val="90000"/>
              <a:tabLst/>
            </a:pPr>
            <a:r>
              <a:rPr lang="en-US"/>
              <a:t>Fifth level</a:t>
            </a:r>
          </a:p>
        </p:txBody>
      </p:sp>
    </p:spTree>
    <p:extLst>
      <p:ext uri="{BB962C8B-B14F-4D97-AF65-F5344CB8AC3E}">
        <p14:creationId xmlns:p14="http://schemas.microsoft.com/office/powerpoint/2010/main" val="19545306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lumn Bullet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39" y="1211287"/>
            <a:ext cx="5486399" cy="2157514"/>
          </a:xfrm>
        </p:spPr>
        <p:txBody>
          <a:bodyPr wrap="square">
            <a:spAutoFit/>
          </a:bodyPr>
          <a:lstStyle>
            <a:lvl1pPr marL="231775" indent="-231775">
              <a:spcBef>
                <a:spcPts val="1224"/>
              </a:spcBef>
              <a:buClr>
                <a:schemeClr val="tx1"/>
              </a:buClr>
              <a:buFont typeface="Wingdings" panose="05000000000000000000" pitchFamily="2" charset="2"/>
              <a:buChar char=""/>
              <a:defRPr sz="3000" b="0">
                <a:latin typeface="+mn-lt"/>
              </a:defRPr>
            </a:lvl1pPr>
            <a:lvl2pPr marL="427038" indent="-171450">
              <a:buFont typeface="Wingdings" panose="05000000000000000000" pitchFamily="2" charset="2"/>
              <a:buChar char=""/>
              <a:defRPr sz="2400" b="0"/>
            </a:lvl2pPr>
            <a:lvl3pPr marL="639763" indent="-188913">
              <a:buFont typeface="Wingdings" panose="05000000000000000000" pitchFamily="2" charset="2"/>
              <a:buChar char=""/>
              <a:tabLst/>
              <a:defRPr sz="2200" b="0"/>
            </a:lvl3pPr>
            <a:lvl4pPr marL="828675" indent="-176213">
              <a:buFont typeface="Wingdings" panose="05000000000000000000" pitchFamily="2" charset="2"/>
              <a:buChar char=""/>
              <a:defRPr sz="2200" b="0"/>
            </a:lvl4pPr>
            <a:lvl5pPr marL="1023938" indent="-169863">
              <a:buFont typeface="Wingdings" panose="05000000000000000000" pitchFamily="2" charset="2"/>
              <a:buChar char=""/>
              <a:tabLst/>
              <a:defRPr sz="2200" b="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3"/>
          <p:cNvSpPr>
            <a:spLocks noGrp="1"/>
          </p:cNvSpPr>
          <p:nvPr>
            <p:ph type="body" sz="quarter" idx="11"/>
          </p:nvPr>
        </p:nvSpPr>
        <p:spPr>
          <a:xfrm>
            <a:off x="6675439" y="1211287"/>
            <a:ext cx="5486399" cy="2123658"/>
          </a:xfrm>
        </p:spPr>
        <p:txBody>
          <a:bodyPr wrap="square">
            <a:spAutoFit/>
          </a:bodyPr>
          <a:lstStyle>
            <a:lvl1pPr marL="287338" indent="-287338">
              <a:spcBef>
                <a:spcPts val="1224"/>
              </a:spcBef>
              <a:buClr>
                <a:schemeClr val="tx1"/>
              </a:buClr>
              <a:buFont typeface="Arial" pitchFamily="34" charset="0"/>
              <a:buChar char="•"/>
              <a:defRPr lang="en-US" sz="3000" b="0" kern="1200" spc="0" baseline="0" dirty="0">
                <a:gradFill>
                  <a:gsLst>
                    <a:gs pos="1250">
                      <a:schemeClr val="tx1"/>
                    </a:gs>
                    <a:gs pos="100000">
                      <a:schemeClr val="tx1"/>
                    </a:gs>
                  </a:gsLst>
                  <a:lin ang="5400000" scaled="0"/>
                </a:gradFill>
                <a:latin typeface="+mn-lt"/>
                <a:ea typeface="+mn-ea"/>
                <a:cs typeface="+mn-cs"/>
              </a:defRPr>
            </a:lvl1pPr>
            <a:lvl2pPr marL="598488" indent="-342900">
              <a:defRPr lang="en-US" sz="2400" b="0" kern="1200" spc="0" baseline="0" dirty="0">
                <a:gradFill>
                  <a:gsLst>
                    <a:gs pos="1250">
                      <a:schemeClr val="tx1"/>
                    </a:gs>
                    <a:gs pos="100000">
                      <a:schemeClr val="tx1"/>
                    </a:gs>
                  </a:gsLst>
                  <a:lin ang="5400000" scaled="0"/>
                </a:gradFill>
                <a:latin typeface="+mn-lt"/>
                <a:ea typeface="+mn-ea"/>
                <a:cs typeface="+mn-cs"/>
              </a:defRPr>
            </a:lvl2pPr>
            <a:lvl3pPr marL="793750" indent="-342900">
              <a:tabLst/>
              <a:defRPr lang="en-US" sz="2200" b="0" kern="1200" spc="0" baseline="0" dirty="0">
                <a:gradFill>
                  <a:gsLst>
                    <a:gs pos="1250">
                      <a:schemeClr val="tx1"/>
                    </a:gs>
                    <a:gs pos="100000">
                      <a:schemeClr val="tx1"/>
                    </a:gs>
                  </a:gsLst>
                  <a:lin ang="5400000" scaled="0"/>
                </a:gradFill>
                <a:latin typeface="+mn-lt"/>
                <a:ea typeface="+mn-ea"/>
                <a:cs typeface="+mn-cs"/>
              </a:defRPr>
            </a:lvl3pPr>
            <a:lvl4pPr marL="995362" indent="-342900">
              <a:defRPr lang="en-US" sz="2200" b="0" kern="1200" spc="0" baseline="0" dirty="0">
                <a:gradFill>
                  <a:gsLst>
                    <a:gs pos="1250">
                      <a:schemeClr val="tx1"/>
                    </a:gs>
                    <a:gs pos="100000">
                      <a:schemeClr val="tx1"/>
                    </a:gs>
                  </a:gsLst>
                  <a:lin ang="5400000" scaled="0"/>
                </a:gradFill>
                <a:latin typeface="+mn-lt"/>
                <a:ea typeface="+mn-ea"/>
                <a:cs typeface="+mn-cs"/>
              </a:defRPr>
            </a:lvl4pPr>
            <a:lvl5pPr marL="1196975" indent="-342900">
              <a:tabLst/>
              <a:defRPr lang="en-US" sz="2200" b="0" kern="1200" spc="0" baseline="0" dirty="0">
                <a:gradFill>
                  <a:gsLst>
                    <a:gs pos="1250">
                      <a:schemeClr val="tx1"/>
                    </a:gs>
                    <a:gs pos="100000">
                      <a:schemeClr val="tx1"/>
                    </a:gs>
                  </a:gsLst>
                  <a:lin ang="5400000" scaled="0"/>
                </a:gradFill>
                <a:latin typeface="+mn-lt"/>
                <a:ea typeface="+mn-ea"/>
                <a:cs typeface="+mn-cs"/>
              </a:defRPr>
            </a:lvl5pPr>
          </a:lstStyle>
          <a:p>
            <a:pPr marL="231775" marR="0" lvl="0"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Edit Master text styles</a:t>
            </a:r>
          </a:p>
          <a:p>
            <a:pPr marL="231775" marR="0" lvl="1"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Second level</a:t>
            </a:r>
          </a:p>
          <a:p>
            <a:pPr marL="231775" marR="0" lvl="2"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Third level</a:t>
            </a:r>
          </a:p>
          <a:p>
            <a:pPr marL="231775" marR="0" lvl="3"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Fourth level</a:t>
            </a:r>
          </a:p>
          <a:p>
            <a:pPr marL="231775" marR="0" lvl="4"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Fifth level</a:t>
            </a:r>
          </a:p>
        </p:txBody>
      </p:sp>
    </p:spTree>
    <p:extLst>
      <p:ext uri="{BB962C8B-B14F-4D97-AF65-F5344CB8AC3E}">
        <p14:creationId xmlns:p14="http://schemas.microsoft.com/office/powerpoint/2010/main" val="6796501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6810277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Blank Grey">
    <p:bg>
      <p:bgPr>
        <a:solidFill>
          <a:srgbClr val="353535"/>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564200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losing logo slide">
    <p:bg>
      <p:bgPr>
        <a:solidFill>
          <a:srgbClr val="353535"/>
        </a:solidFill>
        <a:effectLst/>
      </p:bgPr>
    </p:bg>
    <p:spTree>
      <p:nvGrpSpPr>
        <p:cNvPr id="1" name=""/>
        <p:cNvGrpSpPr/>
        <p:nvPr/>
      </p:nvGrpSpPr>
      <p:grpSpPr>
        <a:xfrm>
          <a:off x="0" y="0"/>
          <a:ext cx="0" cy="0"/>
          <a:chOff x="0" y="0"/>
          <a:chExt cx="0" cy="0"/>
        </a:xfrm>
      </p:grpSpPr>
      <p:sp>
        <p:nvSpPr>
          <p:cNvPr id="2" name="Text Box 3"/>
          <p:cNvSpPr txBox="1">
            <a:spLocks noChangeArrowheads="1"/>
          </p:cNvSpPr>
          <p:nvPr userDrawn="1"/>
        </p:nvSpPr>
        <p:spPr bwMode="blackWhite">
          <a:xfrm>
            <a:off x="274639" y="6220609"/>
            <a:ext cx="4572000" cy="477054"/>
          </a:xfrm>
          <a:prstGeom prst="rect">
            <a:avLst/>
          </a:prstGeom>
          <a:noFill/>
          <a:ln w="12700">
            <a:noFill/>
            <a:miter lim="800000"/>
            <a:headEnd type="none" w="sm" len="sm"/>
            <a:tailEnd type="none" w="sm" len="sm"/>
          </a:ln>
          <a:effectLst/>
        </p:spPr>
        <p:txBody>
          <a:bodyPr vert="horz" wrap="square" lIns="182880" tIns="182880" rIns="182880" bIns="182880" numCol="1" anchor="t" anchorCtr="0" compatLnSpc="1">
            <a:prstTxWarp prst="textNoShape">
              <a:avLst/>
            </a:prstTxWarp>
            <a:spAutoFit/>
          </a:bodyPr>
          <a:lstStyle/>
          <a:p>
            <a:pPr defTabSz="932290" eaLnBrk="0" hangingPunct="0"/>
            <a:r>
              <a:rPr lang="en-US" sz="700">
                <a:gradFill>
                  <a:gsLst>
                    <a:gs pos="0">
                      <a:schemeClr val="tx1"/>
                    </a:gs>
                    <a:gs pos="100000">
                      <a:schemeClr val="tx1"/>
                    </a:gs>
                  </a:gsLst>
                  <a:lin ang="5400000" scaled="0"/>
                </a:gradFill>
                <a:cs typeface="Segoe UI" pitchFamily="34" charset="0"/>
              </a:rPr>
              <a:t>© Copyright Microsoft Corporation. All rights reserved. </a:t>
            </a:r>
          </a:p>
        </p:txBody>
      </p:sp>
      <p:pic>
        <p:nvPicPr>
          <p:cNvPr id="8" name="MS logo white - EMF"/>
          <p:cNvPicPr>
            <a:picLocks noChangeAspect="1"/>
          </p:cNvPicPr>
          <p:nvPr userDrawn="1"/>
        </p:nvPicPr>
        <p:blipFill>
          <a:blip r:embed="rId2"/>
          <a:stretch>
            <a:fillRect/>
          </a:stretch>
        </p:blipFill>
        <p:spPr bwMode="black">
          <a:xfrm>
            <a:off x="460688" y="479425"/>
            <a:ext cx="1451843" cy="310896"/>
          </a:xfrm>
          <a:prstGeom prst="rect">
            <a:avLst/>
          </a:prstGeom>
        </p:spPr>
      </p:pic>
      <p:pic>
        <p:nvPicPr>
          <p:cNvPr id="4" name="Picture 3">
            <a:extLst>
              <a:ext uri="{FF2B5EF4-FFF2-40B4-BE49-F238E27FC236}">
                <a16:creationId xmlns:a16="http://schemas.microsoft.com/office/drawing/2014/main" id="{A29F142D-7D6F-4396-9B8F-E9BD7B6EB27B}"/>
              </a:ext>
            </a:extLst>
          </p:cNvPr>
          <p:cNvPicPr>
            <a:picLocks noChangeAspect="1"/>
          </p:cNvPicPr>
          <p:nvPr userDrawn="1"/>
        </p:nvPicPr>
        <p:blipFill>
          <a:blip r:embed="rId3"/>
          <a:stretch>
            <a:fillRect/>
          </a:stretch>
        </p:blipFill>
        <p:spPr>
          <a:xfrm>
            <a:off x="10333037" y="4868862"/>
            <a:ext cx="1563927" cy="1668463"/>
          </a:xfrm>
          <a:prstGeom prst="rect">
            <a:avLst/>
          </a:prstGeom>
        </p:spPr>
      </p:pic>
    </p:spTree>
    <p:extLst>
      <p:ext uri="{BB962C8B-B14F-4D97-AF65-F5344CB8AC3E}">
        <p14:creationId xmlns:p14="http://schemas.microsoft.com/office/powerpoint/2010/main" val="408761204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Black Notes slide Layout">
    <p:bg bwMode="black">
      <p:bgPr>
        <a:solidFill>
          <a:srgbClr val="000000"/>
        </a:solidFill>
        <a:effectLst/>
      </p:bgPr>
    </p:bg>
    <p:spTree>
      <p:nvGrpSpPr>
        <p:cNvPr id="1" name=""/>
        <p:cNvGrpSpPr/>
        <p:nvPr/>
      </p:nvGrpSpPr>
      <p:grpSpPr>
        <a:xfrm>
          <a:off x="0" y="0"/>
          <a:ext cx="0" cy="0"/>
          <a:chOff x="0" y="0"/>
          <a:chExt cx="0" cy="0"/>
        </a:xfrm>
      </p:grpSpPr>
      <p:sp>
        <p:nvSpPr>
          <p:cNvPr id="6" name="Text Placeholder 5"/>
          <p:cNvSpPr>
            <a:spLocks noGrp="1"/>
          </p:cNvSpPr>
          <p:nvPr>
            <p:ph type="body" sz="quarter" idx="10" hasCustomPrompt="1"/>
          </p:nvPr>
        </p:nvSpPr>
        <p:spPr bwMode="white">
          <a:xfrm>
            <a:off x="274638" y="1212850"/>
            <a:ext cx="11887200" cy="2443746"/>
          </a:xfrm>
          <a:prstGeom prst="rect">
            <a:avLst/>
          </a:prstGeom>
        </p:spPr>
        <p:txBody>
          <a:bodyPr/>
          <a:lstStyle>
            <a:lvl1pPr marL="290513" indent="-290513">
              <a:buClr>
                <a:schemeClr val="tx1"/>
              </a:buClr>
              <a:buSzPct val="90000"/>
              <a:buFont typeface="Arial" pitchFamily="34" charset="0"/>
              <a:buChar char="•"/>
              <a:defRPr sz="3600">
                <a:gradFill>
                  <a:gsLst>
                    <a:gs pos="1250">
                      <a:schemeClr val="tx1"/>
                    </a:gs>
                    <a:gs pos="100000">
                      <a:schemeClr val="tx1"/>
                    </a:gs>
                  </a:gsLst>
                  <a:lin ang="5400000" scaled="0"/>
                </a:gradFill>
                <a:latin typeface="Segoe UI" pitchFamily="34" charset="0"/>
                <a:ea typeface="Segoe UI" pitchFamily="34" charset="0"/>
                <a:cs typeface="Segoe UI" pitchFamily="34" charset="0"/>
              </a:defRPr>
            </a:lvl1pPr>
            <a:lvl2pPr marL="571500" indent="-280988">
              <a:buClr>
                <a:schemeClr val="tx1"/>
              </a:buClr>
              <a:buSzPct val="90000"/>
              <a:buFont typeface="Arial" pitchFamily="34" charset="0"/>
              <a:buChar char="•"/>
              <a:defRPr sz="3200">
                <a:gradFill>
                  <a:gsLst>
                    <a:gs pos="1250">
                      <a:schemeClr val="tx1"/>
                    </a:gs>
                    <a:gs pos="100000">
                      <a:schemeClr val="tx1"/>
                    </a:gs>
                  </a:gsLst>
                  <a:lin ang="5400000" scaled="0"/>
                </a:gradFill>
                <a:latin typeface="Segoe UI" pitchFamily="34" charset="0"/>
                <a:ea typeface="Segoe UI" pitchFamily="34" charset="0"/>
                <a:cs typeface="Segoe UI" pitchFamily="34" charset="0"/>
              </a:defRPr>
            </a:lvl2pPr>
            <a:lvl3pPr marL="862013" indent="-290513">
              <a:buClr>
                <a:schemeClr val="tx1"/>
              </a:buClr>
              <a:buSzPct val="90000"/>
              <a:buFont typeface="Arial" pitchFamily="34" charset="0"/>
              <a:buChar char="•"/>
              <a:defRPr sz="2800">
                <a:gradFill>
                  <a:gsLst>
                    <a:gs pos="1250">
                      <a:schemeClr val="tx1"/>
                    </a:gs>
                    <a:gs pos="100000">
                      <a:schemeClr val="tx1"/>
                    </a:gs>
                  </a:gsLst>
                  <a:lin ang="5400000" scaled="0"/>
                </a:gradFill>
                <a:latin typeface="Segoe UI" pitchFamily="34" charset="0"/>
                <a:ea typeface="Segoe UI" pitchFamily="34" charset="0"/>
                <a:cs typeface="Segoe UI" pitchFamily="34" charset="0"/>
              </a:defRPr>
            </a:lvl3pPr>
            <a:lvl4pPr marL="1090613" indent="-228600">
              <a:buClr>
                <a:schemeClr val="tx1"/>
              </a:buClr>
              <a:buSzPct val="90000"/>
              <a:buFont typeface="Arial" pitchFamily="34" charset="0"/>
              <a:buChar char="•"/>
              <a:defRPr sz="2400">
                <a:gradFill>
                  <a:gsLst>
                    <a:gs pos="1250">
                      <a:schemeClr val="tx1"/>
                    </a:gs>
                    <a:gs pos="100000">
                      <a:schemeClr val="tx1"/>
                    </a:gs>
                  </a:gsLst>
                  <a:lin ang="5400000" scaled="0"/>
                </a:gradFill>
                <a:latin typeface="Segoe UI" pitchFamily="34" charset="0"/>
                <a:ea typeface="Segoe UI" pitchFamily="34" charset="0"/>
                <a:cs typeface="Segoe UI" pitchFamily="34" charset="0"/>
              </a:defRPr>
            </a:lvl4pPr>
            <a:lvl5pPr marL="1319213" indent="-228600">
              <a:buClr>
                <a:schemeClr val="tx1"/>
              </a:buClr>
              <a:buSzPct val="90000"/>
              <a:buFont typeface="Arial" pitchFamily="34" charset="0"/>
              <a:buChar char="•"/>
              <a:defRPr sz="2000">
                <a:gradFill>
                  <a:gsLst>
                    <a:gs pos="1250">
                      <a:schemeClr val="tx1"/>
                    </a:gs>
                    <a:gs pos="100000">
                      <a:schemeClr val="tx1"/>
                    </a:gs>
                  </a:gsLst>
                  <a:lin ang="5400000" scaled="0"/>
                </a:gradFill>
                <a:latin typeface="Segoe UI" pitchFamily="34" charset="0"/>
                <a:ea typeface="Segoe UI" pitchFamily="34" charset="0"/>
                <a:cs typeface="Segoe UI" pitchFamily="34" charset="0"/>
              </a:defRPr>
            </a:lvl5pPr>
          </a:lstStyle>
          <a:p>
            <a:pPr lvl="0"/>
            <a:r>
              <a:rPr lang="en-US"/>
              <a:t>Use this Layout for Speaker Notes slides</a:t>
            </a:r>
          </a:p>
          <a:p>
            <a:pPr lvl="1"/>
            <a:r>
              <a:rPr lang="en-US"/>
              <a:t>Second level</a:t>
            </a:r>
          </a:p>
          <a:p>
            <a:pPr lvl="2"/>
            <a:r>
              <a:rPr lang="en-US"/>
              <a:t>Third level</a:t>
            </a:r>
          </a:p>
          <a:p>
            <a:pPr lvl="3"/>
            <a:r>
              <a:rPr lang="en-US"/>
              <a:t>Fourth level</a:t>
            </a:r>
          </a:p>
          <a:p>
            <a:pPr lvl="4"/>
            <a:r>
              <a:rPr lang="en-US"/>
              <a:t>Fifth level</a:t>
            </a:r>
          </a:p>
        </p:txBody>
      </p:sp>
      <p:sp>
        <p:nvSpPr>
          <p:cNvPr id="4" name="Text Placeholder 6"/>
          <p:cNvSpPr>
            <a:spLocks noGrp="1"/>
          </p:cNvSpPr>
          <p:nvPr>
            <p:ph type="body" sz="quarter" idx="11" hasCustomPrompt="1"/>
          </p:nvPr>
        </p:nvSpPr>
        <p:spPr>
          <a:xfrm>
            <a:off x="1" y="6363076"/>
            <a:ext cx="12436476" cy="631450"/>
          </a:xfrm>
          <a:prstGeom prst="rect">
            <a:avLst/>
          </a:prstGeom>
          <a:solidFill>
            <a:srgbClr val="FFFF99"/>
          </a:solidFill>
        </p:spPr>
        <p:txBody>
          <a:bodyPr wrap="square" lIns="155457" tIns="77729" rIns="155457" bIns="77729" anchor="b" anchorCtr="0">
            <a:noAutofit/>
          </a:bodyPr>
          <a:lstStyle>
            <a:lvl1pPr algn="r">
              <a:buFont typeface="Arial" pitchFamily="34" charset="0"/>
              <a:buNone/>
              <a:defRPr sz="3700" spc="-51" baseline="0">
                <a:gradFill>
                  <a:gsLst>
                    <a:gs pos="0">
                      <a:srgbClr val="000000"/>
                    </a:gs>
                    <a:gs pos="100000">
                      <a:srgbClr val="000000"/>
                    </a:gs>
                  </a:gsLst>
                  <a:lin ang="5400000" scaled="0"/>
                </a:gradFill>
                <a:effectLst/>
                <a:latin typeface="Segoe UI" pitchFamily="34" charset="0"/>
                <a:ea typeface="Segoe UI" pitchFamily="34" charset="0"/>
                <a:cs typeface="Segoe UI" pitchFamily="34" charset="0"/>
              </a:defRPr>
            </a:lvl1pPr>
          </a:lstStyle>
          <a:p>
            <a:pPr lvl="0"/>
            <a:r>
              <a:rPr lang="en-US"/>
              <a:t>Next:</a:t>
            </a:r>
          </a:p>
        </p:txBody>
      </p:sp>
      <p:sp>
        <p:nvSpPr>
          <p:cNvPr id="3" name="Title 2"/>
          <p:cNvSpPr>
            <a:spLocks noGrp="1"/>
          </p:cNvSpPr>
          <p:nvPr>
            <p:ph type="title"/>
          </p:nvPr>
        </p:nvSpPr>
        <p:spPr bwMode="white"/>
        <p:txBody>
          <a:bodyPr/>
          <a:lstStyle>
            <a:lvl1pPr>
              <a:defRPr>
                <a:gradFill>
                  <a:gsLst>
                    <a:gs pos="1250">
                      <a:schemeClr val="tx1"/>
                    </a:gs>
                    <a:gs pos="100000">
                      <a:schemeClr val="tx1"/>
                    </a:gs>
                  </a:gsLst>
                  <a:lin ang="5400000" scaled="0"/>
                </a:gradFill>
                <a:latin typeface="Segoe UI" pitchFamily="34" charset="0"/>
                <a:ea typeface="Segoe UI" pitchFamily="34" charset="0"/>
                <a:cs typeface="Segoe UI" pitchFamily="34" charset="0"/>
              </a:defRPr>
            </a:lvl1pPr>
          </a:lstStyle>
          <a:p>
            <a:r>
              <a:rPr lang="en-US"/>
              <a:t>Click to edit Master title style</a:t>
            </a:r>
          </a:p>
        </p:txBody>
      </p:sp>
    </p:spTree>
    <p:extLst>
      <p:ext uri="{BB962C8B-B14F-4D97-AF65-F5344CB8AC3E}">
        <p14:creationId xmlns:p14="http://schemas.microsoft.com/office/powerpoint/2010/main" val="14772468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Slide">
    <p:bg>
      <p:bgRef idx="1001">
        <a:schemeClr val="bg1"/>
      </p:bgRef>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274702" y="2125678"/>
            <a:ext cx="9143936" cy="1828786"/>
          </a:xfrm>
          <a:noFill/>
        </p:spPr>
        <p:txBody>
          <a:bodyPr lIns="146304" tIns="91440" rIns="146304" bIns="91440" anchor="t" anchorCtr="0"/>
          <a:lstStyle>
            <a:lvl1pPr>
              <a:defRPr sz="5400" spc="-100" baseline="0">
                <a:gradFill>
                  <a:gsLst>
                    <a:gs pos="62564">
                      <a:schemeClr val="tx1"/>
                    </a:gs>
                    <a:gs pos="55000">
                      <a:schemeClr val="tx1"/>
                    </a:gs>
                  </a:gsLst>
                  <a:lin ang="5400000" scaled="0"/>
                </a:gradFill>
              </a:defRPr>
            </a:lvl1pPr>
          </a:lstStyle>
          <a:p>
            <a:r>
              <a:rPr lang="en-US"/>
              <a:t>Presentation title</a:t>
            </a:r>
          </a:p>
        </p:txBody>
      </p:sp>
      <p:sp>
        <p:nvSpPr>
          <p:cNvPr id="5" name="Text Placeholder 4"/>
          <p:cNvSpPr>
            <a:spLocks noGrp="1"/>
          </p:cNvSpPr>
          <p:nvPr>
            <p:ph type="body" sz="quarter" idx="12" hasCustomPrompt="1"/>
          </p:nvPr>
        </p:nvSpPr>
        <p:spPr>
          <a:xfrm>
            <a:off x="274701" y="3955786"/>
            <a:ext cx="7315137" cy="1828007"/>
          </a:xfrm>
          <a:noFill/>
        </p:spPr>
        <p:txBody>
          <a:bodyPr lIns="164592" tIns="109728" rIns="164592" bIns="109728">
            <a:noAutofit/>
          </a:bodyPr>
          <a:lstStyle>
            <a:lvl1pPr marL="0" indent="0">
              <a:spcBef>
                <a:spcPts val="0"/>
              </a:spcBef>
              <a:buNone/>
              <a:defRPr sz="3200" spc="0" baseline="0">
                <a:gradFill>
                  <a:gsLst>
                    <a:gs pos="91000">
                      <a:schemeClr val="tx1"/>
                    </a:gs>
                    <a:gs pos="0">
                      <a:schemeClr val="tx1"/>
                    </a:gs>
                  </a:gsLst>
                  <a:lin ang="5400000" scaled="0"/>
                </a:gradFill>
                <a:latin typeface="+mn-lt"/>
              </a:defRPr>
            </a:lvl1pPr>
          </a:lstStyle>
          <a:p>
            <a:pPr lvl="0"/>
            <a:r>
              <a:rPr lang="en-US"/>
              <a:t>Speaker name</a:t>
            </a:r>
          </a:p>
        </p:txBody>
      </p:sp>
      <p:pic>
        <p:nvPicPr>
          <p:cNvPr id="3" name="Picture 2">
            <a:extLst>
              <a:ext uri="{FF2B5EF4-FFF2-40B4-BE49-F238E27FC236}">
                <a16:creationId xmlns:a16="http://schemas.microsoft.com/office/drawing/2014/main" id="{29A89495-1FC6-5543-BF13-A9944ECAD020}"/>
              </a:ext>
            </a:extLst>
          </p:cNvPr>
          <p:cNvPicPr>
            <a:picLocks noChangeAspect="1"/>
          </p:cNvPicPr>
          <p:nvPr userDrawn="1"/>
        </p:nvPicPr>
        <p:blipFill>
          <a:blip r:embed="rId2"/>
          <a:srcRect/>
          <a:stretch/>
        </p:blipFill>
        <p:spPr>
          <a:xfrm>
            <a:off x="7197585" y="526835"/>
            <a:ext cx="5145490" cy="5145490"/>
          </a:xfrm>
          <a:prstGeom prst="rect">
            <a:avLst/>
          </a:prstGeom>
        </p:spPr>
      </p:pic>
      <p:sp>
        <p:nvSpPr>
          <p:cNvPr id="2" name="TextBox 1">
            <a:extLst>
              <a:ext uri="{FF2B5EF4-FFF2-40B4-BE49-F238E27FC236}">
                <a16:creationId xmlns:a16="http://schemas.microsoft.com/office/drawing/2014/main" id="{B3548048-DA26-A845-BFB0-20035B45482D}"/>
              </a:ext>
            </a:extLst>
          </p:cNvPr>
          <p:cNvSpPr txBox="1"/>
          <p:nvPr userDrawn="1"/>
        </p:nvSpPr>
        <p:spPr>
          <a:xfrm>
            <a:off x="11254154" y="6551525"/>
            <a:ext cx="369397" cy="627864"/>
          </a:xfrm>
          <a:prstGeom prst="rect">
            <a:avLst/>
          </a:prstGeom>
          <a:noFill/>
        </p:spPr>
        <p:txBody>
          <a:bodyPr wrap="none" lIns="182880" tIns="146304" rIns="182880" bIns="146304" rtlCol="0">
            <a:spAutoFit/>
          </a:bodyPr>
          <a:lstStyle/>
          <a:p>
            <a:pPr>
              <a:lnSpc>
                <a:spcPct val="90000"/>
              </a:lnSpc>
              <a:spcAft>
                <a:spcPts val="600"/>
              </a:spcAft>
            </a:pPr>
            <a:endParaRPr lang="en-US" sz="2400" dirty="0" err="1">
              <a:gradFill>
                <a:gsLst>
                  <a:gs pos="2917">
                    <a:schemeClr val="tx1"/>
                  </a:gs>
                  <a:gs pos="30000">
                    <a:schemeClr val="tx1"/>
                  </a:gs>
                </a:gsLst>
                <a:lin ang="5400000" scaled="0"/>
              </a:gradFill>
            </a:endParaRPr>
          </a:p>
        </p:txBody>
      </p:sp>
    </p:spTree>
    <p:extLst>
      <p:ext uri="{BB962C8B-B14F-4D97-AF65-F5344CB8AC3E}">
        <p14:creationId xmlns:p14="http://schemas.microsoft.com/office/powerpoint/2010/main" val="4098647911"/>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Developer Code Layout">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baseline="0"/>
            </a:lvl1pPr>
          </a:lstStyle>
          <a:p>
            <a:r>
              <a:rPr lang="en-US"/>
              <a:t>Slide for developer code</a:t>
            </a:r>
          </a:p>
        </p:txBody>
      </p:sp>
      <p:sp>
        <p:nvSpPr>
          <p:cNvPr id="3" name="Rectangle 2"/>
          <p:cNvSpPr/>
          <p:nvPr userDrawn="1"/>
        </p:nvSpPr>
        <p:spPr bwMode="hidden">
          <a:xfrm>
            <a:off x="1" y="1212849"/>
            <a:ext cx="12436475" cy="5781676"/>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6639" tIns="46639" rIns="46639" bIns="46639" numCol="1" spcCol="0" rtlCol="0" fromWordArt="0" anchor="ctr" anchorCtr="0" forceAA="0" compatLnSpc="1">
            <a:prstTxWarp prst="textNoShape">
              <a:avLst/>
            </a:prstTxWarp>
            <a:noAutofit/>
          </a:bodyPr>
          <a:lstStyle/>
          <a:p>
            <a:pPr algn="ctr" defTabSz="932472" fontAlgn="base">
              <a:spcBef>
                <a:spcPct val="0"/>
              </a:spcBef>
              <a:spcAft>
                <a:spcPct val="0"/>
              </a:spcAft>
            </a:pPr>
            <a:endParaRPr lang="en-US">
              <a:gradFill>
                <a:gsLst>
                  <a:gs pos="0">
                    <a:srgbClr val="FFFFFF"/>
                  </a:gs>
                  <a:gs pos="100000">
                    <a:srgbClr val="FFFFFF"/>
                  </a:gs>
                </a:gsLst>
                <a:lin ang="5400000" scaled="0"/>
              </a:gradFill>
              <a:ea typeface="Segoe UI" pitchFamily="34" charset="0"/>
              <a:cs typeface="Segoe UI" pitchFamily="34" charset="0"/>
            </a:endParaRPr>
          </a:p>
        </p:txBody>
      </p:sp>
      <p:sp>
        <p:nvSpPr>
          <p:cNvPr id="5" name="Text Placeholder 4"/>
          <p:cNvSpPr>
            <a:spLocks noGrp="1"/>
          </p:cNvSpPr>
          <p:nvPr>
            <p:ph type="body" sz="quarter" idx="10"/>
          </p:nvPr>
        </p:nvSpPr>
        <p:spPr>
          <a:xfrm>
            <a:off x="274638" y="1221157"/>
            <a:ext cx="11887199" cy="2266774"/>
          </a:xfrm>
        </p:spPr>
        <p:txBody>
          <a:bodyPr/>
          <a:lstStyle>
            <a:lvl1pPr marL="0" indent="0">
              <a:buNone/>
              <a:defRPr sz="3300">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1pPr>
            <a:lvl2pPr marL="346553"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2pPr>
            <a:lvl3pPr marL="584607"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3pPr>
            <a:lvl4pPr marL="814563"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4pPr>
            <a:lvl5pPr marL="1050997"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9451885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Section Title 1">
    <p:bg>
      <p:bgPr>
        <a:solidFill>
          <a:schemeClr val="tx1"/>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solidFill>
                  <a:schemeClr val="bg1"/>
                </a:solidFill>
              </a:defRPr>
            </a:lvl1pPr>
          </a:lstStyle>
          <a:p>
            <a:r>
              <a:rPr lang="en-US"/>
              <a:t>Section title</a:t>
            </a:r>
          </a:p>
        </p:txBody>
      </p:sp>
      <p:pic>
        <p:nvPicPr>
          <p:cNvPr id="3" name="Picture 4" descr="C Sharp (programming language) - Wikipedia">
            <a:extLst>
              <a:ext uri="{FF2B5EF4-FFF2-40B4-BE49-F238E27FC236}">
                <a16:creationId xmlns:a16="http://schemas.microsoft.com/office/drawing/2014/main" id="{E11DEF6F-6FA5-036A-3FE6-CE6F79A44B93}"/>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7335045" y="1342291"/>
            <a:ext cx="4309941" cy="4309941"/>
          </a:xfrm>
          <a:prstGeom prst="rect">
            <a:avLst/>
          </a:prstGeom>
          <a:noFill/>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0745424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Section Title 2">
    <p:bg>
      <p:bgPr>
        <a:solidFill>
          <a:srgbClr val="B4009E"/>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tx1"/>
                    </a:gs>
                    <a:gs pos="0">
                      <a:schemeClr val="tx1"/>
                    </a:gs>
                  </a:gsLst>
                  <a:lin ang="5400000" scaled="0"/>
                </a:gradFill>
              </a:defRPr>
            </a:lvl1pPr>
          </a:lstStyle>
          <a:p>
            <a:r>
              <a:rPr lang="en-US"/>
              <a:t>Section title</a:t>
            </a:r>
          </a:p>
        </p:txBody>
      </p:sp>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tx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pic>
        <p:nvPicPr>
          <p:cNvPr id="6" name="Picture 5" descr="A close up of a toy&#10;&#10;Description automatically generated">
            <a:extLst>
              <a:ext uri="{FF2B5EF4-FFF2-40B4-BE49-F238E27FC236}">
                <a16:creationId xmlns:a16="http://schemas.microsoft.com/office/drawing/2014/main" id="{514EA320-09C9-7146-B7EB-DCF119FD7AC1}"/>
              </a:ext>
            </a:extLst>
          </p:cNvPr>
          <p:cNvPicPr>
            <a:picLocks noChangeAspect="1"/>
          </p:cNvPicPr>
          <p:nvPr userDrawn="1"/>
        </p:nvPicPr>
        <p:blipFill>
          <a:blip r:embed="rId2"/>
          <a:stretch>
            <a:fillRect/>
          </a:stretch>
        </p:blipFill>
        <p:spPr>
          <a:xfrm>
            <a:off x="6956612" y="1160413"/>
            <a:ext cx="4843369" cy="4673697"/>
          </a:xfrm>
          <a:prstGeom prst="rect">
            <a:avLst/>
          </a:prstGeom>
        </p:spPr>
      </p:pic>
    </p:spTree>
    <p:extLst>
      <p:ext uri="{BB962C8B-B14F-4D97-AF65-F5344CB8AC3E}">
        <p14:creationId xmlns:p14="http://schemas.microsoft.com/office/powerpoint/2010/main" val="143609984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Section Title 3">
    <p:bg>
      <p:bgPr>
        <a:solidFill>
          <a:srgbClr val="FFB900"/>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bg1"/>
                    </a:gs>
                    <a:gs pos="0">
                      <a:schemeClr val="bg1"/>
                    </a:gs>
                  </a:gsLst>
                  <a:lin ang="5400000" scaled="0"/>
                </a:gradFill>
              </a:defRPr>
            </a:lvl1pPr>
          </a:lstStyle>
          <a:p>
            <a:r>
              <a:rPr lang="en-US"/>
              <a:t>Section title</a:t>
            </a:r>
          </a:p>
        </p:txBody>
      </p:sp>
      <p:pic>
        <p:nvPicPr>
          <p:cNvPr id="7" name="Picture 6">
            <a:extLst>
              <a:ext uri="{FF2B5EF4-FFF2-40B4-BE49-F238E27FC236}">
                <a16:creationId xmlns:a16="http://schemas.microsoft.com/office/drawing/2014/main" id="{AF3119E6-CBC9-3742-94F9-783A98F4AA7D}"/>
              </a:ext>
            </a:extLst>
          </p:cNvPr>
          <p:cNvPicPr>
            <a:picLocks noChangeAspect="1"/>
          </p:cNvPicPr>
          <p:nvPr userDrawn="1"/>
        </p:nvPicPr>
        <p:blipFill>
          <a:blip r:embed="rId2"/>
          <a:stretch>
            <a:fillRect/>
          </a:stretch>
        </p:blipFill>
        <p:spPr>
          <a:xfrm>
            <a:off x="7350586" y="1344375"/>
            <a:ext cx="4201651" cy="4201651"/>
          </a:xfrm>
          <a:prstGeom prst="rect">
            <a:avLst/>
          </a:prstGeom>
        </p:spPr>
      </p:pic>
    </p:spTree>
    <p:extLst>
      <p:ext uri="{BB962C8B-B14F-4D97-AF65-F5344CB8AC3E}">
        <p14:creationId xmlns:p14="http://schemas.microsoft.com/office/powerpoint/2010/main" val="235864671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ection Title 4">
    <p:bg>
      <p:bgPr>
        <a:solidFill>
          <a:srgbClr val="0078D7"/>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7" name="Oval 6">
            <a:extLst>
              <a:ext uri="{FF2B5EF4-FFF2-40B4-BE49-F238E27FC236}">
                <a16:creationId xmlns:a16="http://schemas.microsoft.com/office/drawing/2014/main" id="{2DB9BF09-E0E5-4D1B-96E2-CD70A32D5822}"/>
              </a:ext>
            </a:extLst>
          </p:cNvPr>
          <p:cNvSpPr/>
          <p:nvPr userDrawn="1"/>
        </p:nvSpPr>
        <p:spPr bwMode="auto">
          <a:xfrm>
            <a:off x="7387674" y="1410315"/>
            <a:ext cx="4128796" cy="4128796"/>
          </a:xfrm>
          <a:prstGeom prst="ellipse">
            <a:avLst/>
          </a:prstGeom>
          <a:solidFill>
            <a:schemeClr val="accent3">
              <a:lumMod val="20000"/>
              <a:lumOff val="8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pic>
        <p:nvPicPr>
          <p:cNvPr id="5" name="Picture 4">
            <a:extLst>
              <a:ext uri="{FF2B5EF4-FFF2-40B4-BE49-F238E27FC236}">
                <a16:creationId xmlns:a16="http://schemas.microsoft.com/office/drawing/2014/main" id="{1C7D0CD3-D516-4C8E-A84D-78D7C7411829}"/>
              </a:ext>
            </a:extLst>
          </p:cNvPr>
          <p:cNvPicPr>
            <a:picLocks noChangeAspect="1"/>
          </p:cNvPicPr>
          <p:nvPr userDrawn="1"/>
        </p:nvPicPr>
        <p:blipFill>
          <a:blip r:embed="rId2"/>
          <a:stretch>
            <a:fillRect/>
          </a:stretch>
        </p:blipFill>
        <p:spPr>
          <a:xfrm>
            <a:off x="6914920" y="1363662"/>
            <a:ext cx="5209624" cy="4400461"/>
          </a:xfrm>
          <a:prstGeom prst="rect">
            <a:avLst/>
          </a:prstGeom>
        </p:spPr>
      </p:pic>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tx1"/>
                    </a:gs>
                    <a:gs pos="0">
                      <a:schemeClr val="tx1"/>
                    </a:gs>
                  </a:gsLst>
                  <a:lin ang="5400000" scaled="0"/>
                </a:gradFill>
              </a:defRPr>
            </a:lvl1pPr>
          </a:lstStyle>
          <a:p>
            <a:r>
              <a:rPr lang="en-US"/>
              <a:t>Section title</a:t>
            </a:r>
          </a:p>
        </p:txBody>
      </p:sp>
    </p:spTree>
    <p:extLst>
      <p:ext uri="{BB962C8B-B14F-4D97-AF65-F5344CB8AC3E}">
        <p14:creationId xmlns:p14="http://schemas.microsoft.com/office/powerpoint/2010/main" val="312599371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Section Title 5">
    <p:bg>
      <p:bgPr>
        <a:solidFill>
          <a:srgbClr val="B4009E"/>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pic>
        <p:nvPicPr>
          <p:cNvPr id="6" name="Picture 5">
            <a:extLst>
              <a:ext uri="{FF2B5EF4-FFF2-40B4-BE49-F238E27FC236}">
                <a16:creationId xmlns:a16="http://schemas.microsoft.com/office/drawing/2014/main" id="{65F2583F-A495-4B0D-AF8B-9510F70147B7}"/>
              </a:ext>
            </a:extLst>
          </p:cNvPr>
          <p:cNvPicPr>
            <a:picLocks noChangeAspect="1"/>
          </p:cNvPicPr>
          <p:nvPr userDrawn="1"/>
        </p:nvPicPr>
        <p:blipFill>
          <a:blip r:embed="rId2"/>
          <a:stretch>
            <a:fillRect/>
          </a:stretch>
        </p:blipFill>
        <p:spPr>
          <a:xfrm>
            <a:off x="7226273" y="1220592"/>
            <a:ext cx="5315009" cy="4495800"/>
          </a:xfrm>
          <a:prstGeom prst="rect">
            <a:avLst/>
          </a:prstGeom>
        </p:spPr>
      </p:pic>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tx1"/>
                    </a:gs>
                    <a:gs pos="0">
                      <a:schemeClr val="tx1"/>
                    </a:gs>
                  </a:gsLst>
                  <a:lin ang="5400000" scaled="0"/>
                </a:gradFill>
              </a:defRPr>
            </a:lvl1pPr>
          </a:lstStyle>
          <a:p>
            <a:r>
              <a:rPr lang="en-US"/>
              <a:t>Section title</a:t>
            </a:r>
          </a:p>
        </p:txBody>
      </p:sp>
    </p:spTree>
    <p:extLst>
      <p:ext uri="{BB962C8B-B14F-4D97-AF65-F5344CB8AC3E}">
        <p14:creationId xmlns:p14="http://schemas.microsoft.com/office/powerpoint/2010/main" val="335891163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Section Title 6">
    <p:bg>
      <p:bgPr>
        <a:solidFill>
          <a:srgbClr val="FFB900"/>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bg1"/>
                    </a:gs>
                    <a:gs pos="0">
                      <a:schemeClr val="bg1"/>
                    </a:gs>
                  </a:gsLst>
                  <a:lin ang="5400000" scaled="0"/>
                </a:gradFill>
              </a:defRPr>
            </a:lvl1pPr>
          </a:lstStyle>
          <a:p>
            <a:r>
              <a:rPr lang="en-US"/>
              <a:t>Section title</a:t>
            </a:r>
          </a:p>
        </p:txBody>
      </p:sp>
      <p:pic>
        <p:nvPicPr>
          <p:cNvPr id="7" name="Picture 6" descr="A picture containing building, table, large, sitting&#10;&#10;Description automatically generated">
            <a:extLst>
              <a:ext uri="{FF2B5EF4-FFF2-40B4-BE49-F238E27FC236}">
                <a16:creationId xmlns:a16="http://schemas.microsoft.com/office/drawing/2014/main" id="{8BD888CC-2469-FF40-8C7A-936A08BBF86A}"/>
              </a:ext>
            </a:extLst>
          </p:cNvPr>
          <p:cNvPicPr>
            <a:picLocks noChangeAspect="1"/>
          </p:cNvPicPr>
          <p:nvPr userDrawn="1"/>
        </p:nvPicPr>
        <p:blipFill>
          <a:blip r:embed="rId2"/>
          <a:stretch>
            <a:fillRect/>
          </a:stretch>
        </p:blipFill>
        <p:spPr>
          <a:xfrm>
            <a:off x="6218237" y="0"/>
            <a:ext cx="9484100" cy="6994524"/>
          </a:xfrm>
          <a:prstGeom prst="rect">
            <a:avLst/>
          </a:prstGeom>
        </p:spPr>
      </p:pic>
    </p:spTree>
    <p:extLst>
      <p:ext uri="{BB962C8B-B14F-4D97-AF65-F5344CB8AC3E}">
        <p14:creationId xmlns:p14="http://schemas.microsoft.com/office/powerpoint/2010/main" val="1629477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Title and Content">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p>
        </p:txBody>
      </p:sp>
      <p:sp>
        <p:nvSpPr>
          <p:cNvPr id="3" name="Text Placeholder 2"/>
          <p:cNvSpPr>
            <a:spLocks noGrp="1"/>
          </p:cNvSpPr>
          <p:nvPr>
            <p:ph type="body" sz="quarter" idx="10"/>
          </p:nvPr>
        </p:nvSpPr>
        <p:spPr>
          <a:xfrm>
            <a:off x="274702" y="1211287"/>
            <a:ext cx="11888787" cy="5484813"/>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FCAC3703-D666-2110-E9D1-7FCF46F0DE3B}"/>
              </a:ext>
            </a:extLst>
          </p:cNvPr>
          <p:cNvGrpSpPr/>
          <p:nvPr userDrawn="1"/>
        </p:nvGrpSpPr>
        <p:grpSpPr>
          <a:xfrm>
            <a:off x="274701" y="6364816"/>
            <a:ext cx="2167492" cy="353943"/>
            <a:chOff x="8703664" y="6310423"/>
            <a:chExt cx="2273864" cy="360989"/>
          </a:xfrm>
        </p:grpSpPr>
        <p:pic>
          <p:nvPicPr>
            <p:cNvPr id="4" name="Picture 3">
              <a:extLst>
                <a:ext uri="{FF2B5EF4-FFF2-40B4-BE49-F238E27FC236}">
                  <a16:creationId xmlns:a16="http://schemas.microsoft.com/office/drawing/2014/main" id="{B7C4ABC9-C4D6-329B-4FB4-6A455A08C937}"/>
                </a:ext>
              </a:extLst>
            </p:cNvPr>
            <p:cNvPicPr>
              <a:picLocks noChangeAspect="1"/>
            </p:cNvPicPr>
            <p:nvPr userDrawn="1"/>
          </p:nvPicPr>
          <p:blipFill>
            <a:blip r:embed="rId2"/>
            <a:srcRect/>
            <a:stretch/>
          </p:blipFill>
          <p:spPr>
            <a:xfrm>
              <a:off x="10600392" y="6337020"/>
              <a:ext cx="377136" cy="323942"/>
            </a:xfrm>
            <a:prstGeom prst="rect">
              <a:avLst/>
            </a:prstGeom>
          </p:spPr>
        </p:pic>
        <p:sp>
          <p:nvSpPr>
            <p:cNvPr id="7" name="TextBox 6">
              <a:extLst>
                <a:ext uri="{FF2B5EF4-FFF2-40B4-BE49-F238E27FC236}">
                  <a16:creationId xmlns:a16="http://schemas.microsoft.com/office/drawing/2014/main" id="{854ED717-4B20-3E1C-5F9D-BE7169CC403A}"/>
                </a:ext>
              </a:extLst>
            </p:cNvPr>
            <p:cNvSpPr txBox="1"/>
            <p:nvPr userDrawn="1"/>
          </p:nvSpPr>
          <p:spPr>
            <a:xfrm>
              <a:off x="8703664" y="6310423"/>
              <a:ext cx="2080020" cy="360989"/>
            </a:xfrm>
            <a:prstGeom prst="rect">
              <a:avLst/>
            </a:prstGeom>
            <a:noFill/>
          </p:spPr>
          <p:txBody>
            <a:bodyPr wrap="square" rtlCol="0">
              <a:spAutoFit/>
            </a:bodyPr>
            <a:lstStyle/>
            <a:p>
              <a:pPr marL="0" marR="0" lvl="0" indent="0" algn="l" defTabSz="896386" rtl="0" eaLnBrk="1" fontAlgn="auto" latinLnBrk="0" hangingPunct="1">
                <a:lnSpc>
                  <a:spcPct val="100000"/>
                </a:lnSpc>
                <a:spcBef>
                  <a:spcPts val="0"/>
                </a:spcBef>
                <a:spcAft>
                  <a:spcPts val="0"/>
                </a:spcAft>
                <a:buClrTx/>
                <a:buSzTx/>
                <a:buFontTx/>
                <a:buNone/>
                <a:tabLst/>
                <a:defRPr/>
              </a:pPr>
              <a:r>
                <a:rPr lang="en-US" sz="1700" dirty="0">
                  <a:solidFill>
                    <a:schemeClr val="tx1"/>
                  </a:solidFill>
                </a:rPr>
                <a:t>@</a:t>
              </a:r>
              <a:r>
                <a:rPr lang="en-US" sz="1700" dirty="0" err="1">
                  <a:solidFill>
                    <a:schemeClr val="tx1"/>
                  </a:solidFill>
                </a:rPr>
                <a:t>CodeTraveler.io</a:t>
              </a:r>
              <a:endParaRPr lang="en-US" sz="1700" dirty="0">
                <a:solidFill>
                  <a:schemeClr val="tx1"/>
                </a:solidFill>
              </a:endParaRPr>
            </a:p>
          </p:txBody>
        </p:sp>
      </p:grpSp>
    </p:spTree>
    <p:extLst>
      <p:ext uri="{BB962C8B-B14F-4D97-AF65-F5344CB8AC3E}">
        <p14:creationId xmlns:p14="http://schemas.microsoft.com/office/powerpoint/2010/main" val="23266048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 Id="rId10" Type="http://schemas.openxmlformats.org/officeDocument/2006/relationships/image" Target="../media/image1.emf"/><Relationship Id="rId11"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slideLayout" Target="../slideLayouts/slideLayout10.xml"/><Relationship Id="rId3" Type="http://schemas.openxmlformats.org/officeDocument/2006/relationships/theme" Target="../theme/theme2.xml"/><Relationship Id="rId4" Type="http://schemas.openxmlformats.org/officeDocument/2006/relationships/image" Target="../media/image1.emf"/><Relationship Id="rId5" Type="http://schemas.openxmlformats.org/officeDocument/2006/relationships/image" Target="../media/image2.png"/></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slideLayout" Target="../slideLayouts/slideLayout12.xml"/><Relationship Id="rId3" Type="http://schemas.openxmlformats.org/officeDocument/2006/relationships/slideLayout" Target="../slideLayouts/slideLayout13.xml"/><Relationship Id="rId4" Type="http://schemas.openxmlformats.org/officeDocument/2006/relationships/slideLayout" Target="../slideLayouts/slideLayout14.xml"/><Relationship Id="rId5" Type="http://schemas.openxmlformats.org/officeDocument/2006/relationships/slideLayout" Target="../slideLayouts/slideLayout15.xml"/><Relationship Id="rId6" Type="http://schemas.openxmlformats.org/officeDocument/2006/relationships/slideLayout" Target="../slideLayouts/slideLayout16.xml"/><Relationship Id="rId7" Type="http://schemas.openxmlformats.org/officeDocument/2006/relationships/slideLayout" Target="../slideLayouts/slideLayout17.xml"/><Relationship Id="rId8" Type="http://schemas.openxmlformats.org/officeDocument/2006/relationships/theme" Target="../theme/theme3.xml"/><Relationship Id="rId9" Type="http://schemas.openxmlformats.org/officeDocument/2006/relationships/image" Target="../media/image1.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353535"/>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5274"/>
            <a:ext cx="11889564" cy="917575"/>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0" y="1212851"/>
            <a:ext cx="11887198" cy="2308324"/>
          </a:xfrm>
          <a:prstGeom prst="rect">
            <a:avLst/>
          </a:prstGeom>
        </p:spPr>
        <p:txBody>
          <a:bodyPr vert="horz" wrap="square" lIns="146304" tIns="91440" rIns="146304" bIns="9144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p:cNvPicPr>
            <a:picLocks noChangeAspect="1"/>
          </p:cNvPicPr>
          <p:nvPr userDrawn="1"/>
        </p:nvPicPr>
        <p:blipFill>
          <a:blip r:embed="rId10"/>
          <a:stretch>
            <a:fillRect/>
          </a:stretch>
        </p:blipFill>
        <p:spPr>
          <a:xfrm rot="5400000">
            <a:off x="9371795" y="3072299"/>
            <a:ext cx="6995160" cy="849926"/>
          </a:xfrm>
          <a:prstGeom prst="rect">
            <a:avLst/>
          </a:prstGeom>
        </p:spPr>
      </p:pic>
      <p:grpSp>
        <p:nvGrpSpPr>
          <p:cNvPr id="3" name="Group 2">
            <a:extLst>
              <a:ext uri="{FF2B5EF4-FFF2-40B4-BE49-F238E27FC236}">
                <a16:creationId xmlns:a16="http://schemas.microsoft.com/office/drawing/2014/main" id="{00F8FAE6-D4AA-2663-91C9-126E2AC71739}"/>
              </a:ext>
            </a:extLst>
          </p:cNvPr>
          <p:cNvGrpSpPr/>
          <p:nvPr userDrawn="1"/>
        </p:nvGrpSpPr>
        <p:grpSpPr>
          <a:xfrm>
            <a:off x="274701" y="6364816"/>
            <a:ext cx="2167492" cy="353943"/>
            <a:chOff x="8703664" y="6310423"/>
            <a:chExt cx="2273864" cy="360989"/>
          </a:xfrm>
        </p:grpSpPr>
        <p:pic>
          <p:nvPicPr>
            <p:cNvPr id="6" name="Picture 5">
              <a:extLst>
                <a:ext uri="{FF2B5EF4-FFF2-40B4-BE49-F238E27FC236}">
                  <a16:creationId xmlns:a16="http://schemas.microsoft.com/office/drawing/2014/main" id="{4E60AD00-E401-A397-73FE-721CBFE613C4}"/>
                </a:ext>
              </a:extLst>
            </p:cNvPr>
            <p:cNvPicPr>
              <a:picLocks noChangeAspect="1"/>
            </p:cNvPicPr>
            <p:nvPr userDrawn="1"/>
          </p:nvPicPr>
          <p:blipFill>
            <a:blip r:embed="rId11"/>
            <a:srcRect/>
            <a:stretch/>
          </p:blipFill>
          <p:spPr>
            <a:xfrm>
              <a:off x="10600392" y="6337020"/>
              <a:ext cx="377136" cy="323942"/>
            </a:xfrm>
            <a:prstGeom prst="rect">
              <a:avLst/>
            </a:prstGeom>
          </p:spPr>
        </p:pic>
        <p:sp>
          <p:nvSpPr>
            <p:cNvPr id="8" name="TextBox 7">
              <a:extLst>
                <a:ext uri="{FF2B5EF4-FFF2-40B4-BE49-F238E27FC236}">
                  <a16:creationId xmlns:a16="http://schemas.microsoft.com/office/drawing/2014/main" id="{940AD1AF-4C0B-9EC3-7CA9-EB47FF629702}"/>
                </a:ext>
              </a:extLst>
            </p:cNvPr>
            <p:cNvSpPr txBox="1"/>
            <p:nvPr userDrawn="1"/>
          </p:nvSpPr>
          <p:spPr>
            <a:xfrm>
              <a:off x="8703664" y="6310423"/>
              <a:ext cx="2080020" cy="360989"/>
            </a:xfrm>
            <a:prstGeom prst="rect">
              <a:avLst/>
            </a:prstGeom>
            <a:noFill/>
          </p:spPr>
          <p:txBody>
            <a:bodyPr wrap="square" rtlCol="0">
              <a:spAutoFit/>
            </a:bodyPr>
            <a:lstStyle/>
            <a:p>
              <a:pPr marL="0" marR="0" lvl="0" indent="0" algn="l" defTabSz="896386" rtl="0" eaLnBrk="1" fontAlgn="auto" latinLnBrk="0" hangingPunct="1">
                <a:lnSpc>
                  <a:spcPct val="100000"/>
                </a:lnSpc>
                <a:spcBef>
                  <a:spcPts val="0"/>
                </a:spcBef>
                <a:spcAft>
                  <a:spcPts val="0"/>
                </a:spcAft>
                <a:buClrTx/>
                <a:buSzTx/>
                <a:buFontTx/>
                <a:buNone/>
                <a:tabLst/>
                <a:defRPr/>
              </a:pPr>
              <a:r>
                <a:rPr lang="en-US" sz="1700" dirty="0">
                  <a:solidFill>
                    <a:schemeClr val="tx1"/>
                  </a:solidFill>
                </a:rPr>
                <a:t>@</a:t>
              </a:r>
              <a:r>
                <a:rPr lang="en-US" sz="1700" dirty="0" err="1">
                  <a:solidFill>
                    <a:schemeClr val="tx1"/>
                  </a:solidFill>
                </a:rPr>
                <a:t>CodeTraveler.io</a:t>
              </a:r>
              <a:endParaRPr lang="en-US" sz="1700" dirty="0">
                <a:solidFill>
                  <a:schemeClr val="tx1"/>
                </a:solidFill>
              </a:endParaRPr>
            </a:p>
          </p:txBody>
        </p:sp>
      </p:grpSp>
    </p:spTree>
    <p:extLst>
      <p:ext uri="{BB962C8B-B14F-4D97-AF65-F5344CB8AC3E}">
        <p14:creationId xmlns:p14="http://schemas.microsoft.com/office/powerpoint/2010/main" val="2005544715"/>
      </p:ext>
    </p:extLst>
  </p:cSld>
  <p:clrMap bg1="dk1" tx1="lt1" bg2="dk2" tx2="lt2" accent1="accent1" accent2="accent2" accent3="accent3" accent4="accent4" accent5="accent5" accent6="accent6" hlink="hlink" folHlink="folHlink"/>
  <p:sldLayoutIdLst>
    <p:sldLayoutId id="2147484500" r:id="rId1"/>
    <p:sldLayoutId id="2147484501" r:id="rId2"/>
    <p:sldLayoutId id="2147484502" r:id="rId3"/>
    <p:sldLayoutId id="2147484503" r:id="rId4"/>
    <p:sldLayoutId id="2147484504" r:id="rId5"/>
    <p:sldLayoutId id="2147484510" r:id="rId6"/>
    <p:sldLayoutId id="2147484513" r:id="rId7"/>
    <p:sldLayoutId id="2147484514" r:id="rId8"/>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32742" rtl="0" eaLnBrk="1" latinLnBrk="0" hangingPunct="1">
        <a:lnSpc>
          <a:spcPct val="90000"/>
        </a:lnSpc>
        <a:spcBef>
          <a:spcPct val="0"/>
        </a:spcBef>
        <a:buNone/>
        <a:defRPr lang="en-US" sz="4800" b="0" kern="1200" cap="none" spc="-102"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49">
          <p15:clr>
            <a:srgbClr val="5ACBF0"/>
          </p15:clr>
        </p15:guide>
        <p15:guide id="4" pos="1325">
          <p15:clr>
            <a:srgbClr val="5ACBF0"/>
          </p15:clr>
        </p15:guide>
        <p15:guide id="5" pos="1901">
          <p15:clr>
            <a:srgbClr val="5ACBF0"/>
          </p15:clr>
        </p15:guide>
        <p15:guide id="6" pos="2477">
          <p15:clr>
            <a:srgbClr val="5ACBF0"/>
          </p15:clr>
        </p15:guide>
        <p15:guide id="7" pos="3053">
          <p15:clr>
            <a:srgbClr val="5ACBF0"/>
          </p15:clr>
        </p15:guide>
        <p15:guide id="8" pos="3629">
          <p15:clr>
            <a:srgbClr val="5ACBF0"/>
          </p15:clr>
        </p15:guide>
        <p15:guide id="9" pos="4205">
          <p15:clr>
            <a:srgbClr val="5ACBF0"/>
          </p15:clr>
        </p15:guide>
        <p15:guide id="10" pos="4781">
          <p15:clr>
            <a:srgbClr val="5ACBF0"/>
          </p15:clr>
        </p15:guide>
        <p15:guide id="11" pos="5357">
          <p15:clr>
            <a:srgbClr val="5ACBF0"/>
          </p15:clr>
        </p15:guide>
        <p15:guide id="12" pos="5933">
          <p15:clr>
            <a:srgbClr val="5ACBF0"/>
          </p15:clr>
        </p15:guide>
        <p15:guide id="13" pos="6509">
          <p15:clr>
            <a:srgbClr val="5ACBF0"/>
          </p15:clr>
        </p15:guide>
        <p15:guide id="14" pos="7085">
          <p15:clr>
            <a:srgbClr val="5ACBF0"/>
          </p15:clr>
        </p15:guide>
        <p15:guide id="15" pos="7661">
          <p15:clr>
            <a:srgbClr val="5ACBF0"/>
          </p15:clr>
        </p15:guide>
        <p15:guide id="16" pos="288">
          <p15:clr>
            <a:srgbClr val="C35EA4"/>
          </p15:clr>
        </p15:guide>
        <p15:guide id="17" pos="7546">
          <p15:clr>
            <a:srgbClr val="C35EA4"/>
          </p15:clr>
        </p15:guide>
        <p15:guide id="18" orient="horz" pos="763">
          <p15:clr>
            <a:srgbClr val="5ACBF0"/>
          </p15:clr>
        </p15:guide>
        <p15:guide id="19" orient="horz" pos="1339">
          <p15:clr>
            <a:srgbClr val="5ACBF0"/>
          </p15:clr>
        </p15:guide>
        <p15:guide id="20" orient="horz" pos="1915">
          <p15:clr>
            <a:srgbClr val="5ACBF0"/>
          </p15:clr>
        </p15:guide>
        <p15:guide id="21" orient="horz" pos="2491">
          <p15:clr>
            <a:srgbClr val="5ACBF0"/>
          </p15:clr>
        </p15:guide>
        <p15:guide id="22" orient="horz" pos="3067">
          <p15:clr>
            <a:srgbClr val="5ACBF0"/>
          </p15:clr>
        </p15:guide>
        <p15:guide id="23" orient="horz" pos="3643">
          <p15:clr>
            <a:srgbClr val="5ACBF0"/>
          </p15:clr>
        </p15:guide>
        <p15:guide id="24" orient="horz" pos="4219">
          <p15:clr>
            <a:srgbClr val="5ACBF0"/>
          </p15:clr>
        </p15:guide>
        <p15:guide id="25" orient="horz" pos="302">
          <p15:clr>
            <a:srgbClr val="C35EA4"/>
          </p15:clr>
        </p15:guide>
        <p15:guide id="26" orient="horz" pos="4104">
          <p15:clr>
            <a:srgbClr val="C35EA4"/>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5274"/>
            <a:ext cx="11889564" cy="917575"/>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0" y="1212851"/>
            <a:ext cx="11887198" cy="2308324"/>
          </a:xfrm>
          <a:prstGeom prst="rect">
            <a:avLst/>
          </a:prstGeom>
        </p:spPr>
        <p:txBody>
          <a:bodyPr vert="horz" wrap="square" lIns="146304" tIns="91440" rIns="146304" bIns="9144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p:cNvPicPr>
            <a:picLocks noChangeAspect="1"/>
          </p:cNvPicPr>
          <p:nvPr userDrawn="1"/>
        </p:nvPicPr>
        <p:blipFill>
          <a:blip r:embed="rId4"/>
          <a:stretch>
            <a:fillRect/>
          </a:stretch>
        </p:blipFill>
        <p:spPr>
          <a:xfrm rot="5400000">
            <a:off x="9371795" y="3072299"/>
            <a:ext cx="6995160" cy="849926"/>
          </a:xfrm>
          <a:prstGeom prst="rect">
            <a:avLst/>
          </a:prstGeom>
        </p:spPr>
      </p:pic>
      <p:grpSp>
        <p:nvGrpSpPr>
          <p:cNvPr id="3" name="Group 2">
            <a:extLst>
              <a:ext uri="{FF2B5EF4-FFF2-40B4-BE49-F238E27FC236}">
                <a16:creationId xmlns:a16="http://schemas.microsoft.com/office/drawing/2014/main" id="{C1D396E4-FC80-782A-E81E-43ED408C63E2}"/>
              </a:ext>
            </a:extLst>
          </p:cNvPr>
          <p:cNvGrpSpPr/>
          <p:nvPr userDrawn="1"/>
        </p:nvGrpSpPr>
        <p:grpSpPr>
          <a:xfrm>
            <a:off x="274701" y="6364816"/>
            <a:ext cx="2167492" cy="353943"/>
            <a:chOff x="8703664" y="6310423"/>
            <a:chExt cx="2273864" cy="360989"/>
          </a:xfrm>
        </p:grpSpPr>
        <p:pic>
          <p:nvPicPr>
            <p:cNvPr id="6" name="Picture 5">
              <a:extLst>
                <a:ext uri="{FF2B5EF4-FFF2-40B4-BE49-F238E27FC236}">
                  <a16:creationId xmlns:a16="http://schemas.microsoft.com/office/drawing/2014/main" id="{2642218D-34F5-585F-225A-509F348331BD}"/>
                </a:ext>
              </a:extLst>
            </p:cNvPr>
            <p:cNvPicPr>
              <a:picLocks noChangeAspect="1"/>
            </p:cNvPicPr>
            <p:nvPr userDrawn="1"/>
          </p:nvPicPr>
          <p:blipFill>
            <a:blip r:embed="rId5"/>
            <a:srcRect/>
            <a:stretch/>
          </p:blipFill>
          <p:spPr>
            <a:xfrm>
              <a:off x="10600392" y="6337020"/>
              <a:ext cx="377136" cy="323942"/>
            </a:xfrm>
            <a:prstGeom prst="rect">
              <a:avLst/>
            </a:prstGeom>
          </p:spPr>
        </p:pic>
        <p:sp>
          <p:nvSpPr>
            <p:cNvPr id="8" name="TextBox 7">
              <a:extLst>
                <a:ext uri="{FF2B5EF4-FFF2-40B4-BE49-F238E27FC236}">
                  <a16:creationId xmlns:a16="http://schemas.microsoft.com/office/drawing/2014/main" id="{19816DB0-D655-9DEE-3B3E-8B323EF9215D}"/>
                </a:ext>
              </a:extLst>
            </p:cNvPr>
            <p:cNvSpPr txBox="1"/>
            <p:nvPr userDrawn="1"/>
          </p:nvSpPr>
          <p:spPr>
            <a:xfrm>
              <a:off x="8703664" y="6310423"/>
              <a:ext cx="2080020" cy="360989"/>
            </a:xfrm>
            <a:prstGeom prst="rect">
              <a:avLst/>
            </a:prstGeom>
            <a:noFill/>
          </p:spPr>
          <p:txBody>
            <a:bodyPr wrap="square" rtlCol="0">
              <a:spAutoFit/>
            </a:bodyPr>
            <a:lstStyle/>
            <a:p>
              <a:pPr marL="0" marR="0" lvl="0" indent="0" algn="l" defTabSz="896386" rtl="0" eaLnBrk="1" fontAlgn="auto" latinLnBrk="0" hangingPunct="1">
                <a:lnSpc>
                  <a:spcPct val="100000"/>
                </a:lnSpc>
                <a:spcBef>
                  <a:spcPts val="0"/>
                </a:spcBef>
                <a:spcAft>
                  <a:spcPts val="0"/>
                </a:spcAft>
                <a:buClrTx/>
                <a:buSzTx/>
                <a:buFontTx/>
                <a:buNone/>
                <a:tabLst/>
                <a:defRPr/>
              </a:pPr>
              <a:r>
                <a:rPr lang="en-US" sz="1700" dirty="0">
                  <a:solidFill>
                    <a:schemeClr val="tx1"/>
                  </a:solidFill>
                </a:rPr>
                <a:t>@</a:t>
              </a:r>
              <a:r>
                <a:rPr lang="en-US" sz="1700" dirty="0" err="1">
                  <a:solidFill>
                    <a:schemeClr val="tx1"/>
                  </a:solidFill>
                </a:rPr>
                <a:t>CodeTraveler.io</a:t>
              </a:r>
              <a:endParaRPr lang="en-US" sz="1700" dirty="0">
                <a:solidFill>
                  <a:schemeClr val="tx1"/>
                </a:solidFill>
              </a:endParaRPr>
            </a:p>
          </p:txBody>
        </p:sp>
      </p:grpSp>
    </p:spTree>
    <p:extLst>
      <p:ext uri="{BB962C8B-B14F-4D97-AF65-F5344CB8AC3E}">
        <p14:creationId xmlns:p14="http://schemas.microsoft.com/office/powerpoint/2010/main" val="3692509382"/>
      </p:ext>
    </p:extLst>
  </p:cSld>
  <p:clrMap bg1="lt1" tx1="dk1" bg2="lt2" tx2="dk2" accent1="accent1" accent2="accent2" accent3="accent3" accent4="accent4" accent5="accent5" accent6="accent6" hlink="hlink" folHlink="folHlink"/>
  <p:sldLayoutIdLst>
    <p:sldLayoutId id="2147484498" r:id="rId1"/>
    <p:sldLayoutId id="2147484520" r:id="rId2"/>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32742" rtl="0" eaLnBrk="1" latinLnBrk="0" hangingPunct="1">
        <a:lnSpc>
          <a:spcPct val="90000"/>
        </a:lnSpc>
        <a:spcBef>
          <a:spcPct val="0"/>
        </a:spcBef>
        <a:buNone/>
        <a:defRPr lang="en-US" sz="4800" b="0" kern="1200" cap="none" spc="-102"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49">
          <p15:clr>
            <a:srgbClr val="5ACBF0"/>
          </p15:clr>
        </p15:guide>
        <p15:guide id="4" pos="1325">
          <p15:clr>
            <a:srgbClr val="5ACBF0"/>
          </p15:clr>
        </p15:guide>
        <p15:guide id="5" pos="1901">
          <p15:clr>
            <a:srgbClr val="5ACBF0"/>
          </p15:clr>
        </p15:guide>
        <p15:guide id="6" pos="2477">
          <p15:clr>
            <a:srgbClr val="5ACBF0"/>
          </p15:clr>
        </p15:guide>
        <p15:guide id="7" pos="3053">
          <p15:clr>
            <a:srgbClr val="5ACBF0"/>
          </p15:clr>
        </p15:guide>
        <p15:guide id="8" pos="3629">
          <p15:clr>
            <a:srgbClr val="5ACBF0"/>
          </p15:clr>
        </p15:guide>
        <p15:guide id="9" pos="4205">
          <p15:clr>
            <a:srgbClr val="5ACBF0"/>
          </p15:clr>
        </p15:guide>
        <p15:guide id="10" pos="4781">
          <p15:clr>
            <a:srgbClr val="5ACBF0"/>
          </p15:clr>
        </p15:guide>
        <p15:guide id="11" pos="5357">
          <p15:clr>
            <a:srgbClr val="5ACBF0"/>
          </p15:clr>
        </p15:guide>
        <p15:guide id="12" pos="5933">
          <p15:clr>
            <a:srgbClr val="5ACBF0"/>
          </p15:clr>
        </p15:guide>
        <p15:guide id="13" pos="6509">
          <p15:clr>
            <a:srgbClr val="5ACBF0"/>
          </p15:clr>
        </p15:guide>
        <p15:guide id="14" pos="7085">
          <p15:clr>
            <a:srgbClr val="5ACBF0"/>
          </p15:clr>
        </p15:guide>
        <p15:guide id="15" pos="7661">
          <p15:clr>
            <a:srgbClr val="5ACBF0"/>
          </p15:clr>
        </p15:guide>
        <p15:guide id="16" pos="288">
          <p15:clr>
            <a:srgbClr val="C35EA4"/>
          </p15:clr>
        </p15:guide>
        <p15:guide id="17" pos="7546">
          <p15:clr>
            <a:srgbClr val="C35EA4"/>
          </p15:clr>
        </p15:guide>
        <p15:guide id="18" orient="horz" pos="763">
          <p15:clr>
            <a:srgbClr val="5ACBF0"/>
          </p15:clr>
        </p15:guide>
        <p15:guide id="19" orient="horz" pos="1339">
          <p15:clr>
            <a:srgbClr val="5ACBF0"/>
          </p15:clr>
        </p15:guide>
        <p15:guide id="20" orient="horz" pos="1915">
          <p15:clr>
            <a:srgbClr val="5ACBF0"/>
          </p15:clr>
        </p15:guide>
        <p15:guide id="21" orient="horz" pos="2491">
          <p15:clr>
            <a:srgbClr val="5ACBF0"/>
          </p15:clr>
        </p15:guide>
        <p15:guide id="22" orient="horz" pos="3067">
          <p15:clr>
            <a:srgbClr val="5ACBF0"/>
          </p15:clr>
        </p15:guide>
        <p15:guide id="23" orient="horz" pos="3643">
          <p15:clr>
            <a:srgbClr val="5ACBF0"/>
          </p15:clr>
        </p15:guide>
        <p15:guide id="24" orient="horz" pos="4219">
          <p15:clr>
            <a:srgbClr val="5ACBF0"/>
          </p15:clr>
        </p15:guide>
        <p15:guide id="25" orient="horz" pos="302">
          <p15:clr>
            <a:srgbClr val="C35EA4"/>
          </p15:clr>
        </p15:guide>
        <p15:guide id="26" orient="horz" pos="4104">
          <p15:clr>
            <a:srgbClr val="C35EA4"/>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rgbClr val="353535"/>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5274"/>
            <a:ext cx="11889564" cy="917575"/>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0" y="1212851"/>
            <a:ext cx="11887198" cy="2308324"/>
          </a:xfrm>
          <a:prstGeom prst="rect">
            <a:avLst/>
          </a:prstGeom>
        </p:spPr>
        <p:txBody>
          <a:bodyPr vert="horz" wrap="square" lIns="146304" tIns="91440" rIns="146304" bIns="9144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p:cNvPicPr>
            <a:picLocks noChangeAspect="1"/>
          </p:cNvPicPr>
          <p:nvPr userDrawn="1"/>
        </p:nvPicPr>
        <p:blipFill>
          <a:blip r:embed="rId9"/>
          <a:stretch>
            <a:fillRect/>
          </a:stretch>
        </p:blipFill>
        <p:spPr>
          <a:xfrm rot="5400000">
            <a:off x="9371795" y="3072299"/>
            <a:ext cx="6995160" cy="849926"/>
          </a:xfrm>
          <a:prstGeom prst="rect">
            <a:avLst/>
          </a:prstGeom>
        </p:spPr>
      </p:pic>
    </p:spTree>
    <p:extLst>
      <p:ext uri="{BB962C8B-B14F-4D97-AF65-F5344CB8AC3E}">
        <p14:creationId xmlns:p14="http://schemas.microsoft.com/office/powerpoint/2010/main" val="3426004154"/>
      </p:ext>
    </p:extLst>
  </p:cSld>
  <p:clrMap bg1="dk1" tx1="lt1" bg2="dk2" tx2="lt2" accent1="accent1" accent2="accent2" accent3="accent3" accent4="accent4" accent5="accent5" accent6="accent6" hlink="hlink" folHlink="folHlink"/>
  <p:sldLayoutIdLst>
    <p:sldLayoutId id="2147484508" r:id="rId1"/>
    <p:sldLayoutId id="2147484515" r:id="rId2"/>
    <p:sldLayoutId id="2147484516" r:id="rId3"/>
    <p:sldLayoutId id="2147484517" r:id="rId4"/>
    <p:sldLayoutId id="2147484518" r:id="rId5"/>
    <p:sldLayoutId id="2147484519" r:id="rId6"/>
    <p:sldLayoutId id="2147484530" r:id="rId7"/>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32742" rtl="0" eaLnBrk="1" latinLnBrk="0" hangingPunct="1">
        <a:lnSpc>
          <a:spcPct val="90000"/>
        </a:lnSpc>
        <a:spcBef>
          <a:spcPct val="0"/>
        </a:spcBef>
        <a:buNone/>
        <a:defRPr lang="en-US" sz="4800" b="0" kern="1200" cap="none" spc="-102"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49">
          <p15:clr>
            <a:srgbClr val="5ACBF0"/>
          </p15:clr>
        </p15:guide>
        <p15:guide id="4" pos="1325">
          <p15:clr>
            <a:srgbClr val="5ACBF0"/>
          </p15:clr>
        </p15:guide>
        <p15:guide id="5" pos="1901">
          <p15:clr>
            <a:srgbClr val="5ACBF0"/>
          </p15:clr>
        </p15:guide>
        <p15:guide id="6" pos="2477">
          <p15:clr>
            <a:srgbClr val="5ACBF0"/>
          </p15:clr>
        </p15:guide>
        <p15:guide id="7" pos="3053">
          <p15:clr>
            <a:srgbClr val="5ACBF0"/>
          </p15:clr>
        </p15:guide>
        <p15:guide id="8" pos="3629">
          <p15:clr>
            <a:srgbClr val="5ACBF0"/>
          </p15:clr>
        </p15:guide>
        <p15:guide id="9" pos="4205">
          <p15:clr>
            <a:srgbClr val="5ACBF0"/>
          </p15:clr>
        </p15:guide>
        <p15:guide id="10" pos="4781">
          <p15:clr>
            <a:srgbClr val="5ACBF0"/>
          </p15:clr>
        </p15:guide>
        <p15:guide id="11" pos="5357">
          <p15:clr>
            <a:srgbClr val="5ACBF0"/>
          </p15:clr>
        </p15:guide>
        <p15:guide id="12" pos="5933">
          <p15:clr>
            <a:srgbClr val="5ACBF0"/>
          </p15:clr>
        </p15:guide>
        <p15:guide id="13" pos="6509">
          <p15:clr>
            <a:srgbClr val="5ACBF0"/>
          </p15:clr>
        </p15:guide>
        <p15:guide id="14" pos="7085">
          <p15:clr>
            <a:srgbClr val="5ACBF0"/>
          </p15:clr>
        </p15:guide>
        <p15:guide id="15" pos="7661">
          <p15:clr>
            <a:srgbClr val="5ACBF0"/>
          </p15:clr>
        </p15:guide>
        <p15:guide id="16" pos="288">
          <p15:clr>
            <a:srgbClr val="C35EA4"/>
          </p15:clr>
        </p15:guide>
        <p15:guide id="17" pos="7546">
          <p15:clr>
            <a:srgbClr val="C35EA4"/>
          </p15:clr>
        </p15:guide>
        <p15:guide id="18" orient="horz" pos="763">
          <p15:clr>
            <a:srgbClr val="5ACBF0"/>
          </p15:clr>
        </p15:guide>
        <p15:guide id="19" orient="horz" pos="1339">
          <p15:clr>
            <a:srgbClr val="5ACBF0"/>
          </p15:clr>
        </p15:guide>
        <p15:guide id="20" orient="horz" pos="1915">
          <p15:clr>
            <a:srgbClr val="5ACBF0"/>
          </p15:clr>
        </p15:guide>
        <p15:guide id="21" orient="horz" pos="2491">
          <p15:clr>
            <a:srgbClr val="5ACBF0"/>
          </p15:clr>
        </p15:guide>
        <p15:guide id="22" orient="horz" pos="3067">
          <p15:clr>
            <a:srgbClr val="5ACBF0"/>
          </p15:clr>
        </p15:guide>
        <p15:guide id="23" orient="horz" pos="3643">
          <p15:clr>
            <a:srgbClr val="5ACBF0"/>
          </p15:clr>
        </p15:guide>
        <p15:guide id="24" orient="horz" pos="4219">
          <p15:clr>
            <a:srgbClr val="5ACBF0"/>
          </p15:clr>
        </p15:guide>
        <p15:guide id="25" orient="horz" pos="302">
          <p15:clr>
            <a:srgbClr val="C35EA4"/>
          </p15:clr>
        </p15:guide>
        <p15:guide id="26" orient="horz" pos="4104">
          <p15:clr>
            <a:srgbClr val="C35EA4"/>
          </p15:clr>
        </p15:guide>
      </p15:sldGuideLst>
    </p:ext>
  </p:extLst>
</p:sldMaster>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8.xml"/></Relationships>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en-US" dirty="0"/>
              <a:t>Day 1 Recap</a:t>
            </a:r>
            <a:br>
              <a:rPr lang="en-US" dirty="0"/>
            </a:br>
            <a:r>
              <a:rPr lang="en-US" sz="3200" dirty="0">
                <a:gradFill>
                  <a:gsLst>
                    <a:gs pos="1250">
                      <a:srgbClr val="FFB900"/>
                    </a:gs>
                    <a:gs pos="100000">
                      <a:srgbClr val="FFB900"/>
                    </a:gs>
                  </a:gsLst>
                  <a:lin ang="5400000" scaled="0"/>
                </a:gradFill>
              </a:rPr>
              <a:t>What the Compiler and the Runtime Do for You</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idx="10" sz="quarter"/>
          </p:nvPr>
        </p:nvSpPr>
        <p:spPr>
          <a:xfrm>
            <a:off x="274320" y="1627632"/>
            <a:ext cx="11887200" cy="3594830"/>
          </a:xfrm>
        </p:spPr>
        <p:txBody>
          <a:bodyPr/>
          <a:lstStyle/>
          <a:p>
            <a:r>
              <a:rPr lang="en-US" dirty="0"/>
              <a:t>Task is not a thread: it is a promise that tracks completion</a:t>
            </a:r>
          </a:p>
          <a:p>
            <a:r>
              <a:rPr lang="en-US" dirty="0"/>
              <a:t>await is just a pattern: any type with GetAwaiter() can be awaited</a:t>
            </a:r>
          </a:p>
          <a:p>
            <a:r>
              <a:rPr lang="en-US" dirty="0"/>
              <a:t>The ExecutionContext flows across an await. The SynchronizationContext is captured separately.</a:t>
            </a:r>
          </a:p>
          <a:p>
            <a:r>
              <a:rPr lang="en-US" dirty="0"/>
              <a:t>await every Task, forward every CancellationToken</a:t>
            </a:r>
          </a:p>
          <a:p>
            <a:r>
              <a:rPr lang="en-US" dirty="0"/>
              <a:t>Never .Wait() or .Result</a:t>
            </a:r>
          </a:p>
          <a:p>
            <a:r>
              <a:rPr lang="en-US" dirty="0"/>
              <a:t>Runtime Async changes the machinery, not the guidance</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en-US" dirty="0"/>
              <a:t>Day 2 Recap</a:t>
            </a:r>
            <a:br>
              <a:rPr lang="en-US" dirty="0"/>
            </a:br>
            <a:r>
              <a:rPr lang="en-US" sz="3200" dirty="0">
                <a:gradFill>
                  <a:gsLst>
                    <a:gs pos="1250">
                      <a:srgbClr val="FFB900"/>
                    </a:gs>
                    <a:gs pos="100000">
                      <a:srgbClr val="FFB900"/>
                    </a:gs>
                  </a:gsLst>
                  <a:lin ang="5400000" scaled="0"/>
                </a:gradFill>
              </a:rPr>
              <a:t>Waiting Is Not Working</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idx="10" sz="quarter"/>
          </p:nvPr>
        </p:nvSpPr>
        <p:spPr>
          <a:xfrm>
            <a:off x="274320" y="1627632"/>
            <a:ext cx="11887200" cy="3594830"/>
          </a:xfrm>
        </p:spPr>
        <p:txBody>
          <a:bodyPr/>
          <a:lstStyle/>
          <a:p>
            <a:r>
              <a:rPr lang="en-US" dirty="0"/>
              <a:t>Asynchronous frees a thread. Parallel adds threads.</a:t>
            </a:r>
          </a:p>
          <a:p>
            <a:r>
              <a:rPr lang="en-US" dirty="0"/>
              <a:t>Start early, await late: calling the method starts the work</a:t>
            </a:r>
          </a:p>
          <a:p>
            <a:r>
              <a:rPr lang="en-US" dirty="0"/>
              <a:t>Parallel.ForEach takes an Action&lt;T&gt;, so an async lambda there is async void</a:t>
            </a:r>
          </a:p>
          <a:p>
            <a:r>
              <a:rPr lang="en-US" dirty="0"/>
              <a:t>Thread safe is not atomic, and two safe calls in a row are still a race</a:t>
            </a:r>
          </a:p>
          <a:p>
            <a:r>
              <a:rPr lang="en-US" dirty="0"/>
              <a:t>ConcurrentQueue&lt;T&gt; is storage. Channel&lt;T&gt; is storage plus coordination.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en-US" dirty="0"/>
              <a:t>One Question to Ask</a:t>
            </a:r>
            <a:br>
              <a:rPr lang="en-US" dirty="0"/>
            </a:br>
            <a:r>
              <a:rPr lang="en-US" sz="3200" dirty="0">
                <a:gradFill>
                  <a:gsLst>
                    <a:gs pos="1250">
                      <a:srgbClr val="FFB900"/>
                    </a:gs>
                    <a:gs pos="100000">
                      <a:srgbClr val="FFB900"/>
                    </a:gs>
                  </a:gsLst>
                  <a:lin ang="5400000" scaled="0"/>
                </a:gradFill>
              </a:rPr>
              <a:t>What Kind of Slow Is It?</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idx="10" sz="quarter"/>
          </p:nvPr>
        </p:nvSpPr>
        <p:spPr>
          <a:xfrm>
            <a:off x="274320" y="1627632"/>
            <a:ext cx="11887200" cy="3594830"/>
          </a:xfrm>
        </p:spPr>
        <p:txBody>
          <a:bodyPr/>
          <a:lstStyle/>
          <a:p>
            <a:r>
              <a:rPr lang="en-US" dirty="0"/>
              <a:t>Waiting on I/O: await it and give the thread back</a:t>
            </a:r>
          </a:p>
          <a:p>
            <a:r>
              <a:rPr lang="en-US" dirty="0"/>
              <a:t>Genuinely computing: Parallel or PLINQ, bounded by Environment.ProcessorCount</a:t>
            </a:r>
          </a:p>
          <a:p>
            <a:r>
              <a:rPr lang="en-US" dirty="0"/>
              <a:t>Both at once: Parallel.ForEachAsync with a MaxDegreeOfParallelism you can justify</a:t>
            </a:r>
          </a:p>
          <a:p>
            <a:r>
              <a:rPr lang="en-US" dirty="0"/>
              <a:t>Shared, mutable, unsynchronized: pick the guard by what you are guarding</a:t>
            </a:r>
          </a:p>
          <a:p>
            <a:r>
              <a:rPr lang="en-US" dirty="0"/>
              <a:t>One side handing work to another: a Channel&lt;T&gt;, not a polling loop</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en-US" dirty="0"/>
              <a:t>Where to Go Next</a:t>
            </a:r>
            <a:br>
              <a:rPr lang="en-US" dirty="0"/>
            </a:br>
            <a:r>
              <a:rPr lang="en-US" sz="3200" dirty="0">
                <a:gradFill>
                  <a:gsLst>
                    <a:gs pos="1250">
                      <a:srgbClr val="FFB900"/>
                    </a:gs>
                    <a:gs pos="100000">
                      <a:srgbClr val="FFB900"/>
                    </a:gs>
                  </a:gsLst>
                  <a:lin ang="5400000" scaled="0"/>
                </a:gradFill>
              </a:rPr>
              <a:t>Resources</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idx="10" sz="quarter"/>
          </p:nvPr>
        </p:nvSpPr>
        <p:spPr>
          <a:xfrm>
            <a:off x="274320" y="1627632"/>
            <a:ext cx="11887200" cy="3594830"/>
          </a:xfrm>
        </p:spPr>
        <p:txBody>
          <a:bodyPr/>
          <a:lstStyle/>
          <a:p>
            <a:r>
              <a:rPr lang="en-US" dirty="0"/>
              <a:t>The repo: every deck, every starter, every SOLUTION.md, and these notes</a:t>
            </a:r>
          </a:p>
          <a:p>
            <a:r>
              <a:rPr lang="en-US" dirty="0"/>
              <a:t>https://codetraveler.io/AsyncAwaitBestPractices/</a:t>
            </a:r>
          </a:p>
          <a:p>
            <a:r>
              <a:rPr lang="en-US" dirty="0"/>
              <a:t>The Microsoft docs link at the end of each slide's notes</a:t>
            </a:r>
          </a:p>
          <a:p>
            <a:r>
              <a:rPr lang="en-US" dirty="0"/>
              <a:t>Dometrain: From Zero to Hero Asynchronous Programming in C#</a:t>
            </a:r>
          </a:p>
          <a:p>
            <a:r>
              <a:rPr lang="en-US" dirty="0"/>
              <a:t>Dometrain: From Zero to Hero Parallel Programming in C#</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en-US" dirty="0"/>
              <a:t>Working Together</a:t>
            </a:r>
            <a:br>
              <a:rPr lang="en-US" dirty="0"/>
            </a:br>
            <a:r>
              <a:rPr lang="en-US" sz="3200" dirty="0">
                <a:gradFill>
                  <a:gsLst>
                    <a:gs pos="1250">
                      <a:srgbClr val="FFB900"/>
                    </a:gs>
                    <a:gs pos="100000">
                      <a:srgbClr val="FFB900"/>
                    </a:gs>
                  </a:gsLst>
                  <a:lin ang="5400000" scaled="0"/>
                </a:gradFill>
              </a:rPr>
              <a:t>Code Traveler, LLC</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idx="10" sz="quarter"/>
          </p:nvPr>
        </p:nvSpPr>
        <p:spPr>
          <a:xfrm>
            <a:off x="274320" y="1627632"/>
            <a:ext cx="11887200" cy="3594830"/>
          </a:xfrm>
        </p:spPr>
        <p:txBody>
          <a:bodyPr/>
          <a:lstStyle/>
          <a:p>
            <a:r>
              <a:rPr lang="en-US" dirty="0"/>
              <a:t>.NET consulting: async and parallel code that is already in production</a:t>
            </a:r>
          </a:p>
          <a:p>
            <a:r>
              <a:rPr lang="en-US" dirty="0"/>
              <a:t>Code review, design review, and this workshop run for your team</a:t>
            </a:r>
          </a:p>
          <a:p>
            <a:r>
              <a:rPr lang="en-US" dirty="0"/>
              <a:t>Developer Advocacy consulting: building or repairing a DevRel practice</a:t>
            </a:r>
          </a:p>
          <a:p>
            <a:r>
              <a:rPr lang="en-US" dirty="0"/>
              <a:t>Docs, samples, talks and community work that developers actually use</a:t>
            </a:r>
          </a:p>
          <a:p>
            <a:r>
              <a:rPr lang="en-US" dirty="0"/>
              <a:t>[contact email] / [website] / [LinkedIn]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en-US" dirty="0"/>
              <a:t>Thank You</a:t>
            </a:r>
            <a:br>
              <a:rPr lang="en-US" dirty="0"/>
            </a:br>
            <a:r>
              <a:rPr lang="en-US" sz="3200" dirty="0">
                <a:gradFill>
                  <a:gsLst>
                    <a:gs pos="1250">
                      <a:srgbClr val="FFB900"/>
                    </a:gs>
                    <a:gs pos="100000">
                      <a:srgbClr val="FFB900"/>
                    </a:gs>
                  </a:gsLst>
                  <a:lin ang="5400000" scaled="0"/>
                </a:gradFill>
              </a:rPr>
              <a:t>Go Break Something on Purpose</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idx="10" sz="quarter"/>
          </p:nvPr>
        </p:nvSpPr>
        <p:spPr>
          <a:xfrm>
            <a:off x="274320" y="1627632"/>
            <a:ext cx="11887200" cy="3594830"/>
          </a:xfrm>
        </p:spPr>
        <p:txBody>
          <a:bodyPr/>
          <a:lstStyle/>
          <a:p>
            <a:r>
              <a:rPr lang="en-US" dirty="0"/>
              <a:t>Two days, nine sections, seven coding challenges, four investigations</a:t>
            </a:r>
          </a:p>
          <a:p>
            <a:r>
              <a:rPr lang="en-US" dirty="0"/>
              <a:t>Everything is in the repo, including these speaker notes</a:t>
            </a:r>
          </a:p>
          <a:p>
            <a:r>
              <a:rPr lang="en-US" dirty="0"/>
              <a:t>https://codetraveler.io/AsyncAwaitBestPractices/</a:t>
            </a:r>
          </a:p>
          <a:p>
            <a:r>
              <a:rPr lang="en-US" dirty="0"/>
              <a:t>Questions now, or [contact email] any time after</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APEX Template 2017 ">
  <a:themeElements>
    <a:clrScheme name="Custom 79">
      <a:dk1>
        <a:srgbClr val="353535"/>
      </a:dk1>
      <a:lt1>
        <a:srgbClr val="FFFFFF"/>
      </a:lt1>
      <a:dk2>
        <a:srgbClr val="353535"/>
      </a:dk2>
      <a:lt2>
        <a:srgbClr val="FFFFFF"/>
      </a:lt2>
      <a:accent1>
        <a:srgbClr val="FFB900"/>
      </a:accent1>
      <a:accent2>
        <a:srgbClr val="B4009E"/>
      </a:accent2>
      <a:accent3>
        <a:srgbClr val="0078D7"/>
      </a:accent3>
      <a:accent4>
        <a:srgbClr val="00BCF2"/>
      </a:accent4>
      <a:accent5>
        <a:srgbClr val="B4A0FF"/>
      </a:accent5>
      <a:accent6>
        <a:srgbClr val="00B294"/>
      </a:accent6>
      <a:hlink>
        <a:srgbClr val="00BCF2"/>
      </a:hlink>
      <a:folHlink>
        <a:srgbClr val="00BCF2"/>
      </a:folHlink>
    </a:clrScheme>
    <a:fontScheme name="Segoe UI Light - Segoe UI Semilight">
      <a:majorFont>
        <a:latin typeface="Segoe UI Light"/>
        <a:ea typeface=""/>
        <a:cs typeface=""/>
      </a:majorFont>
      <a:minorFont>
        <a:latin typeface="Segoe UI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Presentation3" id="{71239882-4395-4F1E-A7A4-B9823733F26A}" vid="{F3DECCDB-D108-476B-BDE8-0D4C8C1A03CE}"/>
    </a:ext>
  </a:extLst>
</a:theme>
</file>

<file path=ppt/theme/theme2.xml><?xml version="1.0" encoding="utf-8"?>
<a:theme xmlns:a="http://schemas.openxmlformats.org/drawingml/2006/main" name="2_APEX Template 2017 ">
  <a:themeElements>
    <a:clrScheme name="Custom 79">
      <a:dk1>
        <a:srgbClr val="353535"/>
      </a:dk1>
      <a:lt1>
        <a:srgbClr val="FFFFFF"/>
      </a:lt1>
      <a:dk2>
        <a:srgbClr val="353535"/>
      </a:dk2>
      <a:lt2>
        <a:srgbClr val="FFFFFF"/>
      </a:lt2>
      <a:accent1>
        <a:srgbClr val="FFB900"/>
      </a:accent1>
      <a:accent2>
        <a:srgbClr val="B4009E"/>
      </a:accent2>
      <a:accent3>
        <a:srgbClr val="0078D7"/>
      </a:accent3>
      <a:accent4>
        <a:srgbClr val="00BCF2"/>
      </a:accent4>
      <a:accent5>
        <a:srgbClr val="B4A0FF"/>
      </a:accent5>
      <a:accent6>
        <a:srgbClr val="00B294"/>
      </a:accent6>
      <a:hlink>
        <a:srgbClr val="00BCF2"/>
      </a:hlink>
      <a:folHlink>
        <a:srgbClr val="00BCF2"/>
      </a:folHlink>
    </a:clrScheme>
    <a:fontScheme name="Segoe UI Light - Segoe UI Semilight">
      <a:majorFont>
        <a:latin typeface="Segoe UI Light"/>
        <a:ea typeface=""/>
        <a:cs typeface=""/>
      </a:majorFont>
      <a:minorFont>
        <a:latin typeface="Segoe UI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Presentation3" id="{71239882-4395-4F1E-A7A4-B9823733F26A}" vid="{F3DECCDB-D108-476B-BDE8-0D4C8C1A03CE}"/>
    </a:ext>
  </a:extLst>
</a:theme>
</file>

<file path=ppt/theme/theme3.xml><?xml version="1.0" encoding="utf-8"?>
<a:theme xmlns:a="http://schemas.openxmlformats.org/drawingml/2006/main" name="1_APEX Template 2017 ">
  <a:themeElements>
    <a:clrScheme name="Custom 79">
      <a:dk1>
        <a:srgbClr val="353535"/>
      </a:dk1>
      <a:lt1>
        <a:srgbClr val="FFFFFF"/>
      </a:lt1>
      <a:dk2>
        <a:srgbClr val="353535"/>
      </a:dk2>
      <a:lt2>
        <a:srgbClr val="FFFFFF"/>
      </a:lt2>
      <a:accent1>
        <a:srgbClr val="FFB900"/>
      </a:accent1>
      <a:accent2>
        <a:srgbClr val="B4009E"/>
      </a:accent2>
      <a:accent3>
        <a:srgbClr val="0078D7"/>
      </a:accent3>
      <a:accent4>
        <a:srgbClr val="00BCF2"/>
      </a:accent4>
      <a:accent5>
        <a:srgbClr val="B4A0FF"/>
      </a:accent5>
      <a:accent6>
        <a:srgbClr val="00B294"/>
      </a:accent6>
      <a:hlink>
        <a:srgbClr val="00BCF2"/>
      </a:hlink>
      <a:folHlink>
        <a:srgbClr val="00BCF2"/>
      </a:folHlink>
    </a:clrScheme>
    <a:fontScheme name="Segoe UI Light - Segoe UI Semilight">
      <a:majorFont>
        <a:latin typeface="Segoe UI Light"/>
        <a:ea typeface=""/>
        <a:cs typeface=""/>
      </a:majorFont>
      <a:minorFont>
        <a:latin typeface="Segoe UI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Presentation3" id="{71239882-4395-4F1E-A7A4-B9823733F26A}" vid="{F3DECCDB-D108-476B-BDE8-0D4C8C1A03CE}"/>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A33D2391BFF58241AEB203BD95DC1F89" ma:contentTypeVersion="16" ma:contentTypeDescription="Create a new document." ma:contentTypeScope="" ma:versionID="bd4b5e6fa70efd11586bd069caa6259f">
  <xsd:schema xmlns:xsd="http://www.w3.org/2001/XMLSchema" xmlns:xs="http://www.w3.org/2001/XMLSchema" xmlns:p="http://schemas.microsoft.com/office/2006/metadata/properties" xmlns:ns1="http://schemas.microsoft.com/sharepoint/v3" xmlns:ns2="16dc66bd-df5a-4495-a5c9-5e296f49988a" xmlns:ns3="12239fb0-26c0-4a37-b790-6c81fba9d0fc" targetNamespace="http://schemas.microsoft.com/office/2006/metadata/properties" ma:root="true" ma:fieldsID="1236f19879e555dfdef409a5be7c6d72" ns1:_="" ns2:_="" ns3:_="">
    <xsd:import namespace="http://schemas.microsoft.com/sharepoint/v3"/>
    <xsd:import namespace="16dc66bd-df5a-4495-a5c9-5e296f49988a"/>
    <xsd:import namespace="12239fb0-26c0-4a37-b790-6c81fba9d0fc"/>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DateTaken" minOccurs="0"/>
                <xsd:element ref="ns3:SharedWithUsers" minOccurs="0"/>
                <xsd:element ref="ns3:SharedWithDetails" minOccurs="0"/>
                <xsd:element ref="ns3:LastSharedByUser" minOccurs="0"/>
                <xsd:element ref="ns3:LastSharedByTime" minOccurs="0"/>
                <xsd:element ref="ns2:MediaServiceOCR" minOccurs="0"/>
                <xsd:element ref="ns2:MediaServiceLocation" minOccurs="0"/>
                <xsd:element ref="ns2:MediaServiceEventHashCode" minOccurs="0"/>
                <xsd:element ref="ns2:MediaServiceGenerationTime" minOccurs="0"/>
                <xsd:element ref="ns2:MediaServiceAutoKeyPoints" minOccurs="0"/>
                <xsd:element ref="ns2:MediaServiceKeyPoints" minOccurs="0"/>
                <xsd:element ref="ns1:_ip_UnifiedCompliancePolicyProperties" minOccurs="0"/>
                <xsd:element ref="ns1:_ip_UnifiedCompliancePolicyUIAc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2" nillable="true" ma:displayName="Unified Compliance Policy Properties" ma:hidden="true" ma:internalName="_ip_UnifiedCompliancePolicyProperties">
      <xsd:simpleType>
        <xsd:restriction base="dms:Note"/>
      </xsd:simpleType>
    </xsd:element>
    <xsd:element name="_ip_UnifiedCompliancePolicyUIAction" ma:index="23"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dc66bd-df5a-4495-a5c9-5e296f49988a" elementFormDefault="qualified">
    <xsd:import namespace="http://schemas.microsoft.com/office/2006/documentManagement/types"/>
    <xsd:import namespace="http://schemas.microsoft.com/office/infopath/2007/PartnerControls"/>
    <xsd:element name="MediaServiceMetadata" ma:index="8" nillable="true" ma:displayName="MediaServiceMetadata" ma:description="" ma:hidden="true" ma:internalName="MediaServiceMetadata" ma:readOnly="true">
      <xsd:simpleType>
        <xsd:restriction base="dms:Note"/>
      </xsd:simpleType>
    </xsd:element>
    <xsd:element name="MediaServiceFastMetadata" ma:index="9" nillable="true" ma:displayName="MediaServiceFastMetadata" ma:description="" ma:hidden="true" ma:internalName="MediaServiceFastMetadata" ma:readOnly="true">
      <xsd:simpleType>
        <xsd:restriction base="dms:Note"/>
      </xsd:simpleType>
    </xsd:element>
    <xsd:element name="MediaServiceAutoTags" ma:index="10" nillable="true" ma:displayName="MediaServiceAutoTags" ma:description="" ma:internalName="MediaServiceAutoTags" ma:readOnly="true">
      <xsd:simpleType>
        <xsd:restriction base="dms:Text"/>
      </xsd:simpleType>
    </xsd:element>
    <xsd:element name="MediaServiceDateTaken" ma:index="11" nillable="true" ma:displayName="MediaServiceDateTaken" ma:description="" ma:hidden="true" ma:internalName="MediaServiceDateTaken" ma:readOnly="true">
      <xsd:simpleType>
        <xsd:restriction base="dms:Text"/>
      </xsd:simpleType>
    </xsd:element>
    <xsd:element name="MediaServiceOCR" ma:index="16" nillable="true" ma:displayName="MediaServiceOCR" ma:description="" ma:internalName="MediaServiceOCR" ma:readOnly="true">
      <xsd:simpleType>
        <xsd:restriction base="dms:Note">
          <xsd:maxLength value="255"/>
        </xsd:restriction>
      </xsd:simpleType>
    </xsd:element>
    <xsd:element name="MediaServiceLocation" ma:index="17" nillable="true" ma:displayName="MediaServiceLocation" ma:description="" ma:internalName="MediaServiceLocation"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AutoKeyPoints" ma:index="20" nillable="true" ma:displayName="MediaServiceAutoKeyPoints" ma:hidden="true" ma:internalName="MediaServiceAutoKeyPoints" ma:readOnly="true">
      <xsd:simpleType>
        <xsd:restriction base="dms:Note"/>
      </xsd:simpleType>
    </xsd:element>
    <xsd:element name="MediaServiceKeyPoints" ma:index="21" nillable="true" ma:displayName="KeyPoints" ma:internalName="MediaServiceKeyPoints" ma:readOnly="fals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12239fb0-26c0-4a37-b790-6c81fba9d0fc" elementFormDefault="qualified">
    <xsd:import namespace="http://schemas.microsoft.com/office/2006/documentManagement/types"/>
    <xsd:import namespace="http://schemas.microsoft.com/office/infopath/2007/PartnerControls"/>
    <xsd:element name="SharedWithUsers" ma:index="12"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description="" ma:internalName="SharedWithDetails" ma:readOnly="true">
      <xsd:simpleType>
        <xsd:restriction base="dms:Note">
          <xsd:maxLength value="255"/>
        </xsd:restriction>
      </xsd:simpleType>
    </xsd:element>
    <xsd:element name="LastSharedByUser" ma:index="14" nillable="true" ma:displayName="Last Shared By User" ma:description="" ma:hidden="true" ma:internalName="LastSharedByUser" ma:readOnly="true">
      <xsd:simpleType>
        <xsd:restriction base="dms:Note"/>
      </xsd:simpleType>
    </xsd:element>
    <xsd:element name="LastSharedByTime" ma:index="15" nillable="true" ma:displayName="Last Shared By Time" ma:description="" ma:hidden="true" ma:internalName="LastSharedByTime" ma:readOnly="true">
      <xsd:simpleType>
        <xsd:restriction base="dms:DateTim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MediaServiceKeyPoints xmlns="16dc66bd-df5a-4495-a5c9-5e296f49988a" xsi:nil="true"/>
    <_ip_UnifiedCompliancePolicyProperties xmlns="http://schemas.microsoft.com/sharepoint/v3" xsi:nil="true"/>
  </documentManagement>
</p:properties>
</file>

<file path=customXml/itemProps1.xml><?xml version="1.0" encoding="utf-8"?>
<ds:datastoreItem xmlns:ds="http://schemas.openxmlformats.org/officeDocument/2006/customXml" ds:itemID="{F517AA3B-FC88-46DF-B5BA-DC6634CFCC94}">
  <ds:schemaRefs>
    <ds:schemaRef ds:uri="12239fb0-26c0-4a37-b790-6c81fba9d0fc"/>
    <ds:schemaRef ds:uri="16dc66bd-df5a-4495-a5c9-5e296f49988a"/>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758FDAC0-319D-4A54-8D8E-1D42CB1F8004}">
  <ds:schemaRefs>
    <ds:schemaRef ds:uri="http://schemas.microsoft.com/sharepoint/v3/contenttype/forms"/>
  </ds:schemaRefs>
</ds:datastoreItem>
</file>

<file path=customXml/itemProps3.xml><?xml version="1.0" encoding="utf-8"?>
<ds:datastoreItem xmlns:ds="http://schemas.openxmlformats.org/officeDocument/2006/customXml" ds:itemID="{B59C5458-A72E-4627-9FFC-D350DCB4700F}">
  <ds:schemaRefs>
    <ds:schemaRef ds:uri="http://schemas.microsoft.com/office/2006/metadata/properties"/>
    <ds:schemaRef ds:uri="http://schemas.openxmlformats.org/package/2006/metadata/core-properties"/>
    <ds:schemaRef ds:uri="http://purl.org/dc/dcmitype/"/>
    <ds:schemaRef ds:uri="http://schemas.microsoft.com/office/infopath/2007/PartnerControls"/>
    <ds:schemaRef ds:uri="http://schemas.microsoft.com/sharepoint/v3"/>
    <ds:schemaRef ds:uri="http://purl.org/dc/elements/1.1/"/>
    <ds:schemaRef ds:uri="http://schemas.microsoft.com/office/2006/documentManagement/types"/>
    <ds:schemaRef ds:uri="12239fb0-26c0-4a37-b790-6c81fba9d0fc"/>
    <ds:schemaRef ds:uri="16dc66bd-df5a-4495-a5c9-5e296f49988a"/>
    <ds:schemaRef ds:uri="http://www.w3.org/XML/1998/namespace"/>
    <ds:schemaRef ds:uri="http://purl.org/dc/terms/"/>
  </ds:schemaRefs>
</ds:datastoreItem>
</file>

<file path=docMetadata/LabelInfo.xml><?xml version="1.0" encoding="utf-8"?>
<clbl:labelList xmlns:clbl="http://schemas.microsoft.com/office/2020/mipLabelMetadata">
  <clbl:label id="{f42aa342-8706-4288-bd11-ebb85995028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emplate>3134_APEX_template_r03</Template>
  <TotalTime>13187</TotalTime>
  <Words>2752</Words>
  <Application>Microsoft Macintosh PowerPoint</Application>
  <PresentationFormat>Custom</PresentationFormat>
  <Paragraphs>84</Paragraphs>
  <Slides>12</Slides>
  <Notes>12</Notes>
  <HiddenSlides>0</HiddenSlides>
  <MMClips>0</MMClips>
  <ScaleCrop>false</ScaleCrop>
  <HeadingPairs>
    <vt:vector size="6" baseType="variant">
      <vt:variant>
        <vt:lpstr>Fonts Used</vt:lpstr>
      </vt:variant>
      <vt:variant>
        <vt:i4>6</vt:i4>
      </vt:variant>
      <vt:variant>
        <vt:lpstr>Theme</vt:lpstr>
      </vt:variant>
      <vt:variant>
        <vt:i4>3</vt:i4>
      </vt:variant>
      <vt:variant>
        <vt:lpstr>Slide Titles</vt:lpstr>
      </vt:variant>
      <vt:variant>
        <vt:i4>12</vt:i4>
      </vt:variant>
    </vt:vector>
  </HeadingPairs>
  <TitlesOfParts>
    <vt:vector size="21" baseType="lpstr">
      <vt:lpstr>Arial</vt:lpstr>
      <vt:lpstr>Lucida Console</vt:lpstr>
      <vt:lpstr>Segoe UI</vt:lpstr>
      <vt:lpstr>Segoe UI Light</vt:lpstr>
      <vt:lpstr>Segoe UI Semilight</vt:lpstr>
      <vt:lpstr>Wingdings</vt:lpstr>
      <vt:lpstr>APEX Template 2017 </vt:lpstr>
      <vt:lpstr>2_APEX Template 2017 </vt:lpstr>
      <vt:lpstr>1_APEX Template 2017 </vt:lpstr>
      <vt:lpstr>Channels</vt:lpstr>
      <vt:lpstr>Producer / Consumer Model System.Threading.Channels</vt:lpstr>
      <vt:lpstr>Creating Unbounded Channels Channel.CreateUnbounded&lt;T&gt;()</vt:lpstr>
      <vt:lpstr>Creating Bounded Channels Channel.CreateBounded&lt;T&gt;()</vt:lpstr>
      <vt:lpstr>Handling Backpressure BoundedChannelFullMode</vt:lpstr>
      <vt:lpstr>Writing to a Channel ChannelWriter&lt;T&gt;</vt:lpstr>
      <vt:lpstr>Reading from a Channel ChannelReader&lt;T&gt;.ReadAllAsync()</vt:lpstr>
      <vt:lpstr>Cleaning Up Writer.Complete()</vt:lpstr>
      <vt:lpstr>Channel or ConcurrentQueue? Storage vs Coordination</vt:lpstr>
      <vt:lpstr>Wiring the Channel One Instance, Injected Twice</vt:lpstr>
      <vt:lpstr>Hosting the Consumer Microsoft.Extensions.Hosting</vt:lpstr>
      <vt:lpstr>Challenge: Drain the Pipeline 20 Minutes</vt:lpstr>
    </vt:vector>
  </TitlesOfParts>
  <Manager/>
  <Company>Microsoft Corporation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 title</dc:title>
  <dc:subject>&lt;Speech title here&gt;</dc:subject>
  <dc:creator>Trine Thogersen</dc:creator>
  <cp:keywords/>
  <dc:description>Template: _x000d_
Formatting: _x000d_
Audience Type:</dc:description>
  <cp:lastModifiedBy>Brandon Minnick</cp:lastModifiedBy>
  <cp:revision>243</cp:revision>
  <dcterms:created xsi:type="dcterms:W3CDTF">2017-10-31T19:47:21Z</dcterms:created>
  <dcterms:modified xsi:type="dcterms:W3CDTF">2026-09-08T18:48:04Z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0x010100A33D2391BFF58241AEB203BD95DC1F89</vt:lpwstr>
  </property>
  <property fmtid="{D5CDD505-2E9C-101B-9397-08002B2CF9AE}" pid="3" name="Product">
    <vt:lpwstr/>
  </property>
  <property fmtid="{D5CDD505-2E9C-101B-9397-08002B2CF9AE}" pid="4" name="Event1">
    <vt:lpwstr>622;#Unassigned|2c8af875-f38a-40b8-a0a9-056aed3fc8c0</vt:lpwstr>
  </property>
  <property fmtid="{D5CDD505-2E9C-101B-9397-08002B2CF9AE}" pid="5" name="Audience">
    <vt:lpwstr/>
  </property>
  <property fmtid="{D5CDD505-2E9C-101B-9397-08002B2CF9AE}" pid="6" name="Event Venue">
    <vt:lpwstr/>
  </property>
  <property fmtid="{D5CDD505-2E9C-101B-9397-08002B2CF9AE}" pid="7" name="Track">
    <vt:lpwstr/>
  </property>
  <property fmtid="{D5CDD505-2E9C-101B-9397-08002B2CF9AE}" pid="8" name="Event Location">
    <vt:lpwstr/>
  </property>
  <property fmtid="{D5CDD505-2E9C-101B-9397-08002B2CF9AE}" pid="9" name="Campaign">
    <vt:lpwstr/>
  </property>
  <property fmtid="{D5CDD505-2E9C-101B-9397-08002B2CF9AE}" pid="10" name="IsMyDocuments">
    <vt:bool>true</vt:bool>
  </property>
  <property fmtid="{D5CDD505-2E9C-101B-9397-08002B2CF9AE}" pid="11" name="MSIP_Label_f42aa342-8706-4288-bd11-ebb85995028c_Enabled">
    <vt:lpwstr>True</vt:lpwstr>
  </property>
  <property fmtid="{D5CDD505-2E9C-101B-9397-08002B2CF9AE}" pid="12" name="MSIP_Label_f42aa342-8706-4288-bd11-ebb85995028c_SiteId">
    <vt:lpwstr>72f988bf-86f1-41af-91ab-2d7cd011db47</vt:lpwstr>
  </property>
  <property fmtid="{D5CDD505-2E9C-101B-9397-08002B2CF9AE}" pid="13" name="MSIP_Label_f42aa342-8706-4288-bd11-ebb85995028c_Owner">
    <vt:lpwstr>maprende@microsoft.com</vt:lpwstr>
  </property>
  <property fmtid="{D5CDD505-2E9C-101B-9397-08002B2CF9AE}" pid="14" name="MSIP_Label_f42aa342-8706-4288-bd11-ebb85995028c_SetDate">
    <vt:lpwstr>2018-04-03T18:59:45.4491218Z</vt:lpwstr>
  </property>
  <property fmtid="{D5CDD505-2E9C-101B-9397-08002B2CF9AE}" pid="15" name="MSIP_Label_f42aa342-8706-4288-bd11-ebb85995028c_Name">
    <vt:lpwstr>General</vt:lpwstr>
  </property>
  <property fmtid="{D5CDD505-2E9C-101B-9397-08002B2CF9AE}" pid="16" name="MSIP_Label_f42aa342-8706-4288-bd11-ebb85995028c_Application">
    <vt:lpwstr>Microsoft Azure Information Protection</vt:lpwstr>
  </property>
  <property fmtid="{D5CDD505-2E9C-101B-9397-08002B2CF9AE}" pid="17" name="MSIP_Label_f42aa342-8706-4288-bd11-ebb85995028c_Extended_MSFT_Method">
    <vt:lpwstr>Automatic</vt:lpwstr>
  </property>
  <property fmtid="{D5CDD505-2E9C-101B-9397-08002B2CF9AE}" pid="18" name="Sensitivity">
    <vt:lpwstr>General</vt:lpwstr>
  </property>
</Properties>
</file>