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3"/>
  </p:notesMasterIdLst>
  <p:handoutMasterIdLst>
    <p:handoutMasterId r:id="rId24"/>
  </p:handoutMasterIdLst>
  <p:sldIdLst>
    <p:sldId id="256" r:id="rId7"/>
    <p:sldId id="257"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97"/>
    <p:restoredTop sz="80549"/>
  </p:normalViewPr>
  <p:slideViewPr>
    <p:cSldViewPr snapToGrid="0">
      <p:cViewPr varScale="1">
        <p:scale>
          <a:sx n="120" d="100"/>
          <a:sy n="120" d="100"/>
        </p:scale>
        <p:origin x="1632" y="18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9/7/26 2:41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9/7/26 2:41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concurrent collections. Everything in this section exists for one reason. The moment two threads write to the same collection, the collection you have used your whole career stops being correct.</a:t>
            </a:r>
          </a:p>
          <a:p>
            <a:endParaRPr/>
          </a:p>
          <a:p>
            <a:r>
              <a:t>Not slower, not noisier. Incorrect, and usually in the quietest way possible: missing data rather than an exception you can catch.</a:t>
            </a:r>
          </a:p>
          <a:p>
            <a:endParaRPr/>
          </a:p>
          <a:p>
            <a:r>
              <a:t>We will walk the four types in System.Collections.Concurrent, what each one replaces, and what each one costs you.</a:t>
            </a:r>
          </a:p>
          <a:p>
            <a:endParaRPr/>
          </a:p>
          <a:p>
            <a:r>
              <a:t>Then we will look at the two problems no concurrent collection can solve on your behalf: a counter that has to be incremented atomically, and a single field that two asynchronous methods both want to write.</a:t>
            </a:r>
          </a:p>
          <a:p>
            <a:endParaRPr/>
          </a:p>
          <a:p>
            <a:r>
              <a:t>You are about to fix all of that in a live market dashboard that quietly loses stock cards every time it renders.</a:t>
            </a:r>
          </a:p>
          <a:p>
            <a:endParaRPr/>
          </a:p>
          <a:p>
            <a:r>
              <a:t>https://learn.microsoft.com/dotnet/standard/collections/thread-safe/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race condition needs all three of these at the same time. State that more than one thread can reach, at least one thread writing to it, and nothing imposing an order on those reads and writes.</a:t>
            </a:r>
          </a:p>
          <a:p>
            <a:endParaRPr/>
          </a:p>
          <a:p>
            <a:r>
              <a:t>That framing is useful because it gives you three separate escape hatches. Stop sharing the state and there is no race. Stop mutating it and there is no race. Or keep both and add synchronization, which is what the rest of this section is about.</a:t>
            </a:r>
          </a:p>
          <a:p>
            <a:endParaRPr/>
          </a:p>
          <a:p>
            <a:r>
              <a:t>Notice which one is cheapest. A local variable inside your parallel body is not shared, so it is free. An immutable record you build once and hand around is not mutable, so it is free too.</a:t>
            </a:r>
          </a:p>
          <a:p>
            <a:endParaRPr/>
          </a:p>
          <a:p>
            <a:r>
              <a:t>Reach for a concurrent collection when you genuinely need many threads writing to one place, not as a reflex. The fastest thread safe code is code with nothing to share.</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shape of the bug, and it is one loop long. Dictionary is fast precisely because it assumes a single writer.</a:t>
            </a:r>
          </a:p>
          <a:p>
            <a:endParaRPr/>
          </a:p>
          <a:p>
            <a:r>
              <a:t>Adding an entry can trigger a resize, which reallocates the internal arrays and rewrites every bucket chain. A second thread reading or writing during that window sees a half built structure.</a:t>
            </a:r>
          </a:p>
          <a:p>
            <a:endParaRPr/>
          </a:p>
          <a:p>
            <a:r>
              <a:t>You get one of three outcomes, and you do not get to choose which. The entry silently disappears, the internal state is corrupted so later lookups return nonsense, or the collection notices and throws. Silent loss is the common one and by far the worst.</a:t>
            </a:r>
          </a:p>
          <a:p>
            <a:endParaRPr/>
          </a:p>
          <a:p>
            <a:r>
              <a:t>List of T is the same story. Add writes to an internal array and grows it when it is full, so parallel Add calls overwrite each other's slots, and a torn list can even leave a null sitting in its backing array for your next LINQ query to trip over.</a:t>
            </a:r>
          </a:p>
          <a:p>
            <a:endParaRPr/>
          </a:p>
          <a:p>
            <a:r>
              <a:t>The documentation says it plainly: any instance members are not guaranteed to be thread safe.</a:t>
            </a:r>
          </a:p>
          <a:p>
            <a:endParaRPr/>
          </a:p>
          <a:p>
            <a:r>
              <a:t>https://learn.microsoft.com/dotnet/api/system.collections.generic.dictionary-2</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do you use instead? .NET ships four general purpose collections built for exactly this, plus BlockingCollection of T layered on top of them, and they have been in the box since .NET Framework 4.</a:t>
            </a:r>
          </a:p>
          <a:p>
            <a:endParaRPr/>
          </a:p>
          <a:p>
            <a:r>
              <a:t>They are not magic and they are not free, but each one takes a specific access pattern and makes it safe for many threads without you writing a single lock statement.</a:t>
            </a:r>
          </a:p>
          <a:p>
            <a:endParaRPr/>
          </a:p>
          <a:p>
            <a:r>
              <a:t>As we go through them, keep two questions in your head. First, what does this type replace, because each one maps cleanly onto something you already use. Second, how do I read the data back out, because that is usually what decides which one you want.</a:t>
            </a:r>
          </a:p>
          <a:p>
            <a:endParaRPr/>
          </a:p>
          <a:p>
            <a:r>
              <a:t>We will start with the one you will reach for most often, ConcurrentDictionary, and then look at the bag, the queue, and the stack.</a:t>
            </a:r>
          </a:p>
          <a:p>
            <a:endParaRPr/>
          </a:p>
          <a:p>
            <a:r>
              <a:t>https://learn.microsoft.com/dotnet/standard/collections/thread-safe/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ConcurrentDictionary is the drop-in replacement for Dictionary, and it is the one you will use most. Reads take no lock at all. The collection is built so a reading thread always sees a consistent view, which makes it a very good fit for read heavy workloads like a cache.</a:t>
            </a:r>
          </a:p>
          <a:p>
            <a:endParaRPr/>
          </a:p>
          <a:p>
            <a:r>
              <a:t>Writes take a lock, but not one lock over the whole collection. The dictionary keeps a small array of locks, one per processor by default, growing to a cap of 1024, and each lock guards a stripe of buckets.</a:t>
            </a:r>
          </a:p>
          <a:p>
            <a:endParaRPr/>
          </a:p>
          <a:p>
            <a:r>
              <a:t>Two threads writing different keys usually land on different stripes and never wait for each other. Occasionally they collide on the same stripe and one waits. That is what fine-grained locking buys you, and it is why the type scales with your core count instead of against it.</a:t>
            </a:r>
          </a:p>
          <a:p>
            <a:endParaRPr/>
          </a:p>
          <a:p>
            <a:r>
              <a:t>Notice the method names. The Try prefix is everywhere because in a concurrent world every operation is a race with someone else. TryAdd can fail because another thread got there first, and TryRemove can fail because the key is already gone. Check the return value.</a:t>
            </a:r>
          </a:p>
          <a:p>
            <a:endParaRPr/>
          </a:p>
          <a:p>
            <a:r>
              <a:t>https://learn.microsoft.com/dotnet/api/system.collections.concurrent.concurrentdictionary-2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Swapping the type is only half the fix. Look at the first pair of calls. Reading the current value and then writing the new one are two separate operations, and every method being thread safe does nothing to stop another thread from landing between them. You still lose updates.</a:t>
            </a:r>
          </a:p>
          <a:p>
            <a:endParaRPr/>
          </a:p>
          <a:p>
            <a:r>
              <a:t>AddOrUpdate collapses the read, decide and write into one call, but not by holding a lock the whole time. It reads the current value, runs your delegate outside the lock, then takes the lock and swaps the new value in only if nobody changed it while your delegate was running. If somebody did, it throws your result away and tries again.</a:t>
            </a:r>
          </a:p>
          <a:p>
            <a:endParaRPr/>
          </a:p>
          <a:p>
            <a:r>
              <a:t>No update is lost, but your delegate can run more than once, which is exactly what the next slide is about.</a:t>
            </a:r>
          </a:p>
          <a:p>
            <a:endParaRPr/>
          </a:p>
          <a:p>
            <a:r>
              <a:t>You give it the key, the value to use when the key is missing, and a delegate that turns the existing value into the new one. GetOrAdd is the sibling you want for create once and read many, which is the shape of most caches.</a:t>
            </a:r>
          </a:p>
          <a:p>
            <a:endParaRPr/>
          </a:p>
          <a:p>
            <a:r>
              <a:t>https://learn.microsoft.com/dotnet/api/system.collections.concurrent.concurrentdictionary-2.addorupdate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caveat that catches experienced developers, and it is written into the documentation for a reason. All methods on ConcurrentDictionary are thread safe. Not all of them are atomic, and GetOrAdd and AddOrUpdate are the two that are not.</a:t>
            </a:r>
          </a:p>
          <a:p>
            <a:endParaRPr/>
          </a:p>
          <a:p>
            <a:r>
              <a:t>The delegate you pass in is deliberately invoked outside the dictionary's internal lock. If it ran inside, one slow or badly behaved factory would block every thread touching that stripe of buckets.</a:t>
            </a:r>
          </a:p>
          <a:p>
            <a:endParaRPr/>
          </a:p>
          <a:p>
            <a:r>
              <a:t>The tradeoff is that under contention your factory can run more than once, and the value GetOrAdd returns is not guaranteed to be the one your own factory created. Another thread may have won the race, and you get their instance.</a:t>
            </a:r>
          </a:p>
          <a:p>
            <a:endParaRPr/>
          </a:p>
          <a:p>
            <a:r>
              <a:t>So keep those delegates pure, cheap and side effect free. Comparing two timestamps and returning the winner is perfect. Opening a database connection or sending an email in there is a bug waiting for a busy Tuesday.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 programming, a bag, also known as a multiset, is an unordered structure that stores a collection of items where duplicates are allowed. Unlike a set, which only stores unique elements, a bag focuses on simply collecting items regardless of their order or frequency.</a:t>
            </a:r>
          </a:p>
          <a:p>
            <a:endParaRPr dirty="0"/>
          </a:p>
          <a:p>
            <a:r>
              <a:rPr dirty="0"/>
              <a:t>It is a grocery bag. Things go in, and you can tip it out later.</a:t>
            </a:r>
          </a:p>
          <a:p>
            <a:endParaRPr dirty="0"/>
          </a:p>
          <a:p>
            <a:r>
              <a:rPr dirty="0"/>
              <a:t>That is exactly the shape of a parallel loop that produces results. Every worker has an answer, nobody cares what order the answers arrive in, and you sort or aggregate at the end.</a:t>
            </a:r>
          </a:p>
          <a:p>
            <a:endParaRPr dirty="0"/>
          </a:p>
          <a:p>
            <a:r>
              <a:rPr dirty="0"/>
              <a:t>The implementation is what makes it fast. Each thread gets its own local list, so adding usually contends with nobody at all. When a thread tries to take an item and its own list is empty, it steals from another thread's list.</a:t>
            </a:r>
          </a:p>
          <a:p>
            <a:endParaRPr dirty="0"/>
          </a:p>
          <a:p>
            <a:r>
              <a:rPr dirty="0"/>
              <a:t>That is why a bag is excellent when the same threads both add and take, and merely fine otherwise.</a:t>
            </a:r>
          </a:p>
          <a:p>
            <a:endParaRPr dirty="0"/>
          </a:p>
          <a:p>
            <a:r>
              <a:rPr dirty="0"/>
              <a:t>https://</a:t>
            </a:r>
            <a:r>
              <a:rPr dirty="0" err="1"/>
              <a:t>learn.microsoft.com</a:t>
            </a:r>
            <a:r>
              <a:rPr dirty="0"/>
              <a:t>/dotnet/</a:t>
            </a:r>
            <a:r>
              <a:rPr dirty="0" err="1"/>
              <a:t>api</a:t>
            </a:r>
            <a:r>
              <a:rPr dirty="0"/>
              <a:t>/system.collections.concurrent.concurrentbag-1</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ConcurrentQueue replaces Queue and keeps first in, first out ordering. It is built on linked segments of items, and enqueuing or dequeuing within a segment is a lock-free compare-and-swap, so threads almost never wait on each other.</a:t>
            </a:r>
          </a:p>
          <a:p>
            <a:endParaRPr/>
          </a:p>
          <a:p>
            <a:r>
              <a:t>It does hold one internal lock, but only when it has to grow onto a new segment or retire an exhausted one, and for Clear and Count.</a:t>
            </a:r>
          </a:p>
          <a:p>
            <a:endParaRPr/>
          </a:p>
          <a:p>
            <a:r>
              <a:t>The shape it fits is a producer on one end and a consumer on the other. Work arrives, work gets picked up in the order it arrived, and fairness matters. That covers a lot of real systems: job queues, request buffers, anything where the oldest item deserves attention first.</a:t>
            </a:r>
          </a:p>
          <a:p>
            <a:endParaRPr/>
          </a:p>
          <a:p>
            <a:r>
              <a:t>Note TryDequeue rather than Dequeue. In a concurrent queue there is no safe way to ask whether the queue is empty and then remove an item, because the answer can change between the two calls. Try does both in one step and tells you whether it worked.</a:t>
            </a:r>
          </a:p>
          <a:p>
            <a:endParaRPr/>
          </a:p>
          <a:p>
            <a:r>
              <a:t>Remember this type when we reach Channels in the next section. An unbounded channel is a ConcurrentQueue with signalling on top.</a:t>
            </a:r>
          </a:p>
          <a:p>
            <a:endParaRPr/>
          </a:p>
          <a:p>
            <a:r>
              <a:t>https://learn.microsoft.com/dotnet/api/system.collections.concurrent.concurrentqueue-1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ConcurrentStack replaces Stack and keeps last in, first out ordering. It is the easiest of the four to reason about: a stack is just a linked list with a head pointer, and every push and pop is an Interlocked.CompareExchange on that head.</a:t>
            </a:r>
          </a:p>
          <a:p>
            <a:endParaRPr/>
          </a:p>
          <a:p>
            <a:r>
              <a:t>Read your value, compute the new head, and swap it in only if nobody moved it while you were thinking. If someone did, loop and try again. There is no lock anywhere in that story, which is why this one really is fully lock-free.</a:t>
            </a:r>
          </a:p>
          <a:p>
            <a:endParaRPr/>
          </a:p>
          <a:p>
            <a:r>
              <a:t>TryPopRange is worth knowing. It pops several items in one operation, which is a real win when many threads are hammering the same head pointer, because it amortizes the contention.</a:t>
            </a:r>
          </a:p>
          <a:p>
            <a:endParaRPr/>
          </a:p>
          <a:p>
            <a:r>
              <a:t>Be honest about when you want LIFO, though. It means the newest work gets served first and the oldest item can sit there forever. That is right for a cache of reusable objects, where the most recently returned one is the warmest, and wrong for almost every work queue.</a:t>
            </a:r>
          </a:p>
          <a:p>
            <a:endParaRPr/>
          </a:p>
          <a:p>
            <a:r>
              <a:t>https://learn.microsoft.com/dotnet/api/system.collections.concurrent.concurrentstack-1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four you will actually reach for, on one slide. Pick by how you read the data back out, not by how you write it in.</a:t>
            </a:r>
          </a:p>
          <a:p>
            <a:endParaRPr/>
          </a:p>
          <a:p>
            <a:r>
              <a:t>Keyed lookup means a dictionary. A handoff where the oldest item goes first means a queue. Newest first means a stack. No ordering requirement at all means a bag.</a:t>
            </a:r>
          </a:p>
          <a:p>
            <a:endParaRPr/>
          </a:p>
          <a:p>
            <a:r>
              <a:t>The namespace holds a few more types. BlockingCollection of T adds blocking and bounding on top of any of these, and the Partitioner types are what Parallel uses under the hood. BlockingCollection is the one worth knowing about, and we are going to meet its modern successor in the next section: Channels.</a:t>
            </a:r>
          </a:p>
          <a:p>
            <a:endParaRPr/>
          </a:p>
          <a:p>
            <a:r>
              <a:t>The line that surprises people is the fifth one. There is no ConcurrentList, and that is not an oversight. A list promises stable indexes, and an index cannot be stable while other threads are inserting and removing. If you were using a List purely to accumulate results, a bag plus a sort at the end is the answer.</a:t>
            </a:r>
          </a:p>
          <a:p>
            <a:endParaRPr/>
          </a:p>
          <a:p>
            <a:r>
              <a:t>Every one of these gives you ToArray, which takes a point-in-time snapshot you can safely enumerate.</a:t>
            </a:r>
          </a:p>
          <a:p>
            <a:endParaRPr/>
          </a:p>
          <a:p>
            <a:r>
              <a:t>https://learn.microsoft.com/dotnet/standard/collections/thread-safe/when-to-use-a-thread-safe-collection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sentence to write on a sticky note. A concurrent collection guarantees that each individual call is safe. It guarantees nothing about two calls in a row.</a:t>
            </a:r>
          </a:p>
          <a:p>
            <a:endParaRPr/>
          </a:p>
          <a:p>
            <a:r>
              <a:t>TryGetValue followed by an indexer assignment is a race. Checking Count and then removing an item is a race. TryAdd, and then falling back to the indexer when it returns false, is a race, and that last one is sitting in the starter project right now.</a:t>
            </a:r>
          </a:p>
          <a:p>
            <a:endParaRPr/>
          </a:p>
          <a:p>
            <a:r>
              <a:t>The fix is always the same in shape: find the single method that does the whole thing, or wrap the sequence in something that gives you exclusive access. AddOrUpdate and GetOrAdd exist precisely so you do not have to invent that yourself.</a:t>
            </a:r>
          </a:p>
          <a:p>
            <a:endParaRPr/>
          </a:p>
          <a:p>
            <a:r>
              <a:t>The same rule applies to everything else in your class. Swapping a Dictionary for a ConcurrentDictionary does nothing for the plain int counter next to it, and nothing for the single field two async methods both want to write. That is the rest of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 collection can save a plain integer field. The plus plus operator looks like one thing and compiles into three: load the value, add one, store it back. Two threads that both load 41 both store 42, and one increment is gone forever. That is the counter bug in StockWatch.</a:t>
            </a:r>
          </a:p>
          <a:p>
            <a:endParaRPr/>
          </a:p>
          <a:p>
            <a:r>
              <a:t>Interlocked.Increment performs all three steps as a single hardware operation, so no thread can land in the middle. Add, Exchange and CompareExchange cover the other patterns, and CompareExchange in particular is the primitive the lock-free collections are built on.</a:t>
            </a:r>
          </a:p>
          <a:p>
            <a:endParaRPr/>
          </a:p>
          <a:p>
            <a:r>
              <a:t>It is dramatically cheaper than a lock: no lock object, no allocation, and no chance of deadlock, because there is nothing to hold.</a:t>
            </a:r>
          </a:p>
          <a:p>
            <a:endParaRPr/>
          </a:p>
          <a:p>
            <a:r>
              <a:t>One more piece. Atomic writes do not guarantee that a reader on another thread re-reads the field at all. The JIT is free to hoist a plain field read into a register and never look at memory again, and the CPU is free to reorder that load ahead of earlier ones. Volatile.Read forces a real read with acquire semantics, and it costs essentially nothing on x64 and Arm64.</a:t>
            </a:r>
          </a:p>
          <a:p>
            <a:endParaRPr/>
          </a:p>
          <a:p>
            <a:r>
              <a:t>https://learn.microsoft.com/dotnet/api/system.threading.interlocked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Sometimes the shared state is not a collection at all. It is one field, written by two methods that can both be in flight at once.</a:t>
            </a:r>
          </a:p>
          <a:p>
            <a:endParaRPr/>
          </a:p>
          <a:p>
            <a:r>
              <a:t>That is a lock's job, except you cannot use lock here, because a lock is owned by a thread and an await can resume you on a different one. The compiler will not even let you write await inside a lock block.</a:t>
            </a:r>
          </a:p>
          <a:p>
            <a:endParaRPr/>
          </a:p>
          <a:p>
            <a:r>
              <a:t>SemaphoreSlim created with an initial and maximum count of one is the asynchronous lock. WaitAsync takes the single permit and gives you back a Task, so waiting for it does not block a thread pool thread. Pass your cancellation token so a shutting down component stops waiting immediately.</a:t>
            </a:r>
          </a:p>
          <a:p>
            <a:endParaRPr/>
          </a:p>
          <a:p>
            <a:r>
              <a:t>Two rules. Always Release in a finally block, because a throw inside the guarded body would otherwise strand every later caller forever. And remember it is not reentrant: it counts permits, not owners, so the thread already holding it gets no special treatment.</a:t>
            </a:r>
          </a:p>
          <a:p>
            <a:endParaRPr/>
          </a:p>
          <a:p>
            <a:r>
              <a:t>https://learn.microsoft.com/dotnet/api/system.threading.semaphoreslim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pattern that keeps a non-reentrant lock honest, and it is worth learning once because you will use it everywhere.</a:t>
            </a:r>
          </a:p>
          <a:p>
            <a:endParaRPr/>
          </a:p>
          <a:p>
            <a:r>
              <a:t>Split the work in two. The public method is the only thing that takes the semaphore, and it immediately calls a private core method that assumes the semaphore is already held. Any other guarded method that needs the same work calls the core, never the public wrapper.</a:t>
            </a:r>
          </a:p>
          <a:p>
            <a:endParaRPr/>
          </a:p>
          <a:p>
            <a:r>
              <a:t>Get that wrong and you write your own deadlock. Imagine a public RefreshAsync that takes the same semaphore and then calls InvalidateAsync. InvalidateAsync waits for a permit that RefreshAsync is still holding, and RefreshAsync is waiting for InvalidateAsync to return.</a:t>
            </a:r>
          </a:p>
          <a:p>
            <a:endParaRPr/>
          </a:p>
          <a:p>
            <a:r>
              <a:t>Nothing throws. Nothing logs. The feature simply stops working, and the thread sits there until the process dies.</a:t>
            </a:r>
          </a:p>
          <a:p>
            <a:endParaRPr/>
          </a:p>
          <a:p>
            <a:r>
              <a:t>Naming helps you remember. If a method is named with a Core suffix, that is your signal that it assumes the caller already holds the lock. A comment saying so is cheap insurance.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turn. Open the starter project, run it on localhost port 5005, and before you change a single line, look at it.</a:t>
            </a:r>
          </a:p>
          <a:p>
            <a:endParaRPr/>
          </a:p>
          <a:p>
            <a:r>
              <a:t>Count the cards in the grid. Watch the quotes applied tile. Reload the page half a dozen times and notice that you get a different answer almost every time. That unpredictability is the symptom you are fixing.</a:t>
            </a:r>
          </a:p>
          <a:p>
            <a:endParaRPr/>
          </a:p>
          <a:p>
            <a:r>
              <a:t>Everything you need to change is in Dashboard.razor.cs, marked with five ToDo Refactor comments. Two of them are the collection types themselves. One is a read followed by a write on that dictionary. One is the counter increment. One is the timer field that two async methods both write.</a:t>
            </a:r>
          </a:p>
          <a:p>
            <a:endParaRPr/>
          </a:p>
          <a:p>
            <a:r>
              <a:t>There is a sixth change that carries no ToDo comment at all: how that counter is read back. Finding it is part of the exercise.</a:t>
            </a:r>
          </a:p>
          <a:p>
            <a:endParaRPr/>
          </a:p>
          <a:p>
            <a:r>
              <a:t>You have 25 minutes. Aim for 60 cards on the first paint and on every refresh after it, and a counter that climbs by exactly 60 every 2 seconds.</a:t>
            </a:r>
          </a:p>
          <a:p>
            <a:endParaRPr/>
          </a:p>
          <a:p>
            <a:r>
              <a:t>AI Agents are for understanding, not for solving. You're smart. You got this.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 Collections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Three Ingredients of a Race Condition</a:t>
            </a:r>
            <a:br>
              <a:rPr lang="en-US" dirty="0"/>
            </a:br>
            <a:r>
              <a:rPr lang="en-US" sz="3600" dirty="0">
                <a:gradFill>
                  <a:gsLst>
                    <a:gs pos="1250">
                      <a:srgbClr val="FFB900"/>
                    </a:gs>
                    <a:gs pos="100000">
                      <a:srgbClr val="FFB900"/>
                    </a:gs>
                  </a:gsLst>
                  <a:lin ang="5400000" scaled="0"/>
                </a:gradFill>
              </a:rPr>
              <a:t>Shared. Mutable. Unsynchronized.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323987"/>
          </a:xfrm>
        </p:spPr>
        <p:txBody>
          <a:bodyPr/>
          <a:lstStyle/>
          <a:p>
            <a:r>
              <a:rPr lang="en-US" b="1" dirty="0"/>
              <a:t>Shared</a:t>
            </a:r>
          </a:p>
          <a:p>
            <a:pPr lvl="1"/>
            <a:r>
              <a:rPr lang="en-US" dirty="0"/>
              <a:t>More than one thread can reach it</a:t>
            </a:r>
          </a:p>
          <a:p>
            <a:r>
              <a:rPr lang="en-US" b="1" dirty="0"/>
              <a:t>Mutable</a:t>
            </a:r>
          </a:p>
          <a:p>
            <a:pPr lvl="1"/>
            <a:r>
              <a:rPr lang="en-US" dirty="0"/>
              <a:t>At least one of them writes</a:t>
            </a:r>
          </a:p>
          <a:p>
            <a:r>
              <a:rPr lang="en-US" b="1" dirty="0"/>
              <a:t>Unsynchronized</a:t>
            </a:r>
          </a:p>
          <a:p>
            <a:pPr lvl="1"/>
            <a:r>
              <a:rPr lang="en-US" dirty="0"/>
              <a:t>Nothing orders the reads against the writes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Dictionary&lt;TKey, TValue&gt;</a:t>
            </a:r>
            <a:br>
              <a:rPr lang="en-US" dirty="0"/>
            </a:br>
            <a:r>
              <a:rPr lang="en-US" sz="3600" dirty="0">
                <a:gradFill>
                  <a:gsLst>
                    <a:gs pos="1250">
                      <a:srgbClr val="FFB900"/>
                    </a:gs>
                    <a:gs pos="100000">
                      <a:srgbClr val="FFB900"/>
                    </a:gs>
                  </a:gsLst>
                  <a:lin ang="5400000" scaled="0"/>
                </a:gradFill>
              </a:rPr>
              <a:t>System.Collections.Generic</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911019"/>
          </a:xfrm>
        </p:spPr>
        <p:txBody>
          <a:bodyPr/>
          <a:lstStyle/>
          <a:p>
            <a:r>
              <a:rPr lang="en-US" sz="2800" dirty="0"/>
              <a:t>Requires one writer at a time</a:t>
            </a:r>
          </a:p>
          <a:p>
            <a:pPr lvl="1"/>
            <a:r>
              <a:rPr lang="en-US" sz="2000" dirty="0"/>
              <a:t>Or use `Lock` for each write</a:t>
            </a:r>
          </a:p>
        </p:txBody>
      </p:sp>
      <p:pic>
        <p:nvPicPr>
          <p:cNvPr id="4" name="Picture 3" descr="slide04.png"/>
          <p:cNvPicPr>
            <a:picLocks noChangeAspect="1"/>
          </p:cNvPicPr>
          <p:nvPr/>
        </p:nvPicPr>
        <p:blipFill>
          <a:blip r:embed="rId3"/>
          <a:stretch>
            <a:fillRect/>
          </a:stretch>
        </p:blipFill>
        <p:spPr>
          <a:xfrm>
            <a:off x="5577839" y="1877397"/>
            <a:ext cx="6583680" cy="397188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638" y="2125662"/>
            <a:ext cx="5638799" cy="1680460"/>
          </a:xfrm>
        </p:spPr>
        <p:txBody>
          <a:bodyPr/>
          <a:lstStyle/>
          <a:p>
            <a:r>
              <a:rPr lang="en-US" sz="5400" dirty="0"/>
              <a:t>System.Collections.Concurrent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ConcurrentDictionary&lt;TKey, TValue&gt;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400" dirty="0"/>
              <a:t>Thread-safe collection of key/value pairs</a:t>
            </a:r>
          </a:p>
          <a:p>
            <a:r>
              <a:rPr lang="en-US" sz="2400" dirty="0"/>
              <a:t>Replaces `Dictionary&lt;TKey, TValue&gt;`</a:t>
            </a:r>
          </a:p>
          <a:p>
            <a:r>
              <a:rPr lang="en-US" sz="2400" dirty="0"/>
              <a:t>Lock-free Reads</a:t>
            </a:r>
          </a:p>
          <a:p>
            <a:r>
              <a:rPr lang="en-US" sz="2400" dirty="0"/>
              <a:t>Fine-grained locking for writes</a:t>
            </a:r>
          </a:p>
          <a:p>
            <a:pPr lvl="1"/>
            <a:r>
              <a:rPr lang="en-US" sz="1800" dirty="0"/>
              <a:t>A stripe of buckets per lock, not one global lock</a:t>
            </a:r>
          </a:p>
          <a:p>
            <a:r>
              <a:rPr lang="en-US" sz="2400" dirty="0"/>
              <a:t>`TryAdd`, `TryGetValue`, `TryRemove`, `TryUpdate`</a:t>
            </a:r>
          </a:p>
        </p:txBody>
      </p:sp>
      <p:pic>
        <p:nvPicPr>
          <p:cNvPr id="4" name="Picture 3" descr="C# example: ConcurrentDictionary filled by Parallel.ForEach with TryAdd, then read with TryGetValue"/>
          <p:cNvPicPr>
            <a:picLocks noChangeAspect="1"/>
          </p:cNvPicPr>
          <p:nvPr/>
        </p:nvPicPr>
        <p:blipFill>
          <a:blip r:embed="rId3"/>
          <a:stretch>
            <a:fillRect/>
          </a:stretch>
        </p:blipFill>
        <p:spPr>
          <a:xfrm>
            <a:off x="5577839" y="1936486"/>
            <a:ext cx="6583680" cy="385370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AddOrUpdate()</a:t>
            </a:r>
            <a:br>
              <a:rPr lang="en-US" dirty="0"/>
            </a:br>
            <a:r>
              <a:rPr lang="en-US" sz="3600" dirty="0">
                <a:gradFill>
                  <a:gsLst>
                    <a:gs pos="1250">
                      <a:srgbClr val="FFB900"/>
                    </a:gs>
                    <a:gs pos="100000">
                      <a:srgbClr val="FFB900"/>
                    </a:gs>
                  </a:gsLst>
                  <a:lin ang="5400000" scaled="0"/>
                </a:gradFill>
              </a:rPr>
              <a:t>One Call, No Lost Updates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`AddOrUpdate` replaces read, then write</a:t>
            </a:r>
          </a:p>
          <a:p>
            <a:r>
              <a:rPr lang="en-US" sz="2800" dirty="0"/>
              <a:t>`GetOrAdd` for create once, read many</a:t>
            </a:r>
          </a:p>
          <a:p>
            <a:r>
              <a:rPr lang="en-US" sz="2800" dirty="0"/>
              <a:t>Both return the value now stored for that key</a:t>
            </a:r>
          </a:p>
        </p:txBody>
      </p:sp>
      <p:pic>
        <p:nvPicPr>
          <p:cNvPr id="4" name="Picture 3" descr="slide07.png"/>
          <p:cNvPicPr>
            <a:picLocks noChangeAspect="1"/>
          </p:cNvPicPr>
          <p:nvPr/>
        </p:nvPicPr>
        <p:blipFill>
          <a:blip r:embed="rId3"/>
          <a:stretch>
            <a:fillRect/>
          </a:stretch>
        </p:blipFill>
        <p:spPr>
          <a:xfrm>
            <a:off x="5577839" y="1840001"/>
            <a:ext cx="6583680" cy="404667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Thread Safe Is Not Atomic</a:t>
            </a:r>
            <a:br>
              <a:rPr lang="en-US" dirty="0"/>
            </a:br>
            <a:r>
              <a:rPr lang="en-US" sz="3600" dirty="0">
                <a:gradFill>
                  <a:gsLst>
                    <a:gs pos="1250">
                      <a:srgbClr val="FFB900"/>
                    </a:gs>
                    <a:gs pos="100000">
                      <a:srgbClr val="FFB900"/>
                    </a:gs>
                  </a:gsLst>
                  <a:lin ang="5400000" scaled="0"/>
                </a:gradFill>
              </a:rPr>
              <a:t>GetOrAdd() and AddOrUpdate()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94830"/>
          </a:xfrm>
        </p:spPr>
        <p:txBody>
          <a:bodyPr/>
          <a:lstStyle/>
          <a:p>
            <a:r>
              <a:rPr lang="en-US" dirty="0"/>
              <a:t>Every method is thread safe</a:t>
            </a:r>
          </a:p>
          <a:p>
            <a:r>
              <a:rPr lang="en-US" dirty="0"/>
              <a:t>Not every method is atomic</a:t>
            </a:r>
          </a:p>
          <a:p>
            <a:r>
              <a:rPr lang="en-US" dirty="0"/>
              <a:t>Your delegate runs outside the internal lock</a:t>
            </a:r>
          </a:p>
          <a:p>
            <a:pPr lvl="1"/>
            <a:r>
              <a:rPr lang="en-US" dirty="0"/>
              <a:t>Ensures that unknown code cannot block other threads</a:t>
            </a:r>
          </a:p>
          <a:p>
            <a:r>
              <a:rPr lang="en-US" dirty="0"/>
              <a:t>It can be invoked more than once under contention</a:t>
            </a:r>
          </a:p>
          <a:p>
            <a:r>
              <a:rPr lang="en-US" dirty="0"/>
              <a:t>`GetOrAdd` can hand you another thread's value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ConcurrentBag&lt;T&gt;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400" dirty="0"/>
              <a:t>Thread-safe, unordered collection of objects</a:t>
            </a:r>
          </a:p>
          <a:p>
            <a:r>
              <a:rPr lang="en-US" sz="2400" dirty="0"/>
              <a:t>Allows Duplicates</a:t>
            </a:r>
          </a:p>
          <a:p>
            <a:r>
              <a:rPr lang="en-US" sz="2400" dirty="0"/>
              <a:t>No index, no key, no order</a:t>
            </a:r>
          </a:p>
          <a:p>
            <a:r>
              <a:rPr lang="en-US" sz="2400" dirty="0"/>
              <a:t>Built for collecting results from parallel workers</a:t>
            </a:r>
          </a:p>
          <a:p>
            <a:r>
              <a:rPr lang="en-US" sz="2400" dirty="0"/>
              <a:t>Each thread gets its own local list</a:t>
            </a:r>
          </a:p>
          <a:p>
            <a:pPr lvl="1"/>
            <a:r>
              <a:rPr lang="en-US" sz="1800" dirty="0"/>
              <a:t>It steals from another thread when its own runs dry</a:t>
            </a:r>
          </a:p>
        </p:txBody>
      </p:sp>
      <p:pic>
        <p:nvPicPr>
          <p:cNvPr id="4" name="Picture 3" descr="C# example: ConcurrentBag collecting results from Parallel.ForEach workers, then sorted with OrderBy"/>
          <p:cNvPicPr>
            <a:picLocks noChangeAspect="1"/>
          </p:cNvPicPr>
          <p:nvPr/>
        </p:nvPicPr>
        <p:blipFill>
          <a:blip r:embed="rId3"/>
          <a:stretch>
            <a:fillRect/>
          </a:stretch>
        </p:blipFill>
        <p:spPr>
          <a:xfrm>
            <a:off x="5577839" y="1876122"/>
            <a:ext cx="6583680" cy="397443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ConcurrentQueue&lt;T&gt;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400" dirty="0"/>
              <a:t>Thread-safe, first in-first out (FIFO) collection</a:t>
            </a:r>
          </a:p>
          <a:p>
            <a:r>
              <a:rPr lang="en-US" sz="2400" dirty="0"/>
              <a:t>Replaces `Queue&lt;T&gt;`</a:t>
            </a:r>
          </a:p>
          <a:p>
            <a:r>
              <a:rPr lang="en-US" sz="2400" dirty="0"/>
              <a:t>Lock-free on the common path</a:t>
            </a:r>
          </a:p>
          <a:p>
            <a:pPr lvl="1"/>
            <a:r>
              <a:rPr lang="en-US" sz="1800" dirty="0"/>
              <a:t>Takes a lock only to add or retire a segment</a:t>
            </a:r>
          </a:p>
          <a:p>
            <a:r>
              <a:rPr lang="en-US" sz="2400" dirty="0"/>
              <a:t>`Enqueue`, `TryDequeue`, `TryPeek`</a:t>
            </a:r>
          </a:p>
          <a:p>
            <a:r>
              <a:rPr lang="en-US" sz="2400" dirty="0"/>
              <a:t>One end for the producer, the other for the consumer</a:t>
            </a:r>
          </a:p>
          <a:p>
            <a:r>
              <a:rPr lang="en-US" sz="2400" dirty="0"/>
              <a:t>An unbounded `Channel&lt;T&gt;` is built on one</a:t>
            </a:r>
          </a:p>
        </p:txBody>
      </p:sp>
      <p:pic>
        <p:nvPicPr>
          <p:cNvPr id="4" name="Picture 3" descr="C# example: ConcurrentQueue with Enqueue from producers and a TryDequeue loop for the consumer"/>
          <p:cNvPicPr>
            <a:picLocks noChangeAspect="1"/>
          </p:cNvPicPr>
          <p:nvPr/>
        </p:nvPicPr>
        <p:blipFill>
          <a:blip r:embed="rId3"/>
          <a:stretch>
            <a:fillRect/>
          </a:stretch>
        </p:blipFill>
        <p:spPr>
          <a:xfrm>
            <a:off x="5577839" y="1876122"/>
            <a:ext cx="6583680" cy="397443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ConcurrentStack&lt;T&gt;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400" dirty="0"/>
              <a:t>Thread-safe, last in-first out (LIFO) collection</a:t>
            </a:r>
          </a:p>
          <a:p>
            <a:r>
              <a:rPr lang="en-US" sz="2400" dirty="0"/>
              <a:t>Replaces `Stack&lt;T&gt;`</a:t>
            </a:r>
          </a:p>
          <a:p>
            <a:r>
              <a:rPr lang="en-US" sz="2400" dirty="0"/>
              <a:t>Fully lock-free</a:t>
            </a:r>
          </a:p>
          <a:p>
            <a:pPr lvl="1"/>
            <a:r>
              <a:rPr lang="en-US" sz="1800" dirty="0"/>
              <a:t>Uses `Interlocked.CompareExchange`</a:t>
            </a:r>
          </a:p>
          <a:p>
            <a:r>
              <a:rPr lang="en-US" sz="2400" dirty="0"/>
              <a:t>`Push`, `TryPop`, `TryPopRange`</a:t>
            </a:r>
          </a:p>
          <a:p>
            <a:r>
              <a:rPr lang="en-US" sz="2400" dirty="0"/>
              <a:t>Newest work first, which is rarely what you want</a:t>
            </a:r>
          </a:p>
        </p:txBody>
      </p:sp>
      <p:pic>
        <p:nvPicPr>
          <p:cNvPr id="4" name="Picture 3" descr="C# example: ConcurrentStack used as an object pool with Push to return and TryPop to rent"/>
          <p:cNvPicPr>
            <a:picLocks noChangeAspect="1"/>
          </p:cNvPicPr>
          <p:nvPr/>
        </p:nvPicPr>
        <p:blipFill>
          <a:blip r:embed="rId3"/>
          <a:stretch>
            <a:fillRect/>
          </a:stretch>
        </p:blipFill>
        <p:spPr>
          <a:xfrm>
            <a:off x="5577839" y="1845009"/>
            <a:ext cx="6583680" cy="40366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Choose by Access Pattern</a:t>
            </a:r>
            <a:br>
              <a:rPr lang="en-US" dirty="0"/>
            </a:br>
            <a:r>
              <a:rPr lang="en-US" sz="3600" dirty="0">
                <a:gradFill>
                  <a:gsLst>
                    <a:gs pos="1250">
                      <a:srgbClr val="FFB900"/>
                    </a:gs>
                    <a:gs pos="100000">
                      <a:srgbClr val="FFB900"/>
                    </a:gs>
                  </a:gsLst>
                  <a:lin ang="5400000" scaled="0"/>
                </a:gradFill>
              </a:rPr>
              <a:t>What Replaces What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Keyed lookup: `ConcurrentDictionary&lt;TKey, TValue&gt;`</a:t>
            </a:r>
          </a:p>
          <a:p>
            <a:r>
              <a:rPr lang="en-US" dirty="0"/>
              <a:t>FIFO handoff: `ConcurrentQueue&lt;T&gt;`</a:t>
            </a:r>
          </a:p>
          <a:p>
            <a:r>
              <a:rPr lang="en-US" dirty="0"/>
              <a:t>LIFO handoff: `ConcurrentStack&lt;T&gt;`</a:t>
            </a:r>
          </a:p>
          <a:p>
            <a:r>
              <a:rPr lang="en-US" dirty="0"/>
              <a:t>Just collect it: `ConcurrentBag&lt;T&gt;`</a:t>
            </a:r>
          </a:p>
          <a:p>
            <a:r>
              <a:rPr lang="en-US" dirty="0"/>
              <a:t>`List&lt;T&gt;` has no drop-in replacement*</a:t>
            </a:r>
          </a:p>
          <a:p>
            <a:pPr lvl="1"/>
            <a:r>
              <a:rPr lang="en-US" dirty="0"/>
              <a:t>*Use a bag and sort at the end</a:t>
            </a:r>
          </a:p>
          <a:p>
            <a:r>
              <a:rPr lang="en-US" dirty="0"/>
              <a:t>All four give you `ToArray()` for a snapshot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Thread Safe Per Call Only</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Two safe calls in a row are still a race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Interlocked</a:t>
            </a:r>
            <a:br>
              <a:rPr lang="en-US" dirty="0"/>
            </a:br>
            <a:r>
              <a:rPr lang="en-US" sz="3600" dirty="0">
                <a:gradFill>
                  <a:gsLst>
                    <a:gs pos="1250">
                      <a:srgbClr val="FFB900"/>
                    </a:gs>
                    <a:gs pos="100000">
                      <a:srgbClr val="FFB900"/>
                    </a:gs>
                  </a:gsLst>
                  <a:lin ang="5400000" scaled="0"/>
                </a:gradFill>
              </a:rPr>
              <a:t>System.Threading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`count++` is three operations</a:t>
            </a:r>
          </a:p>
          <a:p>
            <a:pPr lvl="1"/>
            <a:r>
              <a:rPr lang="en-US" dirty="0"/>
              <a:t>Read, add, write</a:t>
            </a:r>
          </a:p>
          <a:p>
            <a:r>
              <a:rPr lang="en-US" dirty="0"/>
              <a:t>`Interlocked.Increment(ref count)`</a:t>
            </a:r>
          </a:p>
          <a:p>
            <a:pPr lvl="1"/>
            <a:r>
              <a:rPr lang="en-US" dirty="0"/>
              <a:t>All three at once, in hardware</a:t>
            </a:r>
          </a:p>
          <a:p>
            <a:r>
              <a:rPr lang="en-US" dirty="0"/>
              <a:t>`Add`, `Exchange`, `CompareExchange`</a:t>
            </a:r>
          </a:p>
          <a:p>
            <a:r>
              <a:rPr lang="en-US" dirty="0"/>
              <a:t>No lock object, no allocation</a:t>
            </a:r>
          </a:p>
          <a:p>
            <a:r>
              <a:rPr lang="en-US" dirty="0"/>
              <a:t>`Volatile.Read(ref count)` to read it back</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SemaphoreSlim</a:t>
            </a:r>
            <a:br>
              <a:rPr lang="en-US" dirty="0"/>
            </a:br>
            <a:r>
              <a:rPr lang="en-US" sz="3600" dirty="0">
                <a:gradFill>
                  <a:gsLst>
                    <a:gs pos="1250">
                      <a:srgbClr val="FFB900"/>
                    </a:gs>
                    <a:gs pos="100000">
                      <a:srgbClr val="FFB900"/>
                    </a:gs>
                  </a:gsLst>
                  <a:lin ang="5400000" scaled="0"/>
                </a:gradFill>
              </a:rPr>
              <a:t>System.Threading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`lock` cannot be held across an `await`</a:t>
            </a:r>
          </a:p>
          <a:p>
            <a:r>
              <a:rPr lang="en-US" dirty="0"/>
              <a:t>`new SemaphoreSlim(1, 1)` is a lock you can await</a:t>
            </a:r>
          </a:p>
          <a:p>
            <a:r>
              <a:rPr lang="en-US" dirty="0"/>
              <a:t>`await WaitAsync(token)`</a:t>
            </a:r>
          </a:p>
          <a:p>
            <a:r>
              <a:rPr lang="en-US" dirty="0"/>
              <a:t>`Release()` in a `finally`, always</a:t>
            </a:r>
          </a:p>
          <a:p>
            <a:r>
              <a:rPr lang="en-US" dirty="0"/>
              <a:t>Not reentrant</a:t>
            </a:r>
          </a:p>
          <a:p>
            <a:pPr lvl="1"/>
            <a:r>
              <a:rPr lang="en-US" dirty="0"/>
              <a:t>The thread holding it will still block on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Guard Once, Never Twice</a:t>
            </a:r>
            <a:br>
              <a:rPr lang="en-US" dirty="0"/>
            </a:br>
            <a:r>
              <a:rPr lang="en-US" sz="3600" dirty="0">
                <a:gradFill>
                  <a:gsLst>
                    <a:gs pos="1250">
                      <a:srgbClr val="FFB900"/>
                    </a:gs>
                    <a:gs pos="100000">
                      <a:srgbClr val="FFB900"/>
                    </a:gs>
                  </a:gsLst>
                  <a:lin ang="5400000" scaled="0"/>
                </a:gradFill>
              </a:rPr>
              <a:t>SemaphoreSlim Is Not Reentrant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Public method takes the semaphore</a:t>
            </a:r>
          </a:p>
          <a:p>
            <a:r>
              <a:rPr lang="en-US" sz="2800" dirty="0"/>
              <a:t>Private core assumes it is already held</a:t>
            </a:r>
          </a:p>
          <a:p>
            <a:r>
              <a:rPr lang="en-US" sz="2800" dirty="0"/>
              <a:t>A guarded method calling `InvalidateAsync()` deadlocks</a:t>
            </a:r>
          </a:p>
        </p:txBody>
      </p:sp>
      <p:pic>
        <p:nvPicPr>
          <p:cNvPr id="4" name="Picture 3" descr="slide16.png"/>
          <p:cNvPicPr>
            <a:picLocks noChangeAspect="1"/>
          </p:cNvPicPr>
          <p:nvPr/>
        </p:nvPicPr>
        <p:blipFill>
          <a:blip r:embed="rId3"/>
          <a:stretch>
            <a:fillRect/>
          </a:stretch>
        </p:blipFill>
        <p:spPr>
          <a:xfrm>
            <a:off x="5577839" y="1809687"/>
            <a:ext cx="6583680" cy="41073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Make the Dashboard Thread Safe</a:t>
            </a:r>
            <a:br>
              <a:rPr lang="en-US" dirty="0"/>
            </a:br>
            <a:r>
              <a:rPr lang="en-US" sz="3600" dirty="0">
                <a:gradFill>
                  <a:gsLst>
                    <a:gs pos="1250">
                      <a:srgbClr val="FFB900"/>
                    </a:gs>
                    <a:gs pos="100000">
                      <a:srgbClr val="FFB900"/>
                    </a:gs>
                  </a:gsLst>
                  <a:lin ang="5400000" scaled="0"/>
                </a:gradFill>
              </a:rPr>
              <a:t>25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`8. Concurrent Collections/1. Start/StockWatch`</a:t>
            </a:r>
          </a:p>
          <a:p>
            <a:r>
              <a:rPr lang="en-US" dirty="0"/>
              <a:t>Run it first. Count the cards. Watch the tile.</a:t>
            </a:r>
          </a:p>
          <a:p>
            <a:r>
              <a:rPr lang="en-US" dirty="0"/>
              <a:t>Five `// ToDo Refactor` comments, all in one file</a:t>
            </a:r>
          </a:p>
          <a:p>
            <a:r>
              <a:rPr lang="en-US" dirty="0"/>
              <a:t>Goal: 60 of 60 cards, on every render</a:t>
            </a:r>
          </a:p>
          <a:p>
            <a:r>
              <a:rPr lang="en-US" dirty="0"/>
              <a:t>The compiler will not help you here</a:t>
            </a:r>
          </a:p>
          <a:p>
            <a:pPr lvl="2"/>
            <a:r>
              <a:rPr lang="en-US" dirty="0"/>
              <a:t>*AI Agents are for understanding, not for solving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13255</TotalTime>
  <Words>3849</Words>
  <Application>Microsoft Macintosh PowerPoint</Application>
  <PresentationFormat>Custom</PresentationFormat>
  <Paragraphs>242</Paragraphs>
  <Slides>16</Slides>
  <Notes>16</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16</vt:i4>
      </vt:variant>
    </vt:vector>
  </HeadingPairs>
  <TitlesOfParts>
    <vt:vector size="25"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Concurrent Collections</vt:lpstr>
      <vt:lpstr>Three Ingredients of a Race Condition Shared. Mutable. Unsynchronized.</vt:lpstr>
      <vt:lpstr>Dictionary&lt;TKey, TValue&gt; System.Collections.Generic</vt:lpstr>
      <vt:lpstr>System.Collections.Concurrent</vt:lpstr>
      <vt:lpstr>ConcurrentDictionary&lt;TKey, TValue&gt; System.Collections.Concurrent</vt:lpstr>
      <vt:lpstr>AddOrUpdate() One Call, No Lost Updates</vt:lpstr>
      <vt:lpstr>Thread Safe Is Not Atomic GetOrAdd() and AddOrUpdate()</vt:lpstr>
      <vt:lpstr>ConcurrentBag&lt;T&gt; System.Collections.Concurrent</vt:lpstr>
      <vt:lpstr>ConcurrentQueue&lt;T&gt; System.Collections.Concurrent</vt:lpstr>
      <vt:lpstr>ConcurrentStack&lt;T&gt; System.Collections.Concurrent</vt:lpstr>
      <vt:lpstr>Choose by Access Pattern What Replaces What</vt:lpstr>
      <vt:lpstr>PowerPoint Presentation</vt:lpstr>
      <vt:lpstr>Interlocked System.Threading</vt:lpstr>
      <vt:lpstr>SemaphoreSlim System.Threading</vt:lpstr>
      <vt:lpstr>Guard Once, Never Twice SemaphoreSlim Is Not Reentrant</vt:lpstr>
      <vt:lpstr>Challenge: Make the Dashboard Thread Safe 25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235</cp:revision>
  <dcterms:created xsi:type="dcterms:W3CDTF">2017-10-31T19:47:21Z</dcterms:created>
  <dcterms:modified xsi:type="dcterms:W3CDTF">2026-09-07T21:41:45Z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