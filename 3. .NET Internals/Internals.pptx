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6995" r:id="rId9"/>
    <p:sldId id="2076137007" r:id="rId10"/>
    <p:sldId id="2076137008" r:id="rId11"/>
    <p:sldId id="2076137012" r:id="rId12"/>
    <p:sldId id="2076137000"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12:56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12:56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five building blocks. The four steps of the InternalsLab challenge follow the same order; AsyncLocal&lt;T&gt; is covered inside Step 2, ExecutionContext:</a:t>
            </a:r>
          </a:p>
          <a:p>
            <a:r>
              <a:t>1. [ThreadStatic]: data that belongs to a thread, and why that breaks with async.</a:t>
            </a:r>
          </a:p>
          <a:p>
            <a:r>
              <a:t>2. ExecutionContext: the container .NET uses to flow ambient data (AsyncLocal&lt;T&gt;, culture, principal) across threads, plus how to capture, run and suppress it.</a:t>
            </a:r>
          </a:p>
          <a:p>
            <a:r>
              <a:t>3. AsyncLocal&lt;T&gt;: the [ThreadStatic] idea attached to the job instead of the thread, so the value follows your code across an await.</a:t>
            </a:r>
          </a:p>
          <a:p>
            <a:r>
              <a:t>4. Principal: the identity of the current user, and how it survives an await.</a:t>
            </a:r>
          </a:p>
          <a:p>
            <a:r>
              <a:t>5.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9/14/26 12:56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covered right after the ExecutionContext slides).</a:t>
            </a:r>
          </a:p>
          <a:p>
            <a:endParaRPr/>
          </a:p>
          <a:p>
            <a:r>
              <a:t>Why this matters for the challenge: Step 1 of InternalsLab, ThreadStatic, is the baseline. You are proving to yourself that the data is bound to the THREAD, which is why it stays behind when checkpoint 7 resumes on a Thread Pool thread after await Task.Yield(). Every other topic in this module is about data that is bound to the logical OPERATION instead, so it can follow the operation across threads.</a:t>
            </a:r>
          </a:p>
          <a:p>
            <a:endParaRPr/>
          </a:p>
          <a:p>
            <a:r>
              <a:t>Handy APIs in the sample: Environment.CurrentManagedThreadId is a cheap way to see which thread you are on; the lab notebook records it for every checkpoint in the Thread column. thread.Join() blocks the caller until that thread finishes, which is how the sample waits for both background threads before recording the main thread's value again at checkpoint 6.</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 carries data across async hops: data specific to a (logical) thread, and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Step 4 of the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Step 2 of InternalsLab (ExecutionContext) the experiment sets a culture (es-ES), a principal and an AsyncLocal value on the main thread, then records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at checkpoint 4, when the main thread's values are recorded again after the background thread finishes.</a:t>
            </a:r>
          </a:p>
          <a:p>
            <a:endParaRPr/>
          </a:p>
          <a:p>
            <a:r>
              <a:t>Why this matters for the challenge: README Step 2, item 4 (the first explain question on the Step 2 page) asks what changes when ExecutionContext.Run(...) is used. Answer: the thread is the same, but the ambient values are swapped for the ones in the captured snapshot, and swapped back afterwards. Item 5 asks what changes when Task.Run(...) flows ExecutionContext automatically (checkpoint 5):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the Step 2 and Step 3 experiments: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en-US)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 README Step 2, items 6 and 7 ("why does the suppressed task see default values?" and "why is the task awaited only after leaving the using block?") are answered by this slide, and so is checkpoint 4 in Step 3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AC6E8-0C4A-4DF4-9909-743E32E2CCBC}"/>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07D8F89B-40BB-4BE4-B35E-6D8AAC40976D}"/>
              </a:ext>
            </a:extLst>
          </p:cNvPr>
          <p:cNvSpPr>
            <a:spLocks noGrp="1"/>
          </p:cNvSpPr>
          <p:nvPr>
            <p:ph type="body" idx="1"/>
          </p:nvPr>
        </p:nvSpPr>
        <p:spPr>
          <a:xfrm>
            <a:off x="685800" y="4343400"/>
            <a:ext cx="5486400" cy="4114800"/>
          </a:xfrm>
          <a:prstGeom prst="rect">
            <a:avLst/>
          </a:prstGeom>
        </p:spPr>
        <p:txBody>
          <a:bodyPr>
            <a:normAutofit fontScale="70000" lnSpcReduction="20000"/>
          </a:bodyPr>
          <a:lstStyle/>
          <a:p>
            <a:r>
              <a:t>AsyncLocal&lt;T&gt; attaches a value to the work your program is doing instead of to the thread that happens to be running it. A "job" here means one request, one button click, one call to ProcessOrderAsync(...): the method that assigned the value, everything it awaits afterwards, and everything it starts. Those pieces may run on many different threads. The job is still one thing, and the value goes with it.</a:t>
            </a:r>
          </a:p>
          <a:p>
            <a:endParaRPr/>
          </a:p>
          <a:p>
            <a:r>
              <a:t>A picture that works in the room: a thread is a worker's desk, a job is a person carrying a backpack. [ThreadStatic] is a sticky note taped to the desk. After an await your job may resume at another desk, and the note stayed behind for the next job to find. AsyncLocal&lt;T&gt; is a sticky note inside the backpack. The backpack goes with the job from desk to desk, and every other job carries its own backpack. The backpack is the ExecutionContext, the "Digital Backpack" from the last three slides.</a:t>
            </a:r>
          </a:p>
          <a:p>
            <a:endParaRPr/>
          </a:p>
          <a:p>
            <a:r>
              <a:t>Bullet by bullet:</a:t>
            </a:r>
          </a:p>
          <a:p>
            <a:r>
              <a:t>• One value per job, not per thread: assign _asyncLocalData.Value at the start of a job, then read it after an await that resumed on a Thread Pool thread, inside a Task.Run, or on a new Thread. It is still there. The thread changed; the job did not. Two jobs running at the same time each see their own value, even when they take turns on the same thread. Compare the [ThreadStatic] slide, where a value stays on the thread that assigned it.</a:t>
            </a:r>
          </a:p>
          <a:p>
            <a:r>
              <a:t>• Declare a static field, assign .Value: the field is static and shared, but the value behind .Value is not; every job reads its own. It is default(T) (null for a string) until the job, or the job that started it, assigns one. Typical uses: a correlation id, the current tenant, a request id that logging should pick up without you threading it through every method signature.</a:t>
            </a:r>
          </a:p>
          <a:p>
            <a:r>
              <a:t>• Child work gets a copy: when a job starts more work (Task.Run, a new Thread, a Timer callback), the child gets a copy of the backpack. It sees the parent's value, and if it assigns a new one, only the child and the work the child starts see it. When control comes back to the parent, the parent still has its original value. That is the copy-on-write behaviour of ExecutionContext from the earlier slides. It is also why you assign the value at the START of a job (top of the request, beginning of the background job) rather than deep inside a helper while expecting the caller to see it.</a:t>
            </a:r>
          </a:p>
          <a:p>
            <a:r>
              <a:t>• Examples (Principal, Culture and IHttpContextAccessor): the backpack is the ExecutionContext, and in .NET Core AsyncLocal&lt;T&gt; is the only kind of note it holds. Thread.CurrentPrincipal, CultureInfo.CurrentCulture / CurrentUICulture and ASP.NET Core's IHttpContextAccessor.HttpContext are all AsyncLocal&lt;T&gt; fields underneath. That is why they behave exactly like your own AsyncLocal values in Steps 2 and 3 of the challenge (ExecutionContext and Principal): they survive an await, they flow into Task.Run, and they are gone inside work started with ExecutionContext flow suppressed.</a:t>
            </a:r>
          </a:p>
          <a:p>
            <a:endParaRPr/>
          </a:p>
          <a:p>
            <a:r>
              <a:t>Two details worth saying out loud:</a:t>
            </a:r>
          </a:p>
          <a:p>
            <a:r>
              <a:t>• The note holds a reference, not a copy of the object. Assigning .Value is isolated per job, but if T is a mutable object (a List&lt;T&gt;, a Dictionary) and a child mutates it, the parent sees the mutation because both hold the same object. Prefer immutable values: a string, an id, a record.</a:t>
            </a:r>
          </a:p>
          <a:p>
            <a:r>
              <a:t>• Cost: assigning a new value creates a new ExecutionContext (copy-on-write), and every await and Task.Run captures and restores it. A handful of AsyncLocal&lt;T&gt; fields assigned once per job is fine; assigning in a hot loop is not. The AsyncLocal&lt;T&gt;(Action&lt;AsyncLocalValueChangedArgs&lt;T&gt;&gt;) constructor adds a callback that runs whenever the value changes on a thread, including when a context is restored onto a new thread; CultureInfo uses it to copy the flowed culture into the thread's current culture. You will rarely need it.</a:t>
            </a:r>
          </a:p>
          <a:p>
            <a:endParaRPr/>
          </a:p>
          <a:p>
            <a:r>
              <a:t>Why this matters for the challenge: in Step 2 (ExecutionContext) the main thread assigns _asyncLocalData.Value = "Initial Value". Predict what RecordThreadValues(int) records for _asyncLocalData.Value at each checkpoint: on the main thread right after the assignment ("Initial Value"), on the background Thread after it assigns its own value ("AsyncLocalData in Thread": it started with a copy of the main thread's backpack and wrote on its copy), inside ExecutionContext.Run(...) with the main thread's captured context ("Initial Value": the main thread's backpack was handed to that thread, so the backpack wins, not the thread), back on the main thread after Join() ("Initial Value": the thread wrote on its own copy, so nothing came back), inside Task.Run(...) ("Initial Value": the copy travelled automatically) and inside Task.Run(...) with flow suppressed (empty: it was handed an empty backpack). The three ExecutionContext slides before this one are the "how" behind each of those.</a:t>
            </a:r>
          </a:p>
          <a:p>
            <a:endParaRPr/>
          </a:p>
          <a:p>
            <a:r>
              <a:t>References:</a:t>
            </a:r>
          </a:p>
          <a:p>
            <a:r>
              <a:t>https://learn.microsoft.com/dotnet/api/system.threading.asynclocal-1</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16387402-3046-4035-8F98-12A7C24F6953}"/>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9325EEA5-2724-431C-AB75-98654F783A0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6</a:t>
            </a:fld>
            <a:endParaRPr lang="en-US"/>
          </a:p>
        </p:txBody>
      </p:sp>
      <p:sp>
        <p:nvSpPr>
          <p:cNvPr id="6" name="Footer Placeholder 5">
            <a:extLst>
              <a:ext uri="{FF2B5EF4-FFF2-40B4-BE49-F238E27FC236}">
                <a16:creationId xmlns:a16="http://schemas.microsoft.com/office/drawing/2014/main" id="{00C02EA6-82D3-419F-94D5-75D8CC45F08F}"/>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06BEA4B-12FB-4568-BA8B-5D799AAF54B9}"/>
              </a:ext>
            </a:extLst>
          </p:cNvPr>
          <p:cNvSpPr>
            <a:spLocks noGrp="1"/>
          </p:cNvSpPr>
          <p:nvPr>
            <p:ph type="hdr" sz="quarter" idx="14"/>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IIdentity answers "who is this?" (Name, AuthenticationType, IsAuthenticated). ClaimsIdentity is the modern implementation: a bag of Claims such as Name = "Ada" or Role = "Admin". The sample's identity holds a single Name claim: the name you type when you sign in.</a:t>
            </a:r>
          </a:p>
          <a:p>
            <a:r>
              <a:rPr dirty="0"/>
              <a:t>• Roles and Claims: an IPrincipal wraps an identity and answers "what can they do?" via IsInRole(...). ClaimsPrincipal is the modern implementation and can hold several identities. In the sample, AccountController.Login wraps the ClaimsIdentity in a new ClaimsPrincipal and signs in with it.</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Thread.CurrentPrincipal: the "ambient" principal for the current logical operation. It is typed as IPrincipal; the sample stores a ClaimsPrincipal in it. In .NET Core this property is backed by AsyncLocal&lt;T&gt;, so it rides on the ExecutionContext and survives an await, even when the continuation lands on a different thread. It is null unless something set it.</a:t>
            </a:r>
          </a:p>
          <a:p>
            <a:r>
              <a:rPr dirty="0"/>
              <a:t>• HttpContext.User, exposed as the controller's User property (the code screenshot): the request's principal, populated by the authentication middleware from the cookie or token. In ASP.NET Core this is the one you should normally use. ASP.NET Core never sets Thread.CurrentPrincipal for you. In the sample, checkpoint 1 shows it as null while HttpContext.User already holds the signed-in user, which is why RunExperiment() then assigns it by hand.</a:t>
            </a:r>
          </a:p>
          <a:p>
            <a:endParaRPr dirty="0"/>
          </a:p>
          <a:p>
            <a:r>
              <a:rPr dirty="0"/>
              <a:t>Why this matters for the challenge: in Step 3 (Principal) you sign in with your own name, and PrincipalController.RunExperiment() copies HttpContext.User into Thread.CurrentPrincipal, then awaits Task.Yield(). That await never completes synchronously (ConfigureAwaitOptions.ForceYielding, covered later, gives an awaited Task the same guarantee), so the rest of the method runs as a scheduled Thread Pool work item, typically on a different thread. The results table shows the principal survive that switch, flow into Task.Run(...), and come back null inside a Task.Run(...) that was started with ExecutionContext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7</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Step 3, Principal.</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that reads the ControllerContext MVC assigned when it created the controller.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Step 3 (Principal) results table the httpContextAccessor.HttpContext?.User column shows null at checkpoint 4 (the Task.Run started with flow suppressed) while the HttpContext.User column still shows your name.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Step 4, the last step of the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finished HackerNews app from Correcting Common Async Await Mistakes, after leaving the context with ConfigureAwait(false), every StateHasChanged() and every mutation of TopStoryCollection is wrapped in InvokeAsync(...) to get back on it.</a:t>
            </a:r>
          </a:p>
          <a:p>
            <a:endParaRPr/>
          </a:p>
          <a:p>
            <a:r>
              <a:t>Why this matters for the challenge: in Step 4 (SynchronizationContext) you should see a RendererSynchronizationContext before the first await, null after a ConfigureAwait(false) continuation that had to wait, and RendererSynchronizationContext again inside the InvokeAsync(...) call that marshals back to change component state.</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Step 4 experiment runs in Blazor Server, where the difference is observable. ConfigureAwait(false) itself is the next slide.</a:t>
            </a:r>
          </a:p>
          <a:p>
            <a:endParaRPr/>
          </a:p>
          <a:p>
            <a:r>
              <a:t>Not part of the challenge;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finished HackerNews app from Correcting Common Async Await Mistakes,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Step 4 (SynchronizationContext) you predict SynchronizationContext.Current at six checkpoints in RefreshAsync(...), then run the experiment. Before the first await: a Blazor RendererSynchronizationContext. After ConfigureAwait(false) on a story that had to download: null, whether or not the thread changed. A plain await after that still reports null, because there was no context left to capture, and InvokeAsync(...) is what brings you back. The synchronous-completion part of README Step 4, item 4 ("why synchronous completion may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finished HackerNews app from Correcting Common Async Await Mistakes uses it (ConfigureAwaitOptions.None | ConfigureAwaitOptions.SuppressThrowing),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InternalsLab:</a:t>
            </a:r>
          </a:p>
          <a:p>
            <a:r>
              <a:t>• Step 3 (Principal) needs the guarantee ForceYielding gives and gets it with await Task.Yield(), which never completes synchronously: checkpoint 2 always runs as a scheduled Thread Pool continuation rather than inline, so it typically lands on a different thread, which makes the Thread.CurrentPrincipal result meaningful.</a:t>
            </a:r>
          </a:p>
          <a:p>
            <a:r>
              <a:t>• Step 4 (SynchronizationContext) uses plain ConfigureAwait(false) on its simulated story feed. The top story is already in SimulatedStoryFeed's cache, so GetStory returns a ValueTask that has already completed, the continuation is synchronous, and SynchronizationContext.Current at checkpoint 3 is unchanged, which is exactly what the second explain question on the Step 4 page (README Step 4, item 4)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steps of the challenge.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read from the controller object; the signedInUser local in RunExperiment() is captured by the Observe local function, so the compiler stores it in a closure object that the async state machine and both Task.Run lambdas reference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 the Step 3 (Principal) results table is designed around exactly these buckets. After the await at checkpoint 2, usually on a different thread, all four columns show your name. At checkpoint 4, inside Task.Run with flow suppressed, the two AsyncLocal-backed columns (Thread.CurrentPrincipal and httpContextAccessor.HttpContext?.User) show null, while HttpContext.User and the signedInUser local still show your name.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2006008"/>
            <a:ext cx="8213517" cy="1828786"/>
          </a:xfrm>
        </p:spPr>
        <p:txBody>
          <a:bodyPr/>
          <a:lstStyle/>
          <a:p>
            <a:r>
              <a:rPr lang="en-US" sz="7200" dirty="0"/>
              <a:t>.NET Internals</a:t>
            </a:r>
            <a:endParaRPr lang="en-US" sz="8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“Digital Backpack”</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3459409"/>
          </a:xfrm>
        </p:spPr>
        <p:txBody>
          <a:bodyPr/>
          <a:lstStyle/>
          <a:p>
            <a:r>
              <a:rPr lang="en-US" dirty="0"/>
              <a:t>Stores + Carries Data Across Async Hops</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pic>
        <p:nvPicPr>
          <p:cNvPr id="4" name="Picture 3">
            <a:extLst>
              <a:ext uri="{FF2B5EF4-FFF2-40B4-BE49-F238E27FC236}">
                <a16:creationId xmlns:a16="http://schemas.microsoft.com/office/drawing/2014/main" id="{09D2453F-901F-CB6E-AC67-7F66B55D1AB3}"/>
              </a:ext>
            </a:extLst>
          </p:cNvPr>
          <p:cNvPicPr>
            <a:picLocks noChangeAspect="1"/>
          </p:cNvPicPr>
          <p:nvPr/>
        </p:nvPicPr>
        <p:blipFill>
          <a:blip r:embed="rId3"/>
          <a:stretch>
            <a:fillRect/>
          </a:stretch>
        </p:blipFill>
        <p:spPr>
          <a:xfrm>
            <a:off x="1332271" y="5324672"/>
            <a:ext cx="9771932" cy="793749"/>
          </a:xfrm>
          <a:prstGeom prst="rect">
            <a:avLst/>
          </a:prstGeom>
        </p:spPr>
      </p:pic>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471720"/>
          </a:xfrm>
        </p:spPr>
        <p:txBody>
          <a:bodyPr/>
          <a:lstStyle/>
          <a:p>
            <a:r>
              <a:rPr lang="en-US" sz="3200" dirty="0"/>
              <a:t>Capture() snapshots the current context</a:t>
            </a:r>
          </a:p>
          <a:p>
            <a:pPr lvl="1"/>
            <a:r>
              <a:rPr lang="en-US" sz="2400" dirty="0"/>
              <a:t>Returns null while flow is suppressed</a:t>
            </a:r>
          </a:p>
          <a:p>
            <a:r>
              <a:rPr lang="en-US" sz="3200" dirty="0"/>
              <a:t>Run executes code inside a stored </a:t>
            </a:r>
            <a:r>
              <a:rPr lang="en-US" sz="3200" dirty="0" err="1"/>
              <a:t>ExecutionContext</a:t>
            </a:r>
            <a:endParaRPr lang="en-US" sz="3200" dirty="0"/>
          </a:p>
          <a:p>
            <a:pPr lvl="1"/>
            <a:r>
              <a:rPr lang="en-US" sz="2400" dirty="0"/>
              <a:t>Same thread, different ambient values</a:t>
            </a:r>
          </a:p>
          <a:p>
            <a:pPr lvl="1"/>
            <a:r>
              <a:rPr lang="en-US" sz="2400" dirty="0"/>
              <a:t>Previous context is restored when completed</a:t>
            </a:r>
          </a:p>
          <a:p>
            <a:r>
              <a:rPr lang="en-US" sz="3200" dirty="0"/>
              <a:t>await and Task.Run() do this for you automatically</a:t>
            </a:r>
          </a:p>
          <a:p>
            <a:r>
              <a:rPr lang="en-US" sz="3200" dirty="0"/>
              <a:t>Immutable: changes inside never leak back out</a:t>
            </a:r>
          </a:p>
        </p:txBody>
      </p:sp>
      <p:pic>
        <p:nvPicPr>
          <p:cNvPr id="4" name="Picture 3">
            <a:extLst>
              <a:ext uri="{FF2B5EF4-FFF2-40B4-BE49-F238E27FC236}">
                <a16:creationId xmlns:a16="http://schemas.microsoft.com/office/drawing/2014/main" id="{6EFEF7E0-7E1D-8166-E82C-509F0DAE965D}"/>
              </a:ext>
            </a:extLst>
          </p:cNvPr>
          <p:cNvPicPr>
            <a:picLocks noChangeAspect="1"/>
          </p:cNvPicPr>
          <p:nvPr/>
        </p:nvPicPr>
        <p:blipFill>
          <a:blip r:embed="rId3"/>
          <a:stretch>
            <a:fillRect/>
          </a:stretch>
        </p:blipFill>
        <p:spPr>
          <a:xfrm>
            <a:off x="5126036" y="628649"/>
            <a:ext cx="7035800" cy="571500"/>
          </a:xfrm>
          <a:prstGeom prst="rect">
            <a:avLst/>
          </a:prstGeom>
        </p:spPr>
      </p:pic>
      <p:pic>
        <p:nvPicPr>
          <p:cNvPr id="6" name="Picture 5">
            <a:extLst>
              <a:ext uri="{FF2B5EF4-FFF2-40B4-BE49-F238E27FC236}">
                <a16:creationId xmlns:a16="http://schemas.microsoft.com/office/drawing/2014/main" id="{C14EE46B-C7F3-A747-1522-A5D4F9D246BD}"/>
              </a:ext>
            </a:extLst>
          </p:cNvPr>
          <p:cNvPicPr>
            <a:picLocks noChangeAspect="1"/>
          </p:cNvPicPr>
          <p:nvPr/>
        </p:nvPicPr>
        <p:blipFill>
          <a:blip r:embed="rId4"/>
          <a:stretch>
            <a:fillRect/>
          </a:stretch>
        </p:blipFill>
        <p:spPr>
          <a:xfrm>
            <a:off x="5633973" y="5338762"/>
            <a:ext cx="6477000" cy="1574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2850011"/>
          </a:xfrm>
        </p:spPr>
        <p:txBody>
          <a:bodyPr/>
          <a:lstStyle/>
          <a:p>
            <a:r>
              <a:rPr lang="en-US" dirty="0"/>
              <a:t>SuppressFlow() stops the context flowing via async/await</a:t>
            </a:r>
          </a:p>
          <a:p>
            <a:pPr lvl="1"/>
            <a:r>
              <a:rPr lang="en-US" dirty="0"/>
              <a:t>Tasks and Threads started while suppressed use the default context </a:t>
            </a:r>
          </a:p>
          <a:p>
            <a:r>
              <a:rPr lang="en-US" dirty="0"/>
              <a:t>When Suppressed, Threads Use Defaults</a:t>
            </a:r>
          </a:p>
          <a:p>
            <a:pPr lvl="1"/>
            <a:r>
              <a:rPr lang="en-US" dirty="0" err="1"/>
              <a:t>AsyncLocal</a:t>
            </a:r>
            <a:r>
              <a:rPr lang="en-US" dirty="0"/>
              <a:t> = null, Principal = null, Culture = machine default</a:t>
            </a:r>
          </a:p>
          <a:p>
            <a:r>
              <a:rPr lang="en-US" dirty="0"/>
              <a:t>Opt out for work that mustn’t inherit ambient state</a:t>
            </a:r>
          </a:p>
        </p:txBody>
      </p:sp>
      <p:pic>
        <p:nvPicPr>
          <p:cNvPr id="4" name="Picture 3">
            <a:extLst>
              <a:ext uri="{FF2B5EF4-FFF2-40B4-BE49-F238E27FC236}">
                <a16:creationId xmlns:a16="http://schemas.microsoft.com/office/drawing/2014/main" id="{63844E8A-0AFA-FFE7-7790-2D33995D9BBB}"/>
              </a:ext>
            </a:extLst>
          </p:cNvPr>
          <p:cNvPicPr>
            <a:picLocks noChangeAspect="1"/>
          </p:cNvPicPr>
          <p:nvPr/>
        </p:nvPicPr>
        <p:blipFill>
          <a:blip r:embed="rId3"/>
          <a:stretch>
            <a:fillRect/>
          </a:stretch>
        </p:blipFill>
        <p:spPr>
          <a:xfrm>
            <a:off x="5889487" y="4715274"/>
            <a:ext cx="5878650" cy="17918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5ADA4-B2F7-42A9-9F3C-A42E551D8F09}"/>
              </a:ext>
            </a:extLst>
          </p:cNvPr>
          <p:cNvSpPr>
            <a:spLocks noGrp="1"/>
          </p:cNvSpPr>
          <p:nvPr>
            <p:ph type="title"/>
          </p:nvPr>
        </p:nvSpPr>
        <p:spPr/>
        <p:txBody>
          <a:bodyPr/>
          <a:lstStyle/>
          <a:p>
            <a:r>
              <a:rPr lang="en-US" dirty="0"/>
              <a:t>AsyncLocal&lt;T&gt;</a:t>
            </a:r>
            <a:br>
              <a:rPr lang="en-US" dirty="0"/>
            </a:br>
            <a:r>
              <a:rPr lang="en-US" sz="3600" dirty="0">
                <a:gradFill>
                  <a:gsLst>
                    <a:gs pos="1250">
                      <a:srgbClr val="FFB900"/>
                    </a:gs>
                    <a:gs pos="100000">
                      <a:srgbClr val="FFB900"/>
                    </a:gs>
                  </a:gsLst>
                  <a:lin ang="5400000" scaled="0"/>
                </a:gradFill>
              </a:rPr>
              <a:t>Follows Async/Await, Not the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DFDAB16-9161-4226-9C13-852801956E15}"/>
              </a:ext>
            </a:extLst>
          </p:cNvPr>
          <p:cNvSpPr>
            <a:spLocks noGrp="1"/>
          </p:cNvSpPr>
          <p:nvPr>
            <p:ph type="body" sz="quarter" idx="10"/>
          </p:nvPr>
        </p:nvSpPr>
        <p:spPr>
          <a:xfrm>
            <a:off x="274702" y="1539056"/>
            <a:ext cx="11888787" cy="3471720"/>
          </a:xfrm>
        </p:spPr>
        <p:txBody>
          <a:bodyPr/>
          <a:lstStyle/>
          <a:p>
            <a:r>
              <a:rPr lang="en-US" sz="3200" dirty="0"/>
              <a:t>One value per job, not per thread</a:t>
            </a:r>
          </a:p>
          <a:p>
            <a:pPr lvl="1"/>
            <a:r>
              <a:rPr lang="en-US" sz="2400" dirty="0"/>
              <a:t>[ThreadStatic] follows the thread; AsyncLocal&lt;T&gt; follows async/await</a:t>
            </a:r>
          </a:p>
          <a:p>
            <a:r>
              <a:rPr lang="en-US" sz="3200" dirty="0"/>
              <a:t>Declare a static field, assign .Value</a:t>
            </a:r>
          </a:p>
          <a:p>
            <a:pPr lvl="1"/>
            <a:r>
              <a:rPr lang="en-US" sz="2400" dirty="0"/>
              <a:t>Stored inside the current thread’s </a:t>
            </a:r>
            <a:r>
              <a:rPr lang="en-US" sz="2400" dirty="0" err="1"/>
              <a:t>ExecutionContext</a:t>
            </a:r>
            <a:endParaRPr lang="en-US" sz="2400" dirty="0"/>
          </a:p>
          <a:p>
            <a:r>
              <a:rPr lang="en-US" sz="3200" dirty="0"/>
              <a:t>Child work gets a copy</a:t>
            </a:r>
          </a:p>
          <a:p>
            <a:pPr lvl="1"/>
            <a:r>
              <a:rPr lang="en-US" sz="2400" dirty="0"/>
              <a:t>Task.Run and new Thread see it; their changes never come back</a:t>
            </a:r>
          </a:p>
          <a:p>
            <a:r>
              <a:rPr lang="en-US" sz="3200" dirty="0"/>
              <a:t>Examples: Principal, Culture and </a:t>
            </a:r>
            <a:r>
              <a:rPr lang="en-US" sz="3200" dirty="0" err="1"/>
              <a:t>IHttpContextAccessor</a:t>
            </a:r>
            <a:endParaRPr lang="en-US" sz="3200" dirty="0"/>
          </a:p>
        </p:txBody>
      </p:sp>
      <p:pic>
        <p:nvPicPr>
          <p:cNvPr id="5" name="Picture 4">
            <a:extLst>
              <a:ext uri="{FF2B5EF4-FFF2-40B4-BE49-F238E27FC236}">
                <a16:creationId xmlns:a16="http://schemas.microsoft.com/office/drawing/2014/main" id="{C8AF0D0F-01D7-1BA2-DB69-DAEAE42F91D6}"/>
              </a:ext>
            </a:extLst>
          </p:cNvPr>
          <p:cNvPicPr>
            <a:picLocks noChangeAspect="1"/>
          </p:cNvPicPr>
          <p:nvPr/>
        </p:nvPicPr>
        <p:blipFill>
          <a:blip r:embed="rId3"/>
          <a:stretch>
            <a:fillRect/>
          </a:stretch>
        </p:blipFill>
        <p:spPr>
          <a:xfrm>
            <a:off x="5448299" y="4974267"/>
            <a:ext cx="6821487" cy="202025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err="1"/>
              <a:t>AsyncLocal</a:t>
            </a:r>
            <a:r>
              <a:rPr lang="en-US" dirty="0"/>
              <a:t>&lt;T&gt;</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188565"/>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13268</TotalTime>
  <Words>7574</Words>
  <Application>Microsoft Macintosh PowerPoint</Application>
  <PresentationFormat>Custom</PresentationFormat>
  <Paragraphs>344</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.NET Internals</vt:lpstr>
      <vt:lpstr>ThreadStatic [ThreadStatic]</vt:lpstr>
      <vt:lpstr>ExecutionContext “Digital Backpack”</vt:lpstr>
      <vt:lpstr>ExecutionContext .Capture() + .Run()</vt:lpstr>
      <vt:lpstr>ExecutionContext SuppressFlow()</vt:lpstr>
      <vt:lpstr>AsyncLocal&lt;T&gt; Follows Async/Await, Not the Thread</vt:lpstr>
      <vt:lpstr>AsyncLocal&lt;T&gt; System.Security.Principal</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253</cp:revision>
  <dcterms:created xsi:type="dcterms:W3CDTF">2017-10-31T19:47:21Z</dcterms:created>
  <dcterms:modified xsi:type="dcterms:W3CDTF">2026-09-14T10:56:33Z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